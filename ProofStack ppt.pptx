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Century Gothic Paneuropean" charset="1" panose="020B0502020202020204"/>
      <p:regular r:id="rId11"/>
    </p:embeddedFont>
    <p:embeddedFont>
      <p:font typeface="Doulos" charset="1" panose="02000500070000020004"/>
      <p:regular r:id="rId12"/>
    </p:embeddedFont>
    <p:embeddedFont>
      <p:font typeface="TT Ramillas Bold" charset="1" panose="020E0000080000020004"/>
      <p:regular r:id="rId13"/>
    </p:embeddedFont>
    <p:embeddedFont>
      <p:font typeface="TT Ramillas" charset="1" panose="020E0000080000020004"/>
      <p:regular r:id="rId14"/>
    </p:embeddedFont>
    <p:embeddedFont>
      <p:font typeface="Calibri (MS) Bold" charset="1" panose="020F0702030404030204"/>
      <p:regular r:id="rId15"/>
    </p:embeddedFont>
    <p:embeddedFont>
      <p:font typeface="Calibri (MS) Italics" charset="1" panose="020F05020202040A0204"/>
      <p:regular r:id="rId16"/>
    </p:embeddedFont>
    <p:embeddedFont>
      <p:font typeface="Consolas" charset="1" panose="020B0609020204030204"/>
      <p:regular r:id="rId17"/>
    </p:embeddedFont>
    <p:embeddedFont>
      <p:font typeface="Calibri (MS)" charset="1" panose="020F05020202040302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png" Type="http://schemas.openxmlformats.org/officeDocument/2006/relationships/image"/><Relationship Id="rId12" Target="../media/image14.png" Type="http://schemas.openxmlformats.org/officeDocument/2006/relationships/image"/><Relationship Id="rId13" Target="../media/image15.png" Type="http://schemas.openxmlformats.org/officeDocument/2006/relationships/image"/><Relationship Id="rId14" Target="../media/image16.png" Type="http://schemas.openxmlformats.org/officeDocument/2006/relationships/image"/><Relationship Id="rId15" Target="../media/image17.png" Type="http://schemas.openxmlformats.org/officeDocument/2006/relationships/image"/><Relationship Id="rId16" Target="../media/image18.png" Type="http://schemas.openxmlformats.org/officeDocument/2006/relationships/image"/><Relationship Id="rId17" Target="../media/image19.png" Type="http://schemas.openxmlformats.org/officeDocument/2006/relationships/image"/><Relationship Id="rId18" Target="../media/image20.png" Type="http://schemas.openxmlformats.org/officeDocument/2006/relationships/image"/><Relationship Id="rId19" Target="../media/image21.png" Type="http://schemas.openxmlformats.org/officeDocument/2006/relationships/image"/><Relationship Id="rId2" Target="../media/image4.png" Type="http://schemas.openxmlformats.org/officeDocument/2006/relationships/image"/><Relationship Id="rId20" Target="../media/image22.png" Type="http://schemas.openxmlformats.org/officeDocument/2006/relationships/image"/><Relationship Id="rId21" Target="../media/image23.png" Type="http://schemas.openxmlformats.org/officeDocument/2006/relationships/image"/><Relationship Id="rId22" Target="../media/image24.png" Type="http://schemas.openxmlformats.org/officeDocument/2006/relationships/image"/><Relationship Id="rId23" Target="../media/image25.pn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2.png" Type="http://schemas.openxmlformats.org/officeDocument/2006/relationships/image"/><Relationship Id="rId11" Target="../media/image33.png" Type="http://schemas.openxmlformats.org/officeDocument/2006/relationships/image"/><Relationship Id="rId12" Target="../media/image34.png" Type="http://schemas.openxmlformats.org/officeDocument/2006/relationships/image"/><Relationship Id="rId13" Target="../media/image35.png" Type="http://schemas.openxmlformats.org/officeDocument/2006/relationships/image"/><Relationship Id="rId14" Target="../media/image36.png" Type="http://schemas.openxmlformats.org/officeDocument/2006/relationships/image"/><Relationship Id="rId15" Target="../media/image37.png" Type="http://schemas.openxmlformats.org/officeDocument/2006/relationships/image"/><Relationship Id="rId16" Target="../media/image38.png" Type="http://schemas.openxmlformats.org/officeDocument/2006/relationships/image"/><Relationship Id="rId17" Target="../media/image39.png" Type="http://schemas.openxmlformats.org/officeDocument/2006/relationships/image"/><Relationship Id="rId18" Target="../media/image40.png" Type="http://schemas.openxmlformats.org/officeDocument/2006/relationships/image"/><Relationship Id="rId19" Target="../media/image41.png" Type="http://schemas.openxmlformats.org/officeDocument/2006/relationships/image"/><Relationship Id="rId2" Target="../media/image26.png" Type="http://schemas.openxmlformats.org/officeDocument/2006/relationships/image"/><Relationship Id="rId20" Target="../media/image42.png" Type="http://schemas.openxmlformats.org/officeDocument/2006/relationships/image"/><Relationship Id="rId21" Target="../media/image43.png" Type="http://schemas.openxmlformats.org/officeDocument/2006/relationships/image"/><Relationship Id="rId3" Target="../media/image27.png" Type="http://schemas.openxmlformats.org/officeDocument/2006/relationships/image"/><Relationship Id="rId4" Target="../media/image28.png" Type="http://schemas.openxmlformats.org/officeDocument/2006/relationships/image"/><Relationship Id="rId5" Target="../media/image29.png" Type="http://schemas.openxmlformats.org/officeDocument/2006/relationships/image"/><Relationship Id="rId6" Target="../media/image8.png" Type="http://schemas.openxmlformats.org/officeDocument/2006/relationships/image"/><Relationship Id="rId7" Target="../media/image11.jpeg" Type="http://schemas.openxmlformats.org/officeDocument/2006/relationships/image"/><Relationship Id="rId8" Target="../media/image30.png" Type="http://schemas.openxmlformats.org/officeDocument/2006/relationships/image"/><Relationship Id="rId9" Target="../media/image3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5.png" Type="http://schemas.openxmlformats.org/officeDocument/2006/relationships/image"/><Relationship Id="rId11" Target="../media/image46.png" Type="http://schemas.openxmlformats.org/officeDocument/2006/relationships/image"/><Relationship Id="rId12" Target="../media/image47.png" Type="http://schemas.openxmlformats.org/officeDocument/2006/relationships/image"/><Relationship Id="rId13" Target="../media/image40.png" Type="http://schemas.openxmlformats.org/officeDocument/2006/relationships/image"/><Relationship Id="rId2" Target="../media/image44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10.png" Type="http://schemas.openxmlformats.org/officeDocument/2006/relationships/image"/><Relationship Id="rId6" Target="../media/image8.png" Type="http://schemas.openxmlformats.org/officeDocument/2006/relationships/image"/><Relationship Id="rId7" Target="../media/image11.jpeg" Type="http://schemas.openxmlformats.org/officeDocument/2006/relationships/image"/><Relationship Id="rId8" Target="../media/image13.png" Type="http://schemas.openxmlformats.org/officeDocument/2006/relationships/image"/><Relationship Id="rId9" Target="../media/image2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1.png" Type="http://schemas.openxmlformats.org/officeDocument/2006/relationships/image"/><Relationship Id="rId11" Target="../media/image52.png" Type="http://schemas.openxmlformats.org/officeDocument/2006/relationships/image"/><Relationship Id="rId12" Target="../media/image53.png" Type="http://schemas.openxmlformats.org/officeDocument/2006/relationships/image"/><Relationship Id="rId13" Target="../media/image54.png" Type="http://schemas.openxmlformats.org/officeDocument/2006/relationships/image"/><Relationship Id="rId14" Target="../media/image55.png" Type="http://schemas.openxmlformats.org/officeDocument/2006/relationships/image"/><Relationship Id="rId2" Target="../media/image48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10.png" Type="http://schemas.openxmlformats.org/officeDocument/2006/relationships/image"/><Relationship Id="rId6" Target="../media/image8.png" Type="http://schemas.openxmlformats.org/officeDocument/2006/relationships/image"/><Relationship Id="rId7" Target="../media/image11.jpeg" Type="http://schemas.openxmlformats.org/officeDocument/2006/relationships/image"/><Relationship Id="rId8" Target="../media/image49.png" Type="http://schemas.openxmlformats.org/officeDocument/2006/relationships/image"/><Relationship Id="rId9" Target="../media/image50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6" r="0" b="-26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85468" y="5017018"/>
            <a:ext cx="8515988" cy="38100"/>
            <a:chOff x="0" y="0"/>
            <a:chExt cx="11354651" cy="50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353927" cy="50546"/>
            </a:xfrm>
            <a:custGeom>
              <a:avLst/>
              <a:gdLst/>
              <a:ahLst/>
              <a:cxnLst/>
              <a:rect r="r" b="b" t="t" l="l"/>
              <a:pathLst>
                <a:path h="50546" w="11353927">
                  <a:moveTo>
                    <a:pt x="11353927" y="25527"/>
                  </a:moveTo>
                  <a:lnTo>
                    <a:pt x="5471414" y="50546"/>
                  </a:lnTo>
                  <a:lnTo>
                    <a:pt x="0" y="25527"/>
                  </a:lnTo>
                  <a:lnTo>
                    <a:pt x="6017387" y="0"/>
                  </a:lnTo>
                  <a:lnTo>
                    <a:pt x="11353927" y="25527"/>
                  </a:lnTo>
                  <a:close/>
                </a:path>
              </a:pathLst>
            </a:custGeom>
            <a:solidFill>
              <a:srgbClr val="FFC10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493744" y="2944625"/>
            <a:ext cx="7300417" cy="294637"/>
            <a:chOff x="0" y="0"/>
            <a:chExt cx="9733890" cy="3928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733915" cy="392811"/>
            </a:xfrm>
            <a:custGeom>
              <a:avLst/>
              <a:gdLst/>
              <a:ahLst/>
              <a:cxnLst/>
              <a:rect r="r" b="b" t="t" l="l"/>
              <a:pathLst>
                <a:path h="392811" w="9733915">
                  <a:moveTo>
                    <a:pt x="0" y="0"/>
                  </a:moveTo>
                  <a:lnTo>
                    <a:pt x="9733915" y="0"/>
                  </a:lnTo>
                  <a:lnTo>
                    <a:pt x="9733915" y="392811"/>
                  </a:lnTo>
                  <a:lnTo>
                    <a:pt x="0" y="3928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35" r="0" b="-14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5493744" y="8338566"/>
            <a:ext cx="7300417" cy="294637"/>
            <a:chOff x="0" y="0"/>
            <a:chExt cx="9733890" cy="3928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733915" cy="392811"/>
            </a:xfrm>
            <a:custGeom>
              <a:avLst/>
              <a:gdLst/>
              <a:ahLst/>
              <a:cxnLst/>
              <a:rect r="r" b="b" t="t" l="l"/>
              <a:pathLst>
                <a:path h="392811" w="9733915">
                  <a:moveTo>
                    <a:pt x="0" y="0"/>
                  </a:moveTo>
                  <a:lnTo>
                    <a:pt x="9733915" y="0"/>
                  </a:lnTo>
                  <a:lnTo>
                    <a:pt x="9733915" y="392811"/>
                  </a:lnTo>
                  <a:lnTo>
                    <a:pt x="0" y="3928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35" r="0" b="-148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499612" y="2415911"/>
            <a:ext cx="5288918" cy="287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-1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THE BATTLE WITH INFINITE POSSIBILITIES</a:t>
            </a:r>
          </a:p>
        </p:txBody>
      </p:sp>
      <p:sp>
        <p:nvSpPr>
          <p:cNvPr name="TextBox 11" id="11" descr="$PPTXTitle"/>
          <p:cNvSpPr txBox="true"/>
          <p:nvPr/>
        </p:nvSpPr>
        <p:spPr>
          <a:xfrm rot="0">
            <a:off x="4484129" y="3030017"/>
            <a:ext cx="9318665" cy="1400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40"/>
              </a:lnSpc>
            </a:pPr>
            <a:r>
              <a:rPr lang="en-US" sz="9200" spc="1357">
                <a:solidFill>
                  <a:srgbClr val="732017"/>
                </a:solidFill>
                <a:latin typeface="Doulos"/>
                <a:ea typeface="Doulos"/>
                <a:cs typeface="Doulos"/>
                <a:sym typeface="Doulos"/>
              </a:rPr>
              <a:t>PROOFSTACK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840480" y="4430192"/>
            <a:ext cx="11155680" cy="287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spc="-1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A COACH THAT PREDICTS WHAT YOUR NEXT COMMIT WILL PROVE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291840" y="5715619"/>
            <a:ext cx="365760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b="true" sz="2450" spc="-31">
                <a:solidFill>
                  <a:srgbClr val="732017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TEAM NAME</a:t>
            </a:r>
          </a:p>
          <a:p>
            <a:pPr algn="l">
              <a:lnSpc>
                <a:spcPts val="2639"/>
              </a:lnSpc>
            </a:pPr>
            <a:r>
              <a:rPr lang="en-US" sz="2199" spc="-10">
                <a:solidFill>
                  <a:srgbClr val="371704"/>
                </a:solidFill>
                <a:latin typeface="TT Ramillas"/>
                <a:ea typeface="TT Ramillas"/>
                <a:cs typeface="TT Ramillas"/>
                <a:sym typeface="TT Ramillas"/>
              </a:rPr>
              <a:t>Paradox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589520" y="5715619"/>
            <a:ext cx="402336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b="true" sz="2450" spc="-21">
                <a:solidFill>
                  <a:srgbClr val="732017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TEAM MEMBERS</a:t>
            </a:r>
          </a:p>
          <a:p>
            <a:pPr algn="l">
              <a:lnSpc>
                <a:spcPts val="2639"/>
              </a:lnSpc>
            </a:pPr>
            <a:r>
              <a:rPr lang="en-US" sz="2199" spc="-10">
                <a:solidFill>
                  <a:srgbClr val="371704"/>
                </a:solidFill>
                <a:latin typeface="TT Ramillas"/>
                <a:ea typeface="TT Ramillas"/>
                <a:cs typeface="TT Ramillas"/>
                <a:sym typeface="TT Ramillas"/>
              </a:rPr>
              <a:t>Om Bhosale</a:t>
            </a:r>
          </a:p>
          <a:p>
            <a:pPr algn="l">
              <a:lnSpc>
                <a:spcPts val="2639"/>
              </a:lnSpc>
            </a:pPr>
            <a:r>
              <a:rPr lang="en-US" sz="2199" spc="-10">
                <a:solidFill>
                  <a:srgbClr val="371704"/>
                </a:solidFill>
                <a:latin typeface="TT Ramillas"/>
                <a:ea typeface="TT Ramillas"/>
                <a:cs typeface="TT Ramillas"/>
                <a:sym typeface="TT Ramillas"/>
              </a:rPr>
              <a:t>Vedant Patake</a:t>
            </a:r>
          </a:p>
          <a:p>
            <a:pPr algn="l">
              <a:lnSpc>
                <a:spcPts val="2639"/>
              </a:lnSpc>
            </a:pPr>
            <a:r>
              <a:rPr lang="en-US" sz="2199" spc="-10">
                <a:solidFill>
                  <a:srgbClr val="371704"/>
                </a:solidFill>
                <a:latin typeface="TT Ramillas"/>
                <a:ea typeface="TT Ramillas"/>
                <a:cs typeface="TT Ramillas"/>
                <a:sym typeface="TT Ramillas"/>
              </a:rPr>
              <a:t>Sameeksha Tarale</a:t>
            </a:r>
          </a:p>
          <a:p>
            <a:pPr algn="l">
              <a:lnSpc>
                <a:spcPts val="2639"/>
              </a:lnSpc>
            </a:pPr>
            <a:r>
              <a:rPr lang="en-US" sz="2199" spc="-10">
                <a:solidFill>
                  <a:srgbClr val="371704"/>
                </a:solidFill>
                <a:latin typeface="TT Ramillas"/>
                <a:ea typeface="TT Ramillas"/>
                <a:cs typeface="TT Ramillas"/>
                <a:sym typeface="TT Ramillas"/>
              </a:rPr>
              <a:t>Ketaki Sarode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618720" y="5715619"/>
            <a:ext cx="411480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b="true" sz="2450" spc="-21">
                <a:solidFill>
                  <a:srgbClr val="732017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INSTITUTION</a:t>
            </a:r>
          </a:p>
          <a:p>
            <a:pPr algn="l">
              <a:lnSpc>
                <a:spcPts val="2639"/>
              </a:lnSpc>
            </a:pPr>
            <a:r>
              <a:rPr lang="en-US" sz="2199" spc="-10">
                <a:solidFill>
                  <a:srgbClr val="371704"/>
                </a:solidFill>
                <a:latin typeface="TT Ramillas"/>
                <a:ea typeface="TT Ramillas"/>
                <a:cs typeface="TT Ramillas"/>
                <a:sym typeface="TT Ramillas"/>
              </a:rPr>
              <a:t>NMIET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840480" y="5184267"/>
            <a:ext cx="11155680" cy="421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000" spc="-9">
                <a:solidFill>
                  <a:srgbClr val="732017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AI CAREER COACH  ·  AGENTIC AI TRACK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626" y="0"/>
            <a:ext cx="18185768" cy="10287000"/>
            <a:chOff x="0" y="0"/>
            <a:chExt cx="24247691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247602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247602">
                  <a:moveTo>
                    <a:pt x="0" y="13716000"/>
                  </a:moveTo>
                  <a:lnTo>
                    <a:pt x="24247602" y="13716000"/>
                  </a:lnTo>
                  <a:lnTo>
                    <a:pt x="24247602" y="0"/>
                  </a:lnTo>
                  <a:lnTo>
                    <a:pt x="0" y="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4DFC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57626" cy="10287000"/>
            <a:chOff x="0" y="0"/>
            <a:chExt cx="76835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6835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76835">
                  <a:moveTo>
                    <a:pt x="0" y="0"/>
                  </a:moveTo>
                  <a:lnTo>
                    <a:pt x="76835" y="0"/>
                  </a:lnTo>
                  <a:lnTo>
                    <a:pt x="76835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417" r="0" b="-417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8243318" y="0"/>
            <a:ext cx="44682" cy="10287000"/>
            <a:chOff x="0" y="0"/>
            <a:chExt cx="59576" cy="13716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956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59563">
                  <a:moveTo>
                    <a:pt x="0" y="0"/>
                  </a:moveTo>
                  <a:lnTo>
                    <a:pt x="59563" y="0"/>
                  </a:lnTo>
                  <a:lnTo>
                    <a:pt x="5956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24" r="-21" b="-2124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6772" y="0"/>
            <a:ext cx="18281228" cy="9892865"/>
            <a:chOff x="0" y="0"/>
            <a:chExt cx="24374970" cy="131904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74983" cy="13190474"/>
            </a:xfrm>
            <a:custGeom>
              <a:avLst/>
              <a:gdLst/>
              <a:ahLst/>
              <a:cxnLst/>
              <a:rect r="r" b="b" t="t" l="l"/>
              <a:pathLst>
                <a:path h="13190474" w="24374983">
                  <a:moveTo>
                    <a:pt x="0" y="0"/>
                  </a:moveTo>
                  <a:lnTo>
                    <a:pt x="24374983" y="0"/>
                  </a:lnTo>
                  <a:lnTo>
                    <a:pt x="24374983" y="13190474"/>
                  </a:lnTo>
                  <a:lnTo>
                    <a:pt x="0" y="13190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96" r="0" b="-96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0" y="18393"/>
            <a:ext cx="18288010" cy="1524733"/>
            <a:chOff x="0" y="0"/>
            <a:chExt cx="24384013" cy="203297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2033016"/>
            </a:xfrm>
            <a:custGeom>
              <a:avLst/>
              <a:gdLst/>
              <a:ahLst/>
              <a:cxnLst/>
              <a:rect r="r" b="b" t="t" l="l"/>
              <a:pathLst>
                <a:path h="203301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033016"/>
                  </a:lnTo>
                  <a:lnTo>
                    <a:pt x="0" y="2033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4" t="0" r="-24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088285" y="141732"/>
            <a:ext cx="3648056" cy="1219200"/>
            <a:chOff x="0" y="0"/>
            <a:chExt cx="4864075" cy="16256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8641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4864100">
                  <a:moveTo>
                    <a:pt x="0" y="0"/>
                  </a:moveTo>
                  <a:lnTo>
                    <a:pt x="4864100" y="0"/>
                  </a:lnTo>
                  <a:lnTo>
                    <a:pt x="48641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59" r="0" b="-258"/>
              </a:stretch>
            </a:blipFill>
          </p:spPr>
        </p:sp>
      </p:grpSp>
      <p:sp>
        <p:nvSpPr>
          <p:cNvPr name="TextBox 14" id="14" descr="$PPTXTitle"/>
          <p:cNvSpPr txBox="true"/>
          <p:nvPr/>
        </p:nvSpPr>
        <p:spPr>
          <a:xfrm rot="0">
            <a:off x="4888980" y="464058"/>
            <a:ext cx="8436888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799" spc="367">
                <a:solidFill>
                  <a:srgbClr val="FFFF00"/>
                </a:solidFill>
                <a:latin typeface="Doulos"/>
                <a:ea typeface="Doulos"/>
                <a:cs typeface="Doulos"/>
                <a:sym typeface="Doulos"/>
              </a:rPr>
              <a:t>IDEA / SOLUTION / PROTOTYPE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0" y="9823190"/>
            <a:ext cx="18288000" cy="347462"/>
            <a:chOff x="0" y="0"/>
            <a:chExt cx="24384000" cy="46328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384000" cy="463296"/>
            </a:xfrm>
            <a:custGeom>
              <a:avLst/>
              <a:gdLst/>
              <a:ahLst/>
              <a:cxnLst/>
              <a:rect r="r" b="b" t="t" l="l"/>
              <a:pathLst>
                <a:path h="46329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63296"/>
                  </a:lnTo>
                  <a:lnTo>
                    <a:pt x="0" y="4632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30" r="0" b="-24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6772" y="9892865"/>
            <a:ext cx="18281647" cy="394335"/>
            <a:chOff x="0" y="0"/>
            <a:chExt cx="24375529" cy="5257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4374983" cy="525526"/>
            </a:xfrm>
            <a:custGeom>
              <a:avLst/>
              <a:gdLst/>
              <a:ahLst/>
              <a:cxnLst/>
              <a:rect r="r" b="b" t="t" l="l"/>
              <a:pathLst>
                <a:path h="525526" w="24374983">
                  <a:moveTo>
                    <a:pt x="24374983" y="525526"/>
                  </a:moveTo>
                  <a:lnTo>
                    <a:pt x="0" y="525526"/>
                  </a:lnTo>
                  <a:lnTo>
                    <a:pt x="0" y="0"/>
                  </a:lnTo>
                  <a:lnTo>
                    <a:pt x="24374983" y="0"/>
                  </a:lnTo>
                  <a:lnTo>
                    <a:pt x="24374983" y="525526"/>
                  </a:lnTo>
                  <a:close/>
                </a:path>
              </a:pathLst>
            </a:custGeom>
            <a:solidFill>
              <a:srgbClr val="371704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514798" y="9696993"/>
            <a:ext cx="1274464" cy="388620"/>
            <a:chOff x="0" y="0"/>
            <a:chExt cx="1699285" cy="5181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699260" cy="518160"/>
            </a:xfrm>
            <a:custGeom>
              <a:avLst/>
              <a:gdLst/>
              <a:ahLst/>
              <a:cxnLst/>
              <a:rect r="r" b="b" t="t" l="l"/>
              <a:pathLst>
                <a:path h="518160" w="1699260">
                  <a:moveTo>
                    <a:pt x="0" y="0"/>
                  </a:moveTo>
                  <a:lnTo>
                    <a:pt x="1699260" y="0"/>
                  </a:lnTo>
                  <a:lnTo>
                    <a:pt x="1699260" y="518160"/>
                  </a:lnTo>
                  <a:lnTo>
                    <a:pt x="0" y="518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357" r="-1" b="-360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975227" y="10010537"/>
            <a:ext cx="1284608" cy="22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599" spc="14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PROOFSTACK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7352016" y="9985877"/>
            <a:ext cx="396240" cy="288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b="true" sz="2150" spc="34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22960" y="1664208"/>
            <a:ext cx="16642080" cy="868680"/>
            <a:chOff x="0" y="0"/>
            <a:chExt cx="22189440" cy="11582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89439" cy="1158240"/>
            </a:xfrm>
            <a:custGeom>
              <a:avLst/>
              <a:gdLst/>
              <a:ahLst/>
              <a:cxnLst/>
              <a:rect r="r" b="b" t="t" l="l"/>
              <a:pathLst>
                <a:path h="115824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23292" r="0" b="-323292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22189440" cy="1158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spc="-33">
                  <a:solidFill>
                    <a:srgbClr val="732017"/>
                  </a:solidFill>
                  <a:latin typeface="Doulos"/>
                  <a:ea typeface="Doulos"/>
                  <a:cs typeface="Doulos"/>
                  <a:sym typeface="Doulos"/>
                </a:rPr>
                <a:t>A coach that predicts your next commit, then checks it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822960" y="2395728"/>
            <a:ext cx="16642080" cy="457200"/>
            <a:chOff x="0" y="0"/>
            <a:chExt cx="22189440" cy="609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189439" cy="609600"/>
            </a:xfrm>
            <a:custGeom>
              <a:avLst/>
              <a:gdLst/>
              <a:ahLst/>
              <a:cxnLst/>
              <a:rect r="r" b="b" t="t" l="l"/>
              <a:pathLst>
                <a:path h="60960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659255" r="0" b="-659255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22189440" cy="657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i="true">
                  <a:solidFill>
                    <a:srgbClr val="6B4A32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Your resume says what you claim. Your repo proves what you did.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822960" y="2906268"/>
            <a:ext cx="3291840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73201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RESUME CLAIMS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217920" y="2906268"/>
            <a:ext cx="6949440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73201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THE CODE PROVES</a:t>
            </a:r>
            <a:r>
              <a:rPr lang="en-US" sz="1899" i="true">
                <a:solidFill>
                  <a:srgbClr val="6B4A32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   illustrative</a:t>
            </a:r>
          </a:p>
        </p:txBody>
      </p:sp>
      <p:sp>
        <p:nvSpPr>
          <p:cNvPr name="AutoShape 31" id="31"/>
          <p:cNvSpPr/>
          <p:nvPr/>
        </p:nvSpPr>
        <p:spPr>
          <a:xfrm rot="61139">
            <a:off x="4095579" y="3908488"/>
            <a:ext cx="2141563" cy="0"/>
          </a:xfrm>
          <a:prstGeom prst="line">
            <a:avLst/>
          </a:prstGeom>
          <a:ln cap="rnd" w="28575">
            <a:solidFill>
              <a:srgbClr val="D9C3A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 rot="61139">
            <a:off x="4095579" y="5005768"/>
            <a:ext cx="2141563" cy="0"/>
          </a:xfrm>
          <a:prstGeom prst="line">
            <a:avLst/>
          </a:prstGeom>
          <a:ln cap="rnd" w="28575">
            <a:solidFill>
              <a:srgbClr val="D9C3A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 rot="61139">
            <a:off x="4095579" y="6103048"/>
            <a:ext cx="2141563" cy="0"/>
          </a:xfrm>
          <a:prstGeom prst="line">
            <a:avLst/>
          </a:prstGeom>
          <a:ln cap="rnd" w="28575">
            <a:solidFill>
              <a:srgbClr val="D9C3A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 rot="61139">
            <a:off x="4095579" y="7200329"/>
            <a:ext cx="2141563" cy="0"/>
          </a:xfrm>
          <a:prstGeom prst="line">
            <a:avLst/>
          </a:prstGeom>
          <a:ln cap="rnd" w="28575">
            <a:solidFill>
              <a:srgbClr val="D9C3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4507230" y="4936998"/>
            <a:ext cx="1409700" cy="1409700"/>
            <a:chOff x="0" y="0"/>
            <a:chExt cx="1879600" cy="18796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8796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879600">
                  <a:moveTo>
                    <a:pt x="0" y="939800"/>
                  </a:moveTo>
                  <a:cubicBezTo>
                    <a:pt x="0" y="420751"/>
                    <a:pt x="420751" y="0"/>
                    <a:pt x="939800" y="0"/>
                  </a:cubicBezTo>
                  <a:cubicBezTo>
                    <a:pt x="1458849" y="0"/>
                    <a:pt x="1879600" y="420751"/>
                    <a:pt x="1879600" y="939800"/>
                  </a:cubicBezTo>
                  <a:cubicBezTo>
                    <a:pt x="1879600" y="1458849"/>
                    <a:pt x="1458849" y="1879600"/>
                    <a:pt x="939800" y="1879600"/>
                  </a:cubicBezTo>
                  <a:cubicBezTo>
                    <a:pt x="420751" y="1879600"/>
                    <a:pt x="0" y="1458849"/>
                    <a:pt x="0" y="93980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4882896" y="5312664"/>
            <a:ext cx="658368" cy="658368"/>
            <a:chOff x="0" y="0"/>
            <a:chExt cx="877824" cy="877824"/>
          </a:xfrm>
        </p:grpSpPr>
        <p:sp>
          <p:nvSpPr>
            <p:cNvPr name="Freeform 38" id="38" descr="FaSearch_y.png"/>
            <p:cNvSpPr/>
            <p:nvPr/>
          </p:nvSpPr>
          <p:spPr>
            <a:xfrm flipH="false" flipV="false" rot="0">
              <a:off x="0" y="0"/>
              <a:ext cx="877824" cy="877824"/>
            </a:xfrm>
            <a:custGeom>
              <a:avLst/>
              <a:gdLst/>
              <a:ahLst/>
              <a:cxnLst/>
              <a:rect r="r" b="b" t="t" l="l"/>
              <a:pathLst>
                <a:path h="877824" w="877824">
                  <a:moveTo>
                    <a:pt x="0" y="0"/>
                  </a:moveTo>
                  <a:lnTo>
                    <a:pt x="877824" y="0"/>
                  </a:lnTo>
                  <a:lnTo>
                    <a:pt x="877824" y="877824"/>
                  </a:lnTo>
                  <a:lnTo>
                    <a:pt x="0" y="877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810263" y="3416303"/>
            <a:ext cx="3317243" cy="1012955"/>
            <a:chOff x="0" y="0"/>
            <a:chExt cx="4422991" cy="1350607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423029" cy="1350645"/>
            </a:xfrm>
            <a:custGeom>
              <a:avLst/>
              <a:gdLst/>
              <a:ahLst/>
              <a:cxnLst/>
              <a:rect r="r" b="b" t="t" l="l"/>
              <a:pathLst>
                <a:path h="1350645" w="4423029">
                  <a:moveTo>
                    <a:pt x="0" y="187579"/>
                  </a:moveTo>
                  <a:cubicBezTo>
                    <a:pt x="0" y="83947"/>
                    <a:pt x="83947" y="0"/>
                    <a:pt x="187579" y="0"/>
                  </a:cubicBezTo>
                  <a:lnTo>
                    <a:pt x="4235450" y="0"/>
                  </a:lnTo>
                  <a:cubicBezTo>
                    <a:pt x="4339082" y="0"/>
                    <a:pt x="4423029" y="83947"/>
                    <a:pt x="4423029" y="187579"/>
                  </a:cubicBezTo>
                  <a:lnTo>
                    <a:pt x="4423029" y="1163066"/>
                  </a:lnTo>
                  <a:cubicBezTo>
                    <a:pt x="4423029" y="1266698"/>
                    <a:pt x="4339082" y="1350645"/>
                    <a:pt x="4235450" y="1350645"/>
                  </a:cubicBezTo>
                  <a:lnTo>
                    <a:pt x="187579" y="1350645"/>
                  </a:lnTo>
                  <a:cubicBezTo>
                    <a:pt x="83947" y="1350645"/>
                    <a:pt x="0" y="1266571"/>
                    <a:pt x="0" y="1163066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051560" y="3675888"/>
            <a:ext cx="502920" cy="502920"/>
            <a:chOff x="0" y="0"/>
            <a:chExt cx="670560" cy="670560"/>
          </a:xfrm>
        </p:grpSpPr>
        <p:sp>
          <p:nvSpPr>
            <p:cNvPr name="Freeform 42" id="42" descr="FaDatabase_m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783080" y="3429000"/>
            <a:ext cx="1554480" cy="987552"/>
            <a:chOff x="0" y="0"/>
            <a:chExt cx="2072640" cy="131673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0726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1510" t="0" r="-31510" b="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57150"/>
              <a:ext cx="2072640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SQL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3429000" y="3694176"/>
            <a:ext cx="457200" cy="457200"/>
            <a:chOff x="0" y="0"/>
            <a:chExt cx="609600" cy="6096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5B49C0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?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6198870" y="3409950"/>
            <a:ext cx="6987540" cy="1025652"/>
            <a:chOff x="0" y="0"/>
            <a:chExt cx="9316720" cy="136753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316720" cy="1367536"/>
            </a:xfrm>
            <a:custGeom>
              <a:avLst/>
              <a:gdLst/>
              <a:ahLst/>
              <a:cxnLst/>
              <a:rect r="r" b="b" t="t" l="l"/>
              <a:pathLst>
                <a:path h="1367536" w="9316720">
                  <a:moveTo>
                    <a:pt x="0" y="189865"/>
                  </a:moveTo>
                  <a:cubicBezTo>
                    <a:pt x="0" y="85090"/>
                    <a:pt x="85090" y="0"/>
                    <a:pt x="189865" y="0"/>
                  </a:cubicBezTo>
                  <a:lnTo>
                    <a:pt x="9126855" y="0"/>
                  </a:lnTo>
                  <a:cubicBezTo>
                    <a:pt x="9231757" y="0"/>
                    <a:pt x="9316720" y="85090"/>
                    <a:pt x="9316720" y="189865"/>
                  </a:cubicBezTo>
                  <a:lnTo>
                    <a:pt x="9316720" y="1177671"/>
                  </a:lnTo>
                  <a:cubicBezTo>
                    <a:pt x="9316720" y="1282573"/>
                    <a:pt x="9231630" y="1367536"/>
                    <a:pt x="9126855" y="1367536"/>
                  </a:cubicBezTo>
                  <a:lnTo>
                    <a:pt x="189865" y="1367536"/>
                  </a:lnTo>
                  <a:cubicBezTo>
                    <a:pt x="85090" y="1367536"/>
                    <a:pt x="0" y="1282446"/>
                    <a:pt x="0" y="1177671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556377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6446520" y="3611880"/>
            <a:ext cx="457200" cy="457200"/>
            <a:chOff x="0" y="0"/>
            <a:chExt cx="609600" cy="609600"/>
          </a:xfrm>
        </p:grpSpPr>
        <p:sp>
          <p:nvSpPr>
            <p:cNvPr name="Freeform 52" id="52" descr="FaSearchMinus_s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7132320" y="3520440"/>
            <a:ext cx="5852160" cy="457200"/>
            <a:chOff x="0" y="0"/>
            <a:chExt cx="7802880" cy="6096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802880" cy="609600"/>
            </a:xfrm>
            <a:custGeom>
              <a:avLst/>
              <a:gdLst/>
              <a:ahLst/>
              <a:cxnLst/>
              <a:rect r="r" b="b" t="t" l="l"/>
              <a:pathLst>
                <a:path h="60960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99408" r="0" b="-199408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7802880" cy="657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55637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NOT SHOWN IN SCOPE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7132320" y="3977640"/>
            <a:ext cx="5852160" cy="365760"/>
            <a:chOff x="0" y="0"/>
            <a:chExt cx="7802880" cy="4876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7802880" cy="487680"/>
            </a:xfrm>
            <a:custGeom>
              <a:avLst/>
              <a:gdLst/>
              <a:ahLst/>
              <a:cxnLst/>
              <a:rect r="r" b="b" t="t" l="l"/>
              <a:pathLst>
                <a:path h="48768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61760" r="0" b="-26176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7802880" cy="525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6B4A32"/>
                  </a:solidFill>
                  <a:latin typeface="Consolas"/>
                  <a:ea typeface="Consolas"/>
                  <a:cs typeface="Consolas"/>
                  <a:sym typeface="Consolas"/>
                </a:rPr>
                <a:t>No SQL in 41 files · not proof of absence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810263" y="4513583"/>
            <a:ext cx="3317243" cy="1012955"/>
            <a:chOff x="0" y="0"/>
            <a:chExt cx="4422991" cy="1350607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423029" cy="1350645"/>
            </a:xfrm>
            <a:custGeom>
              <a:avLst/>
              <a:gdLst/>
              <a:ahLst/>
              <a:cxnLst/>
              <a:rect r="r" b="b" t="t" l="l"/>
              <a:pathLst>
                <a:path h="1350645" w="4423029">
                  <a:moveTo>
                    <a:pt x="0" y="187579"/>
                  </a:moveTo>
                  <a:cubicBezTo>
                    <a:pt x="0" y="83947"/>
                    <a:pt x="83947" y="0"/>
                    <a:pt x="187579" y="0"/>
                  </a:cubicBezTo>
                  <a:lnTo>
                    <a:pt x="4235450" y="0"/>
                  </a:lnTo>
                  <a:cubicBezTo>
                    <a:pt x="4339082" y="0"/>
                    <a:pt x="4423029" y="83947"/>
                    <a:pt x="4423029" y="187579"/>
                  </a:cubicBezTo>
                  <a:lnTo>
                    <a:pt x="4423029" y="1163066"/>
                  </a:lnTo>
                  <a:cubicBezTo>
                    <a:pt x="4423029" y="1266698"/>
                    <a:pt x="4339082" y="1350645"/>
                    <a:pt x="4235450" y="1350645"/>
                  </a:cubicBezTo>
                  <a:lnTo>
                    <a:pt x="187579" y="1350645"/>
                  </a:lnTo>
                  <a:cubicBezTo>
                    <a:pt x="83947" y="1350645"/>
                    <a:pt x="0" y="1266571"/>
                    <a:pt x="0" y="1163066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051560" y="4773168"/>
            <a:ext cx="502920" cy="502920"/>
            <a:chOff x="0" y="0"/>
            <a:chExt cx="670560" cy="670560"/>
          </a:xfrm>
        </p:grpSpPr>
        <p:sp>
          <p:nvSpPr>
            <p:cNvPr name="Freeform 62" id="62" descr="FaPlug_m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783080" y="4526280"/>
            <a:ext cx="1554480" cy="987552"/>
            <a:chOff x="0" y="0"/>
            <a:chExt cx="2072640" cy="1316736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0726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1510" t="0" r="-31510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57150"/>
              <a:ext cx="2072640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APIs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3429000" y="4791456"/>
            <a:ext cx="457200" cy="457200"/>
            <a:chOff x="0" y="0"/>
            <a:chExt cx="609600" cy="6096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5B49C0"/>
            </a:solid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?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6198870" y="4507230"/>
            <a:ext cx="6987540" cy="1025652"/>
            <a:chOff x="0" y="0"/>
            <a:chExt cx="9316720" cy="136753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9316720" cy="1367536"/>
            </a:xfrm>
            <a:custGeom>
              <a:avLst/>
              <a:gdLst/>
              <a:ahLst/>
              <a:cxnLst/>
              <a:rect r="r" b="b" t="t" l="l"/>
              <a:pathLst>
                <a:path h="1367536" w="9316720">
                  <a:moveTo>
                    <a:pt x="0" y="189865"/>
                  </a:moveTo>
                  <a:cubicBezTo>
                    <a:pt x="0" y="85090"/>
                    <a:pt x="85090" y="0"/>
                    <a:pt x="189865" y="0"/>
                  </a:cubicBezTo>
                  <a:lnTo>
                    <a:pt x="9126855" y="0"/>
                  </a:lnTo>
                  <a:cubicBezTo>
                    <a:pt x="9231757" y="0"/>
                    <a:pt x="9316720" y="85090"/>
                    <a:pt x="9316720" y="189865"/>
                  </a:cubicBezTo>
                  <a:lnTo>
                    <a:pt x="9316720" y="1177671"/>
                  </a:lnTo>
                  <a:cubicBezTo>
                    <a:pt x="9316720" y="1282573"/>
                    <a:pt x="9231630" y="1367536"/>
                    <a:pt x="9126855" y="1367536"/>
                  </a:cubicBezTo>
                  <a:lnTo>
                    <a:pt x="189865" y="1367536"/>
                  </a:lnTo>
                  <a:cubicBezTo>
                    <a:pt x="85090" y="1367536"/>
                    <a:pt x="0" y="1282446"/>
                    <a:pt x="0" y="1177671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1F8A5B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6446520" y="4709160"/>
            <a:ext cx="457200" cy="457200"/>
            <a:chOff x="0" y="0"/>
            <a:chExt cx="609600" cy="609600"/>
          </a:xfrm>
        </p:grpSpPr>
        <p:sp>
          <p:nvSpPr>
            <p:cNvPr name="Freeform 72" id="72" descr="FaCheckDouble_g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7132320" y="4617720"/>
            <a:ext cx="5852160" cy="457200"/>
            <a:chOff x="0" y="0"/>
            <a:chExt cx="7802880" cy="60960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7802880" cy="609600"/>
            </a:xfrm>
            <a:custGeom>
              <a:avLst/>
              <a:gdLst/>
              <a:ahLst/>
              <a:cxnLst/>
              <a:rect r="r" b="b" t="t" l="l"/>
              <a:pathLst>
                <a:path h="60960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99408" r="0" b="-199408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7802880" cy="657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8A5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DEMONSTRATED (STRONG)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7132320" y="5074920"/>
            <a:ext cx="5852160" cy="365760"/>
            <a:chOff x="0" y="0"/>
            <a:chExt cx="7802880" cy="48768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7802880" cy="487680"/>
            </a:xfrm>
            <a:custGeom>
              <a:avLst/>
              <a:gdLst/>
              <a:ahLst/>
              <a:cxnLst/>
              <a:rect r="r" b="b" t="t" l="l"/>
              <a:pathLst>
                <a:path h="48768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61760" r="0" b="-26176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38100"/>
              <a:ext cx="7802880" cy="525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6B4A32"/>
                  </a:solidFill>
                  <a:latin typeface="Consolas"/>
                  <a:ea typeface="Consolas"/>
                  <a:cs typeface="Consolas"/>
                  <a:sym typeface="Consolas"/>
                </a:rPr>
                <a:t>api/routes.py · L12–30 · handler + test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810263" y="5610863"/>
            <a:ext cx="3317243" cy="1012955"/>
            <a:chOff x="0" y="0"/>
            <a:chExt cx="4422991" cy="1350607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4423029" cy="1350645"/>
            </a:xfrm>
            <a:custGeom>
              <a:avLst/>
              <a:gdLst/>
              <a:ahLst/>
              <a:cxnLst/>
              <a:rect r="r" b="b" t="t" l="l"/>
              <a:pathLst>
                <a:path h="1350645" w="4423029">
                  <a:moveTo>
                    <a:pt x="0" y="187579"/>
                  </a:moveTo>
                  <a:cubicBezTo>
                    <a:pt x="0" y="83947"/>
                    <a:pt x="83947" y="0"/>
                    <a:pt x="187579" y="0"/>
                  </a:cubicBezTo>
                  <a:lnTo>
                    <a:pt x="4235450" y="0"/>
                  </a:lnTo>
                  <a:cubicBezTo>
                    <a:pt x="4339082" y="0"/>
                    <a:pt x="4423029" y="83947"/>
                    <a:pt x="4423029" y="187579"/>
                  </a:cubicBezTo>
                  <a:lnTo>
                    <a:pt x="4423029" y="1163066"/>
                  </a:lnTo>
                  <a:cubicBezTo>
                    <a:pt x="4423029" y="1266698"/>
                    <a:pt x="4339082" y="1350645"/>
                    <a:pt x="4235450" y="1350645"/>
                  </a:cubicBezTo>
                  <a:lnTo>
                    <a:pt x="187579" y="1350645"/>
                  </a:lnTo>
                  <a:cubicBezTo>
                    <a:pt x="83947" y="1350645"/>
                    <a:pt x="0" y="1266571"/>
                    <a:pt x="0" y="1163066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81" id="81"/>
          <p:cNvGrpSpPr/>
          <p:nvPr/>
        </p:nvGrpSpPr>
        <p:grpSpPr>
          <a:xfrm rot="0">
            <a:off x="1051560" y="5870448"/>
            <a:ext cx="502920" cy="502920"/>
            <a:chOff x="0" y="0"/>
            <a:chExt cx="670560" cy="670560"/>
          </a:xfrm>
        </p:grpSpPr>
        <p:sp>
          <p:nvSpPr>
            <p:cNvPr name="Freeform 82" id="82" descr="FaFlask_m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783080" y="5623560"/>
            <a:ext cx="1554480" cy="987552"/>
            <a:chOff x="0" y="0"/>
            <a:chExt cx="2072640" cy="1316736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0726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1510" t="0" r="-31510" b="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57150"/>
              <a:ext cx="2072640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Testing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3429000" y="5888736"/>
            <a:ext cx="457200" cy="457200"/>
            <a:chOff x="0" y="0"/>
            <a:chExt cx="609600" cy="6096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5B49C0"/>
            </a:solid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?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6198870" y="5604510"/>
            <a:ext cx="6987540" cy="1025652"/>
            <a:chOff x="0" y="0"/>
            <a:chExt cx="9316720" cy="1367536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9316720" cy="1367536"/>
            </a:xfrm>
            <a:custGeom>
              <a:avLst/>
              <a:gdLst/>
              <a:ahLst/>
              <a:cxnLst/>
              <a:rect r="r" b="b" t="t" l="l"/>
              <a:pathLst>
                <a:path h="1367536" w="9316720">
                  <a:moveTo>
                    <a:pt x="0" y="189865"/>
                  </a:moveTo>
                  <a:cubicBezTo>
                    <a:pt x="0" y="85090"/>
                    <a:pt x="85090" y="0"/>
                    <a:pt x="189865" y="0"/>
                  </a:cubicBezTo>
                  <a:lnTo>
                    <a:pt x="9126855" y="0"/>
                  </a:lnTo>
                  <a:cubicBezTo>
                    <a:pt x="9231757" y="0"/>
                    <a:pt x="9316720" y="85090"/>
                    <a:pt x="9316720" y="189865"/>
                  </a:cubicBezTo>
                  <a:lnTo>
                    <a:pt x="9316720" y="1177671"/>
                  </a:lnTo>
                  <a:cubicBezTo>
                    <a:pt x="9316720" y="1282573"/>
                    <a:pt x="9231630" y="1367536"/>
                    <a:pt x="9126855" y="1367536"/>
                  </a:cubicBezTo>
                  <a:lnTo>
                    <a:pt x="189865" y="1367536"/>
                  </a:lnTo>
                  <a:cubicBezTo>
                    <a:pt x="85090" y="1367536"/>
                    <a:pt x="0" y="1282446"/>
                    <a:pt x="0" y="1177671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9A6512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6446520" y="5806440"/>
            <a:ext cx="457200" cy="457200"/>
            <a:chOff x="0" y="0"/>
            <a:chExt cx="609600" cy="609600"/>
          </a:xfrm>
        </p:grpSpPr>
        <p:sp>
          <p:nvSpPr>
            <p:cNvPr name="Freeform 92" id="92" descr="FaCheck_a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132320" y="5715000"/>
            <a:ext cx="5852160" cy="457200"/>
            <a:chOff x="0" y="0"/>
            <a:chExt cx="7802880" cy="60960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7802880" cy="609600"/>
            </a:xfrm>
            <a:custGeom>
              <a:avLst/>
              <a:gdLst/>
              <a:ahLst/>
              <a:cxnLst/>
              <a:rect r="r" b="b" t="t" l="l"/>
              <a:pathLst>
                <a:path h="60960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99408" r="0" b="-199408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47625"/>
              <a:ext cx="7802880" cy="657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9A651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DEMONSTRATED (BASIC)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132320" y="6172200"/>
            <a:ext cx="5852160" cy="365760"/>
            <a:chOff x="0" y="0"/>
            <a:chExt cx="7802880" cy="48768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7802880" cy="487680"/>
            </a:xfrm>
            <a:custGeom>
              <a:avLst/>
              <a:gdLst/>
              <a:ahLst/>
              <a:cxnLst/>
              <a:rect r="r" b="b" t="t" l="l"/>
              <a:pathLst>
                <a:path h="48768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61760" r="0" b="-261760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7802880" cy="525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6B4A32"/>
                  </a:solidFill>
                  <a:latin typeface="Consolas"/>
                  <a:ea typeface="Consolas"/>
                  <a:cs typeface="Consolas"/>
                  <a:sym typeface="Consolas"/>
                </a:rPr>
                <a:t>tests/test_api.py · 1 signal type</a:t>
              </a:r>
            </a:p>
          </p:txBody>
        </p:sp>
      </p:grpSp>
      <p:grpSp>
        <p:nvGrpSpPr>
          <p:cNvPr name="Group 99" id="99"/>
          <p:cNvGrpSpPr/>
          <p:nvPr/>
        </p:nvGrpSpPr>
        <p:grpSpPr>
          <a:xfrm rot="0">
            <a:off x="810263" y="6708143"/>
            <a:ext cx="3317243" cy="1012955"/>
            <a:chOff x="0" y="0"/>
            <a:chExt cx="4422991" cy="1350607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4423029" cy="1350645"/>
            </a:xfrm>
            <a:custGeom>
              <a:avLst/>
              <a:gdLst/>
              <a:ahLst/>
              <a:cxnLst/>
              <a:rect r="r" b="b" t="t" l="l"/>
              <a:pathLst>
                <a:path h="1350645" w="4423029">
                  <a:moveTo>
                    <a:pt x="0" y="187579"/>
                  </a:moveTo>
                  <a:cubicBezTo>
                    <a:pt x="0" y="83947"/>
                    <a:pt x="83947" y="0"/>
                    <a:pt x="187579" y="0"/>
                  </a:cubicBezTo>
                  <a:lnTo>
                    <a:pt x="4235450" y="0"/>
                  </a:lnTo>
                  <a:cubicBezTo>
                    <a:pt x="4339082" y="0"/>
                    <a:pt x="4423029" y="83947"/>
                    <a:pt x="4423029" y="187579"/>
                  </a:cubicBezTo>
                  <a:lnTo>
                    <a:pt x="4423029" y="1163066"/>
                  </a:lnTo>
                  <a:cubicBezTo>
                    <a:pt x="4423029" y="1266698"/>
                    <a:pt x="4339082" y="1350645"/>
                    <a:pt x="4235450" y="1350645"/>
                  </a:cubicBezTo>
                  <a:lnTo>
                    <a:pt x="187579" y="1350645"/>
                  </a:lnTo>
                  <a:cubicBezTo>
                    <a:pt x="83947" y="1350645"/>
                    <a:pt x="0" y="1266571"/>
                    <a:pt x="0" y="1163066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101" id="101"/>
          <p:cNvGrpSpPr/>
          <p:nvPr/>
        </p:nvGrpSpPr>
        <p:grpSpPr>
          <a:xfrm rot="0">
            <a:off x="1051560" y="6967728"/>
            <a:ext cx="502920" cy="502920"/>
            <a:chOff x="0" y="0"/>
            <a:chExt cx="670560" cy="670560"/>
          </a:xfrm>
        </p:grpSpPr>
        <p:sp>
          <p:nvSpPr>
            <p:cNvPr name="Freeform 102" id="102" descr="FaDocker_m.png"/>
            <p:cNvSpPr/>
            <p:nvPr/>
          </p:nvSpPr>
          <p:spPr>
            <a:xfrm flipH="false" flipV="false" rot="0">
              <a:off x="0" y="0"/>
              <a:ext cx="670560" cy="670560"/>
            </a:xfrm>
            <a:custGeom>
              <a:avLst/>
              <a:gdLst/>
              <a:ahLst/>
              <a:cxnLst/>
              <a:rect r="r" b="b" t="t" l="l"/>
              <a:pathLst>
                <a:path h="670560" w="670560">
                  <a:moveTo>
                    <a:pt x="0" y="0"/>
                  </a:moveTo>
                  <a:lnTo>
                    <a:pt x="670560" y="0"/>
                  </a:lnTo>
                  <a:lnTo>
                    <a:pt x="670560" y="670560"/>
                  </a:lnTo>
                  <a:lnTo>
                    <a:pt x="0" y="670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1783080" y="6720840"/>
            <a:ext cx="1554480" cy="987552"/>
            <a:chOff x="0" y="0"/>
            <a:chExt cx="2072640" cy="1316736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207264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31510" t="0" r="-31510" b="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2072640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Docker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3429000" y="6986016"/>
            <a:ext cx="457200" cy="457200"/>
            <a:chOff x="0" y="0"/>
            <a:chExt cx="609600" cy="609600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cubicBezTo>
                    <a:pt x="473075" y="0"/>
                    <a:pt x="609600" y="136525"/>
                    <a:pt x="609600" y="304800"/>
                  </a:cubicBezTo>
                  <a:cubicBezTo>
                    <a:pt x="609600" y="473075"/>
                    <a:pt x="473075" y="609600"/>
                    <a:pt x="304800" y="609600"/>
                  </a:cubicBez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5B49C0"/>
            </a:solid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?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6198870" y="6701790"/>
            <a:ext cx="6987540" cy="1025652"/>
            <a:chOff x="0" y="0"/>
            <a:chExt cx="9316720" cy="1367536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9316720" cy="1367536"/>
            </a:xfrm>
            <a:custGeom>
              <a:avLst/>
              <a:gdLst/>
              <a:ahLst/>
              <a:cxnLst/>
              <a:rect r="r" b="b" t="t" l="l"/>
              <a:pathLst>
                <a:path h="1367536" w="9316720">
                  <a:moveTo>
                    <a:pt x="0" y="189865"/>
                  </a:moveTo>
                  <a:cubicBezTo>
                    <a:pt x="0" y="85090"/>
                    <a:pt x="85090" y="0"/>
                    <a:pt x="189865" y="0"/>
                  </a:cubicBezTo>
                  <a:lnTo>
                    <a:pt x="9126855" y="0"/>
                  </a:lnTo>
                  <a:cubicBezTo>
                    <a:pt x="9231757" y="0"/>
                    <a:pt x="9316720" y="85090"/>
                    <a:pt x="9316720" y="189865"/>
                  </a:cubicBezTo>
                  <a:lnTo>
                    <a:pt x="9316720" y="1177671"/>
                  </a:lnTo>
                  <a:cubicBezTo>
                    <a:pt x="9316720" y="1282573"/>
                    <a:pt x="9231630" y="1367536"/>
                    <a:pt x="9126855" y="1367536"/>
                  </a:cubicBezTo>
                  <a:lnTo>
                    <a:pt x="189865" y="1367536"/>
                  </a:lnTo>
                  <a:cubicBezTo>
                    <a:pt x="85090" y="1367536"/>
                    <a:pt x="0" y="1282446"/>
                    <a:pt x="0" y="1177671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5B49C0"/>
              </a:solidFill>
              <a:prstDash val="solid"/>
              <a:miter/>
            </a:ln>
          </p:spPr>
        </p:sp>
      </p:grpSp>
      <p:grpSp>
        <p:nvGrpSpPr>
          <p:cNvPr name="Group 111" id="111"/>
          <p:cNvGrpSpPr/>
          <p:nvPr/>
        </p:nvGrpSpPr>
        <p:grpSpPr>
          <a:xfrm rot="0">
            <a:off x="6446520" y="6903720"/>
            <a:ext cx="457200" cy="457200"/>
            <a:chOff x="0" y="0"/>
            <a:chExt cx="609600" cy="609600"/>
          </a:xfrm>
        </p:grpSpPr>
        <p:sp>
          <p:nvSpPr>
            <p:cNvPr name="Freeform 112" id="112" descr="FaQuestion_v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7132320" y="6812280"/>
            <a:ext cx="5852160" cy="457200"/>
            <a:chOff x="0" y="0"/>
            <a:chExt cx="7802880" cy="60960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7802880" cy="609600"/>
            </a:xfrm>
            <a:custGeom>
              <a:avLst/>
              <a:gdLst/>
              <a:ahLst/>
              <a:cxnLst/>
              <a:rect r="r" b="b" t="t" l="l"/>
              <a:pathLst>
                <a:path h="60960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199408" r="0" b="-199408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-47625"/>
              <a:ext cx="7802880" cy="657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5B49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UNCLEAR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7132320" y="7269480"/>
            <a:ext cx="5852160" cy="365760"/>
            <a:chOff x="0" y="0"/>
            <a:chExt cx="7802880" cy="487680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7802880" cy="487680"/>
            </a:xfrm>
            <a:custGeom>
              <a:avLst/>
              <a:gdLst/>
              <a:ahLst/>
              <a:cxnLst/>
              <a:rect r="r" b="b" t="t" l="l"/>
              <a:pathLst>
                <a:path h="487680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61760" r="0" b="-261760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38100"/>
              <a:ext cx="7802880" cy="525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6B4A32"/>
                  </a:solidFill>
                  <a:latin typeface="Consolas"/>
                  <a:ea typeface="Consolas"/>
                  <a:cs typeface="Consolas"/>
                  <a:sym typeface="Consolas"/>
                </a:rPr>
                <a:t>Private repo skipped · limited analysis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3213080" y="3657600"/>
            <a:ext cx="384048" cy="457200"/>
            <a:chOff x="0" y="0"/>
            <a:chExt cx="512064" cy="609600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512064" cy="609600"/>
            </a:xfrm>
            <a:custGeom>
              <a:avLst/>
              <a:gdLst/>
              <a:ahLst/>
              <a:cxnLst/>
              <a:rect r="r" b="b" t="t" l="l"/>
              <a:pathLst>
                <a:path h="609600" w="512064">
                  <a:moveTo>
                    <a:pt x="0" y="152400"/>
                  </a:moveTo>
                  <a:lnTo>
                    <a:pt x="256032" y="152400"/>
                  </a:lnTo>
                  <a:lnTo>
                    <a:pt x="256032" y="0"/>
                  </a:lnTo>
                  <a:lnTo>
                    <a:pt x="512064" y="304800"/>
                  </a:lnTo>
                  <a:lnTo>
                    <a:pt x="256032" y="609600"/>
                  </a:lnTo>
                  <a:lnTo>
                    <a:pt x="256032" y="45720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13602338" y="3406778"/>
            <a:ext cx="3884933" cy="4323845"/>
            <a:chOff x="0" y="0"/>
            <a:chExt cx="5179911" cy="5765127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5179822" cy="5765038"/>
            </a:xfrm>
            <a:custGeom>
              <a:avLst/>
              <a:gdLst/>
              <a:ahLst/>
              <a:cxnLst/>
              <a:rect r="r" b="b" t="t" l="l"/>
              <a:pathLst>
                <a:path h="5765038" w="5179822">
                  <a:moveTo>
                    <a:pt x="0" y="184912"/>
                  </a:moveTo>
                  <a:cubicBezTo>
                    <a:pt x="0" y="82804"/>
                    <a:pt x="82804" y="0"/>
                    <a:pt x="184912" y="0"/>
                  </a:cubicBezTo>
                  <a:lnTo>
                    <a:pt x="4994910" y="0"/>
                  </a:lnTo>
                  <a:cubicBezTo>
                    <a:pt x="5097018" y="0"/>
                    <a:pt x="5179822" y="82804"/>
                    <a:pt x="5179822" y="184912"/>
                  </a:cubicBezTo>
                  <a:lnTo>
                    <a:pt x="5179822" y="5580126"/>
                  </a:lnTo>
                  <a:cubicBezTo>
                    <a:pt x="5179822" y="5682234"/>
                    <a:pt x="5097018" y="5765038"/>
                    <a:pt x="4994910" y="5765038"/>
                  </a:cubicBezTo>
                  <a:lnTo>
                    <a:pt x="184912" y="5765038"/>
                  </a:lnTo>
                  <a:cubicBezTo>
                    <a:pt x="82804" y="5765165"/>
                    <a:pt x="0" y="5682361"/>
                    <a:pt x="0" y="5580126"/>
                  </a:cubicBezTo>
                  <a:close/>
                </a:path>
              </a:pathLst>
            </a:custGeom>
            <a:solidFill>
              <a:srgbClr val="FFF9F0"/>
            </a:solidFill>
            <a:ln w="44450" cap="sq">
              <a:solidFill>
                <a:srgbClr val="732017"/>
              </a:solidFill>
              <a:prstDash val="dash"/>
              <a:miter/>
            </a:ln>
          </p:spPr>
        </p:sp>
      </p:grpSp>
      <p:grpSp>
        <p:nvGrpSpPr>
          <p:cNvPr name="Group 123" id="123"/>
          <p:cNvGrpSpPr/>
          <p:nvPr/>
        </p:nvGrpSpPr>
        <p:grpSpPr>
          <a:xfrm rot="0">
            <a:off x="13898880" y="3200400"/>
            <a:ext cx="3291840" cy="457200"/>
            <a:chOff x="0" y="0"/>
            <a:chExt cx="4389120" cy="609600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4389120" cy="609600"/>
            </a:xfrm>
            <a:custGeom>
              <a:avLst/>
              <a:gdLst/>
              <a:ahLst/>
              <a:cxnLst/>
              <a:rect r="r" b="b" t="t" l="l"/>
              <a:pathLst>
                <a:path h="609600" w="438912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084320" y="0"/>
                  </a:lnTo>
                  <a:cubicBezTo>
                    <a:pt x="4252595" y="0"/>
                    <a:pt x="4389120" y="136525"/>
                    <a:pt x="4389120" y="304800"/>
                  </a:cubicBezTo>
                  <a:cubicBezTo>
                    <a:pt x="4389120" y="473075"/>
                    <a:pt x="4252595" y="609600"/>
                    <a:pt x="4084320" y="609600"/>
                  </a:cubicBezTo>
                  <a:lnTo>
                    <a:pt x="304800" y="609600"/>
                  </a:ln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732017"/>
            </a:solid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438912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FFFF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RECOMMENDATION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3898880" y="3840480"/>
            <a:ext cx="3291840" cy="1143000"/>
            <a:chOff x="0" y="0"/>
            <a:chExt cx="4389120" cy="152400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4389120" cy="1524000"/>
            </a:xfrm>
            <a:custGeom>
              <a:avLst/>
              <a:gdLst/>
              <a:ahLst/>
              <a:cxnLst/>
              <a:rect r="r" b="b" t="t" l="l"/>
              <a:pathLst>
                <a:path h="152400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1524000"/>
                  </a:lnTo>
                  <a:lnTo>
                    <a:pt x="0" y="152400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6116" r="0" b="-611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47625"/>
              <a:ext cx="4389120" cy="15716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If your next commit adds a tested query on a route…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3879830" y="5055870"/>
            <a:ext cx="3329940" cy="678180"/>
            <a:chOff x="0" y="0"/>
            <a:chExt cx="4439920" cy="90424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4439920" cy="904240"/>
            </a:xfrm>
            <a:custGeom>
              <a:avLst/>
              <a:gdLst/>
              <a:ahLst/>
              <a:cxnLst/>
              <a:rect r="r" b="b" t="t" l="l"/>
              <a:pathLst>
                <a:path h="904240" w="4439920">
                  <a:moveTo>
                    <a:pt x="0" y="155067"/>
                  </a:moveTo>
                  <a:cubicBezTo>
                    <a:pt x="0" y="69342"/>
                    <a:pt x="69342" y="0"/>
                    <a:pt x="155067" y="0"/>
                  </a:cubicBezTo>
                  <a:lnTo>
                    <a:pt x="4284853" y="0"/>
                  </a:lnTo>
                  <a:cubicBezTo>
                    <a:pt x="4370451" y="0"/>
                    <a:pt x="4439920" y="69342"/>
                    <a:pt x="4439920" y="155067"/>
                  </a:cubicBezTo>
                  <a:lnTo>
                    <a:pt x="4439920" y="749173"/>
                  </a:lnTo>
                  <a:cubicBezTo>
                    <a:pt x="4439920" y="834771"/>
                    <a:pt x="4370578" y="904240"/>
                    <a:pt x="4284853" y="904240"/>
                  </a:cubicBezTo>
                  <a:lnTo>
                    <a:pt x="155067" y="904240"/>
                  </a:lnTo>
                  <a:cubicBezTo>
                    <a:pt x="69342" y="904240"/>
                    <a:pt x="0" y="834898"/>
                    <a:pt x="0" y="749173"/>
                  </a:cubicBezTo>
                  <a:close/>
                </a:path>
              </a:pathLst>
            </a:custGeom>
            <a:solidFill>
              <a:srgbClr val="E8ECF1"/>
            </a:solidFill>
            <a:ln w="38100" cap="sq">
              <a:solidFill>
                <a:srgbClr val="556377"/>
              </a:solidFill>
              <a:prstDash val="solid"/>
              <a:miter/>
            </a:ln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4439920" cy="9423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55637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NOT SHOWN IN SCOPE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5361920" y="5760720"/>
            <a:ext cx="365760" cy="301752"/>
            <a:chOff x="0" y="0"/>
            <a:chExt cx="487680" cy="402336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487680" cy="402336"/>
            </a:xfrm>
            <a:custGeom>
              <a:avLst/>
              <a:gdLst/>
              <a:ahLst/>
              <a:cxnLst/>
              <a:rect r="r" b="b" t="t" l="l"/>
              <a:pathLst>
                <a:path h="402336" w="487680">
                  <a:moveTo>
                    <a:pt x="0" y="201168"/>
                  </a:moveTo>
                  <a:lnTo>
                    <a:pt x="121920" y="201168"/>
                  </a:lnTo>
                  <a:lnTo>
                    <a:pt x="121920" y="0"/>
                  </a:lnTo>
                  <a:lnTo>
                    <a:pt x="365760" y="0"/>
                  </a:lnTo>
                  <a:lnTo>
                    <a:pt x="365760" y="201168"/>
                  </a:lnTo>
                  <a:lnTo>
                    <a:pt x="487680" y="201168"/>
                  </a:lnTo>
                  <a:lnTo>
                    <a:pt x="243840" y="402336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134" id="134"/>
          <p:cNvGrpSpPr/>
          <p:nvPr/>
        </p:nvGrpSpPr>
        <p:grpSpPr>
          <a:xfrm rot="0">
            <a:off x="13879830" y="6107430"/>
            <a:ext cx="3329940" cy="678180"/>
            <a:chOff x="0" y="0"/>
            <a:chExt cx="4439920" cy="904240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4439920" cy="904240"/>
            </a:xfrm>
            <a:custGeom>
              <a:avLst/>
              <a:gdLst/>
              <a:ahLst/>
              <a:cxnLst/>
              <a:rect r="r" b="b" t="t" l="l"/>
              <a:pathLst>
                <a:path h="904240" w="4439920">
                  <a:moveTo>
                    <a:pt x="0" y="155067"/>
                  </a:moveTo>
                  <a:cubicBezTo>
                    <a:pt x="0" y="69342"/>
                    <a:pt x="69342" y="0"/>
                    <a:pt x="155067" y="0"/>
                  </a:cubicBezTo>
                  <a:lnTo>
                    <a:pt x="4284853" y="0"/>
                  </a:lnTo>
                  <a:cubicBezTo>
                    <a:pt x="4370451" y="0"/>
                    <a:pt x="4439920" y="69342"/>
                    <a:pt x="4439920" y="155067"/>
                  </a:cubicBezTo>
                  <a:lnTo>
                    <a:pt x="4439920" y="749173"/>
                  </a:lnTo>
                  <a:cubicBezTo>
                    <a:pt x="4439920" y="834771"/>
                    <a:pt x="4370578" y="904240"/>
                    <a:pt x="4284853" y="904240"/>
                  </a:cubicBezTo>
                  <a:lnTo>
                    <a:pt x="155067" y="904240"/>
                  </a:lnTo>
                  <a:cubicBezTo>
                    <a:pt x="69342" y="904240"/>
                    <a:pt x="0" y="834898"/>
                    <a:pt x="0" y="749173"/>
                  </a:cubicBezTo>
                  <a:close/>
                </a:path>
              </a:pathLst>
            </a:custGeom>
            <a:solidFill>
              <a:srgbClr val="E3F2EA"/>
            </a:solidFill>
            <a:ln w="38100" cap="sq">
              <a:solidFill>
                <a:srgbClr val="1F8A5B"/>
              </a:solidFill>
              <a:prstDash val="solid"/>
              <a:miter/>
            </a:ln>
          </p:spPr>
        </p:sp>
        <p:sp>
          <p:nvSpPr>
            <p:cNvPr name="TextBox 136" id="136"/>
            <p:cNvSpPr txBox="true"/>
            <p:nvPr/>
          </p:nvSpPr>
          <p:spPr>
            <a:xfrm>
              <a:off x="0" y="-38100"/>
              <a:ext cx="4439920" cy="9423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1F8A5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DEMONSTRATED (STRONG)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79830" y="6838950"/>
            <a:ext cx="3329940" cy="449580"/>
            <a:chOff x="0" y="0"/>
            <a:chExt cx="4439920" cy="599440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4439920" cy="599440"/>
            </a:xfrm>
            <a:custGeom>
              <a:avLst/>
              <a:gdLst/>
              <a:ahLst/>
              <a:cxnLst/>
              <a:rect r="r" b="b" t="t" l="l"/>
              <a:pathLst>
                <a:path h="599440" w="4439920">
                  <a:moveTo>
                    <a:pt x="0" y="159893"/>
                  </a:moveTo>
                  <a:cubicBezTo>
                    <a:pt x="0" y="71628"/>
                    <a:pt x="71628" y="0"/>
                    <a:pt x="159893" y="0"/>
                  </a:cubicBezTo>
                  <a:lnTo>
                    <a:pt x="4280027" y="0"/>
                  </a:lnTo>
                  <a:cubicBezTo>
                    <a:pt x="4368292" y="0"/>
                    <a:pt x="4439920" y="71628"/>
                    <a:pt x="4439920" y="159893"/>
                  </a:cubicBezTo>
                  <a:lnTo>
                    <a:pt x="4439920" y="439547"/>
                  </a:lnTo>
                  <a:cubicBezTo>
                    <a:pt x="4439920" y="527812"/>
                    <a:pt x="4368292" y="599440"/>
                    <a:pt x="4280027" y="599440"/>
                  </a:cubicBezTo>
                  <a:lnTo>
                    <a:pt x="159893" y="599440"/>
                  </a:lnTo>
                  <a:cubicBezTo>
                    <a:pt x="71628" y="599440"/>
                    <a:pt x="0" y="527812"/>
                    <a:pt x="0" y="439547"/>
                  </a:cubicBezTo>
                  <a:close/>
                </a:path>
              </a:pathLst>
            </a:custGeom>
            <a:solidFill>
              <a:srgbClr val="FFF9F0"/>
            </a:solidFill>
            <a:ln w="38100" cap="sq">
              <a:solidFill>
                <a:srgbClr val="556377"/>
              </a:solidFill>
              <a:prstDash val="solid"/>
              <a:miter/>
            </a:ln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4439920" cy="628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  <a:r>
                <a:rPr lang="en-US" sz="1400" b="true">
                  <a:solidFill>
                    <a:srgbClr val="55637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Must NOT change: Testing</a:t>
              </a:r>
            </a:p>
          </p:txBody>
        </p:sp>
      </p:grpSp>
      <p:sp>
        <p:nvSpPr>
          <p:cNvPr name="TextBox 140" id="140"/>
          <p:cNvSpPr txBox="true"/>
          <p:nvPr/>
        </p:nvSpPr>
        <p:spPr>
          <a:xfrm rot="0">
            <a:off x="13898880" y="7286625"/>
            <a:ext cx="329184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400" i="true">
                <a:solidFill>
                  <a:srgbClr val="6B4A32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Stays a Recommendation until it lands</a:t>
            </a:r>
          </a:p>
        </p:txBody>
      </p:sp>
      <p:grpSp>
        <p:nvGrpSpPr>
          <p:cNvPr name="Group 141" id="141"/>
          <p:cNvGrpSpPr/>
          <p:nvPr/>
        </p:nvGrpSpPr>
        <p:grpSpPr>
          <a:xfrm rot="0">
            <a:off x="807082" y="8259442"/>
            <a:ext cx="16673827" cy="1266187"/>
            <a:chOff x="0" y="0"/>
            <a:chExt cx="22231769" cy="1688249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2231731" cy="1688211"/>
            </a:xfrm>
            <a:custGeom>
              <a:avLst/>
              <a:gdLst/>
              <a:ahLst/>
              <a:cxnLst/>
              <a:rect r="r" b="b" t="t" l="l"/>
              <a:pathLst>
                <a:path h="1688211" w="22231731">
                  <a:moveTo>
                    <a:pt x="0" y="225044"/>
                  </a:moveTo>
                  <a:cubicBezTo>
                    <a:pt x="0" y="100838"/>
                    <a:pt x="100838" y="0"/>
                    <a:pt x="225044" y="0"/>
                  </a:cubicBezTo>
                  <a:lnTo>
                    <a:pt x="22006688" y="0"/>
                  </a:lnTo>
                  <a:cubicBezTo>
                    <a:pt x="22131021" y="0"/>
                    <a:pt x="22231731" y="100838"/>
                    <a:pt x="22231731" y="225044"/>
                  </a:cubicBezTo>
                  <a:lnTo>
                    <a:pt x="22231731" y="1463167"/>
                  </a:lnTo>
                  <a:cubicBezTo>
                    <a:pt x="22231731" y="1587500"/>
                    <a:pt x="22130894" y="1688211"/>
                    <a:pt x="22006688" y="1688211"/>
                  </a:cubicBezTo>
                  <a:lnTo>
                    <a:pt x="225044" y="1688211"/>
                  </a:lnTo>
                  <a:cubicBezTo>
                    <a:pt x="100838" y="1688211"/>
                    <a:pt x="0" y="1587500"/>
                    <a:pt x="0" y="1463167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32010">
                    <a:alpha val="100000"/>
                  </a:srgbClr>
                </a:gs>
                <a:gs pos="100000">
                  <a:srgbClr val="24100A">
                    <a:alpha val="100000"/>
                  </a:srgbClr>
                </a:gs>
              </a:gsLst>
              <a:lin ang="16200000"/>
            </a:gradFill>
            <a:ln w="3175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43" id="143"/>
          <p:cNvGrpSpPr/>
          <p:nvPr/>
        </p:nvGrpSpPr>
        <p:grpSpPr>
          <a:xfrm rot="0">
            <a:off x="1188720" y="8046720"/>
            <a:ext cx="7315200" cy="438912"/>
            <a:chOff x="0" y="0"/>
            <a:chExt cx="9753600" cy="585216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9753600" cy="585216"/>
            </a:xfrm>
            <a:custGeom>
              <a:avLst/>
              <a:gdLst/>
              <a:ahLst/>
              <a:cxnLst/>
              <a:rect r="r" b="b" t="t" l="l"/>
              <a:pathLst>
                <a:path h="585216" w="9753600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lnTo>
                    <a:pt x="9460992" y="0"/>
                  </a:lnTo>
                  <a:cubicBezTo>
                    <a:pt x="9622536" y="0"/>
                    <a:pt x="9753600" y="131064"/>
                    <a:pt x="9753600" y="292608"/>
                  </a:cubicBezTo>
                  <a:cubicBezTo>
                    <a:pt x="9753600" y="454152"/>
                    <a:pt x="9622536" y="585216"/>
                    <a:pt x="9460992" y="585216"/>
                  </a:cubicBezTo>
                  <a:lnTo>
                    <a:pt x="292608" y="585216"/>
                  </a:ln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C9A24A"/>
            </a:solid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-38100"/>
              <a:ext cx="9753600" cy="6233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LOOP · RE-RUNS ON EVERY PUSH (WEBHOOK + POLLING FALLBACK)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169670" y="8622030"/>
            <a:ext cx="769620" cy="769620"/>
            <a:chOff x="0" y="0"/>
            <a:chExt cx="1026160" cy="1026160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1364285" y="8816645"/>
            <a:ext cx="380390" cy="380390"/>
            <a:chOff x="0" y="0"/>
            <a:chExt cx="507187" cy="507187"/>
          </a:xfrm>
        </p:grpSpPr>
        <p:sp>
          <p:nvSpPr>
            <p:cNvPr name="Freeform 149" id="149" descr="FaFileAlt_y.png"/>
            <p:cNvSpPr/>
            <p:nvPr/>
          </p:nvSpPr>
          <p:spPr>
            <a:xfrm flipH="false" flipV="false" rot="0">
              <a:off x="0" y="0"/>
              <a:ext cx="507238" cy="507238"/>
            </a:xfrm>
            <a:custGeom>
              <a:avLst/>
              <a:gdLst/>
              <a:ahLst/>
              <a:cxnLst/>
              <a:rect r="r" b="b" t="t" l="l"/>
              <a:pathLst>
                <a:path h="507238" w="507238">
                  <a:moveTo>
                    <a:pt x="0" y="0"/>
                  </a:moveTo>
                  <a:lnTo>
                    <a:pt x="507238" y="0"/>
                  </a:lnTo>
                  <a:lnTo>
                    <a:pt x="507238" y="507238"/>
                  </a:lnTo>
                  <a:lnTo>
                    <a:pt x="0" y="5072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10" b="10"/>
              </a:stretch>
            </a:blip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2029968" y="8641080"/>
            <a:ext cx="1554480" cy="731520"/>
            <a:chOff x="0" y="0"/>
            <a:chExt cx="2072640" cy="975360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2072640" cy="975360"/>
            </a:xfrm>
            <a:custGeom>
              <a:avLst/>
              <a:gdLst/>
              <a:ahLst/>
              <a:cxnLst/>
              <a:rect r="r" b="b" t="t" l="l"/>
              <a:pathLst>
                <a:path h="975360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0378" t="0" r="-10378" b="0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207264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Job requirements</a:t>
              </a:r>
            </a:p>
          </p:txBody>
        </p:sp>
      </p:grpSp>
      <p:grpSp>
        <p:nvGrpSpPr>
          <p:cNvPr name="Group 153" id="153"/>
          <p:cNvGrpSpPr/>
          <p:nvPr/>
        </p:nvGrpSpPr>
        <p:grpSpPr>
          <a:xfrm rot="0">
            <a:off x="3621024" y="8906256"/>
            <a:ext cx="182880" cy="201168"/>
            <a:chOff x="0" y="0"/>
            <a:chExt cx="243840" cy="268224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243840" cy="268224"/>
            </a:xfrm>
            <a:custGeom>
              <a:avLst/>
              <a:gdLst/>
              <a:ahLst/>
              <a:cxnLst/>
              <a:rect r="r" b="b" t="t" l="l"/>
              <a:pathLst>
                <a:path h="268224" w="243840">
                  <a:moveTo>
                    <a:pt x="0" y="67056"/>
                  </a:moveTo>
                  <a:lnTo>
                    <a:pt x="121920" y="67056"/>
                  </a:lnTo>
                  <a:lnTo>
                    <a:pt x="121920" y="0"/>
                  </a:lnTo>
                  <a:lnTo>
                    <a:pt x="243840" y="134112"/>
                  </a:lnTo>
                  <a:lnTo>
                    <a:pt x="121920" y="268224"/>
                  </a:lnTo>
                  <a:lnTo>
                    <a:pt x="121920" y="201168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C9A24A"/>
            </a:solidFill>
          </p:spPr>
        </p:sp>
      </p:grpSp>
      <p:grpSp>
        <p:nvGrpSpPr>
          <p:cNvPr name="Group 155" id="155"/>
          <p:cNvGrpSpPr/>
          <p:nvPr/>
        </p:nvGrpSpPr>
        <p:grpSpPr>
          <a:xfrm rot="0">
            <a:off x="3867150" y="8622030"/>
            <a:ext cx="769620" cy="769620"/>
            <a:chOff x="0" y="0"/>
            <a:chExt cx="1026160" cy="1026160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57" id="157"/>
          <p:cNvGrpSpPr/>
          <p:nvPr/>
        </p:nvGrpSpPr>
        <p:grpSpPr>
          <a:xfrm rot="0">
            <a:off x="4061765" y="8816645"/>
            <a:ext cx="380390" cy="380390"/>
            <a:chOff x="0" y="0"/>
            <a:chExt cx="507187" cy="507187"/>
          </a:xfrm>
        </p:grpSpPr>
        <p:sp>
          <p:nvSpPr>
            <p:cNvPr name="Freeform 158" id="158" descr="FaGithub_y.png"/>
            <p:cNvSpPr/>
            <p:nvPr/>
          </p:nvSpPr>
          <p:spPr>
            <a:xfrm flipH="false" flipV="false" rot="0">
              <a:off x="0" y="0"/>
              <a:ext cx="507238" cy="507238"/>
            </a:xfrm>
            <a:custGeom>
              <a:avLst/>
              <a:gdLst/>
              <a:ahLst/>
              <a:cxnLst/>
              <a:rect r="r" b="b" t="t" l="l"/>
              <a:pathLst>
                <a:path h="507238" w="507238">
                  <a:moveTo>
                    <a:pt x="0" y="0"/>
                  </a:moveTo>
                  <a:lnTo>
                    <a:pt x="507238" y="0"/>
                  </a:lnTo>
                  <a:lnTo>
                    <a:pt x="507238" y="507238"/>
                  </a:lnTo>
                  <a:lnTo>
                    <a:pt x="0" y="5072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10" b="10"/>
              </a:stretch>
            </a:blipFill>
          </p:spPr>
        </p:sp>
      </p:grpSp>
      <p:grpSp>
        <p:nvGrpSpPr>
          <p:cNvPr name="Group 159" id="159"/>
          <p:cNvGrpSpPr/>
          <p:nvPr/>
        </p:nvGrpSpPr>
        <p:grpSpPr>
          <a:xfrm rot="0">
            <a:off x="4727448" y="8641080"/>
            <a:ext cx="1554480" cy="731520"/>
            <a:chOff x="0" y="0"/>
            <a:chExt cx="2072640" cy="975360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2072640" cy="975360"/>
            </a:xfrm>
            <a:custGeom>
              <a:avLst/>
              <a:gdLst/>
              <a:ahLst/>
              <a:cxnLst/>
              <a:rect r="r" b="b" t="t" l="l"/>
              <a:pathLst>
                <a:path h="975360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0378" t="0" r="-10378" b="0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207264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Repo evidence</a:t>
              </a:r>
            </a:p>
          </p:txBody>
        </p:sp>
      </p:grpSp>
      <p:grpSp>
        <p:nvGrpSpPr>
          <p:cNvPr name="Group 162" id="162"/>
          <p:cNvGrpSpPr/>
          <p:nvPr/>
        </p:nvGrpSpPr>
        <p:grpSpPr>
          <a:xfrm rot="0">
            <a:off x="6318504" y="8906256"/>
            <a:ext cx="182880" cy="201168"/>
            <a:chOff x="0" y="0"/>
            <a:chExt cx="243840" cy="268224"/>
          </a:xfrm>
        </p:grpSpPr>
        <p:sp>
          <p:nvSpPr>
            <p:cNvPr name="Freeform 163" id="163"/>
            <p:cNvSpPr/>
            <p:nvPr/>
          </p:nvSpPr>
          <p:spPr>
            <a:xfrm flipH="false" flipV="false" rot="0">
              <a:off x="0" y="0"/>
              <a:ext cx="243840" cy="268224"/>
            </a:xfrm>
            <a:custGeom>
              <a:avLst/>
              <a:gdLst/>
              <a:ahLst/>
              <a:cxnLst/>
              <a:rect r="r" b="b" t="t" l="l"/>
              <a:pathLst>
                <a:path h="268224" w="243840">
                  <a:moveTo>
                    <a:pt x="0" y="67056"/>
                  </a:moveTo>
                  <a:lnTo>
                    <a:pt x="121920" y="67056"/>
                  </a:lnTo>
                  <a:lnTo>
                    <a:pt x="121920" y="0"/>
                  </a:lnTo>
                  <a:lnTo>
                    <a:pt x="243840" y="134112"/>
                  </a:lnTo>
                  <a:lnTo>
                    <a:pt x="121920" y="268224"/>
                  </a:lnTo>
                  <a:lnTo>
                    <a:pt x="121920" y="201168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C9A24A"/>
            </a:solidFill>
          </p:spPr>
        </p:sp>
      </p:grpSp>
      <p:grpSp>
        <p:nvGrpSpPr>
          <p:cNvPr name="Group 164" id="164"/>
          <p:cNvGrpSpPr/>
          <p:nvPr/>
        </p:nvGrpSpPr>
        <p:grpSpPr>
          <a:xfrm rot="0">
            <a:off x="6564630" y="8622030"/>
            <a:ext cx="769620" cy="769620"/>
            <a:chOff x="0" y="0"/>
            <a:chExt cx="1026160" cy="1026160"/>
          </a:xfrm>
        </p:grpSpPr>
        <p:sp>
          <p:nvSpPr>
            <p:cNvPr name="Freeform 165" id="165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66" id="166"/>
          <p:cNvGrpSpPr/>
          <p:nvPr/>
        </p:nvGrpSpPr>
        <p:grpSpPr>
          <a:xfrm rot="0">
            <a:off x="6759245" y="8816645"/>
            <a:ext cx="380390" cy="380390"/>
            <a:chOff x="0" y="0"/>
            <a:chExt cx="507187" cy="507187"/>
          </a:xfrm>
        </p:grpSpPr>
        <p:sp>
          <p:nvSpPr>
            <p:cNvPr name="Freeform 167" id="167" descr="FaSearch_y.png"/>
            <p:cNvSpPr/>
            <p:nvPr/>
          </p:nvSpPr>
          <p:spPr>
            <a:xfrm flipH="false" flipV="false" rot="0">
              <a:off x="0" y="0"/>
              <a:ext cx="507238" cy="507238"/>
            </a:xfrm>
            <a:custGeom>
              <a:avLst/>
              <a:gdLst/>
              <a:ahLst/>
              <a:cxnLst/>
              <a:rect r="r" b="b" t="t" l="l"/>
              <a:pathLst>
                <a:path h="507238" w="507238">
                  <a:moveTo>
                    <a:pt x="0" y="0"/>
                  </a:moveTo>
                  <a:lnTo>
                    <a:pt x="507238" y="0"/>
                  </a:lnTo>
                  <a:lnTo>
                    <a:pt x="507238" y="507238"/>
                  </a:lnTo>
                  <a:lnTo>
                    <a:pt x="0" y="5072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10" b="10"/>
              </a:stretch>
            </a:blipFill>
          </p:spPr>
        </p:sp>
      </p:grpSp>
      <p:grpSp>
        <p:nvGrpSpPr>
          <p:cNvPr name="Group 168" id="168"/>
          <p:cNvGrpSpPr/>
          <p:nvPr/>
        </p:nvGrpSpPr>
        <p:grpSpPr>
          <a:xfrm rot="0">
            <a:off x="7424928" y="8641080"/>
            <a:ext cx="1554480" cy="731520"/>
            <a:chOff x="0" y="0"/>
            <a:chExt cx="2072640" cy="975360"/>
          </a:xfrm>
        </p:grpSpPr>
        <p:sp>
          <p:nvSpPr>
            <p:cNvPr name="Freeform 169" id="169"/>
            <p:cNvSpPr/>
            <p:nvPr/>
          </p:nvSpPr>
          <p:spPr>
            <a:xfrm flipH="false" flipV="false" rot="0">
              <a:off x="0" y="0"/>
              <a:ext cx="2072640" cy="975360"/>
            </a:xfrm>
            <a:custGeom>
              <a:avLst/>
              <a:gdLst/>
              <a:ahLst/>
              <a:cxnLst/>
              <a:rect r="r" b="b" t="t" l="l"/>
              <a:pathLst>
                <a:path h="975360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0378" t="0" r="-10378" b="0"/>
              </a:stretch>
            </a:blipFill>
          </p:spPr>
        </p:sp>
        <p:sp>
          <p:nvSpPr>
            <p:cNvPr name="TextBox 170" id="170"/>
            <p:cNvSpPr txBox="true"/>
            <p:nvPr/>
          </p:nvSpPr>
          <p:spPr>
            <a:xfrm>
              <a:off x="0" y="-38100"/>
              <a:ext cx="207264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Gap assessment</a:t>
              </a:r>
            </a:p>
          </p:txBody>
        </p:sp>
      </p:grpSp>
      <p:grpSp>
        <p:nvGrpSpPr>
          <p:cNvPr name="Group 171" id="171"/>
          <p:cNvGrpSpPr/>
          <p:nvPr/>
        </p:nvGrpSpPr>
        <p:grpSpPr>
          <a:xfrm rot="0">
            <a:off x="9015984" y="8906256"/>
            <a:ext cx="182880" cy="201168"/>
            <a:chOff x="0" y="0"/>
            <a:chExt cx="243840" cy="268224"/>
          </a:xfrm>
        </p:grpSpPr>
        <p:sp>
          <p:nvSpPr>
            <p:cNvPr name="Freeform 172" id="172"/>
            <p:cNvSpPr/>
            <p:nvPr/>
          </p:nvSpPr>
          <p:spPr>
            <a:xfrm flipH="false" flipV="false" rot="0">
              <a:off x="0" y="0"/>
              <a:ext cx="243840" cy="268224"/>
            </a:xfrm>
            <a:custGeom>
              <a:avLst/>
              <a:gdLst/>
              <a:ahLst/>
              <a:cxnLst/>
              <a:rect r="r" b="b" t="t" l="l"/>
              <a:pathLst>
                <a:path h="268224" w="243840">
                  <a:moveTo>
                    <a:pt x="0" y="67056"/>
                  </a:moveTo>
                  <a:lnTo>
                    <a:pt x="121920" y="67056"/>
                  </a:lnTo>
                  <a:lnTo>
                    <a:pt x="121920" y="0"/>
                  </a:lnTo>
                  <a:lnTo>
                    <a:pt x="243840" y="134112"/>
                  </a:lnTo>
                  <a:lnTo>
                    <a:pt x="121920" y="268224"/>
                  </a:lnTo>
                  <a:lnTo>
                    <a:pt x="121920" y="201168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C9A24A"/>
            </a:solidFill>
          </p:spPr>
        </p:sp>
      </p:grpSp>
      <p:grpSp>
        <p:nvGrpSpPr>
          <p:cNvPr name="Group 173" id="173"/>
          <p:cNvGrpSpPr/>
          <p:nvPr/>
        </p:nvGrpSpPr>
        <p:grpSpPr>
          <a:xfrm rot="0">
            <a:off x="9262110" y="8622030"/>
            <a:ext cx="769620" cy="769620"/>
            <a:chOff x="0" y="0"/>
            <a:chExt cx="1026160" cy="1026160"/>
          </a:xfrm>
        </p:grpSpPr>
        <p:sp>
          <p:nvSpPr>
            <p:cNvPr name="Freeform 174" id="174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75" id="175"/>
          <p:cNvGrpSpPr/>
          <p:nvPr/>
        </p:nvGrpSpPr>
        <p:grpSpPr>
          <a:xfrm rot="0">
            <a:off x="9456725" y="8816645"/>
            <a:ext cx="380390" cy="380390"/>
            <a:chOff x="0" y="0"/>
            <a:chExt cx="507187" cy="507187"/>
          </a:xfrm>
        </p:grpSpPr>
        <p:sp>
          <p:nvSpPr>
            <p:cNvPr name="Freeform 176" id="176" descr="FaClipboardCheck_y.png"/>
            <p:cNvSpPr/>
            <p:nvPr/>
          </p:nvSpPr>
          <p:spPr>
            <a:xfrm flipH="false" flipV="false" rot="0">
              <a:off x="0" y="0"/>
              <a:ext cx="507238" cy="507238"/>
            </a:xfrm>
            <a:custGeom>
              <a:avLst/>
              <a:gdLst/>
              <a:ahLst/>
              <a:cxnLst/>
              <a:rect r="r" b="b" t="t" l="l"/>
              <a:pathLst>
                <a:path h="507238" w="507238">
                  <a:moveTo>
                    <a:pt x="0" y="0"/>
                  </a:moveTo>
                  <a:lnTo>
                    <a:pt x="507238" y="0"/>
                  </a:lnTo>
                  <a:lnTo>
                    <a:pt x="507238" y="507238"/>
                  </a:lnTo>
                  <a:lnTo>
                    <a:pt x="0" y="5072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10" b="10"/>
              </a:stretch>
            </a:blipFill>
          </p:spPr>
        </p:sp>
      </p:grpSp>
      <p:grpSp>
        <p:nvGrpSpPr>
          <p:cNvPr name="Group 177" id="177"/>
          <p:cNvGrpSpPr/>
          <p:nvPr/>
        </p:nvGrpSpPr>
        <p:grpSpPr>
          <a:xfrm rot="0">
            <a:off x="10122408" y="8641080"/>
            <a:ext cx="1554480" cy="731520"/>
            <a:chOff x="0" y="0"/>
            <a:chExt cx="2072640" cy="975360"/>
          </a:xfrm>
        </p:grpSpPr>
        <p:sp>
          <p:nvSpPr>
            <p:cNvPr name="Freeform 178" id="178"/>
            <p:cNvSpPr/>
            <p:nvPr/>
          </p:nvSpPr>
          <p:spPr>
            <a:xfrm flipH="false" flipV="false" rot="0">
              <a:off x="0" y="0"/>
              <a:ext cx="2072640" cy="975360"/>
            </a:xfrm>
            <a:custGeom>
              <a:avLst/>
              <a:gdLst/>
              <a:ahLst/>
              <a:cxnLst/>
              <a:rect r="r" b="b" t="t" l="l"/>
              <a:pathLst>
                <a:path h="975360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0378" t="0" r="-10378" b="0"/>
              </a:stretch>
            </a:blipFill>
          </p:spPr>
        </p:sp>
        <p:sp>
          <p:nvSpPr>
            <p:cNvPr name="TextBox 179" id="179"/>
            <p:cNvSpPr txBox="true"/>
            <p:nvPr/>
          </p:nvSpPr>
          <p:spPr>
            <a:xfrm>
              <a:off x="0" y="-38100"/>
              <a:ext cx="207264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Commit Contract</a:t>
              </a:r>
            </a:p>
          </p:txBody>
        </p:sp>
      </p:grpSp>
      <p:grpSp>
        <p:nvGrpSpPr>
          <p:cNvPr name="Group 180" id="180"/>
          <p:cNvGrpSpPr/>
          <p:nvPr/>
        </p:nvGrpSpPr>
        <p:grpSpPr>
          <a:xfrm rot="0">
            <a:off x="11713464" y="8906256"/>
            <a:ext cx="182880" cy="201168"/>
            <a:chOff x="0" y="0"/>
            <a:chExt cx="243840" cy="268224"/>
          </a:xfrm>
        </p:grpSpPr>
        <p:sp>
          <p:nvSpPr>
            <p:cNvPr name="Freeform 181" id="181"/>
            <p:cNvSpPr/>
            <p:nvPr/>
          </p:nvSpPr>
          <p:spPr>
            <a:xfrm flipH="false" flipV="false" rot="0">
              <a:off x="0" y="0"/>
              <a:ext cx="243840" cy="268224"/>
            </a:xfrm>
            <a:custGeom>
              <a:avLst/>
              <a:gdLst/>
              <a:ahLst/>
              <a:cxnLst/>
              <a:rect r="r" b="b" t="t" l="l"/>
              <a:pathLst>
                <a:path h="268224" w="243840">
                  <a:moveTo>
                    <a:pt x="0" y="67056"/>
                  </a:moveTo>
                  <a:lnTo>
                    <a:pt x="121920" y="67056"/>
                  </a:lnTo>
                  <a:lnTo>
                    <a:pt x="121920" y="0"/>
                  </a:lnTo>
                  <a:lnTo>
                    <a:pt x="243840" y="134112"/>
                  </a:lnTo>
                  <a:lnTo>
                    <a:pt x="121920" y="268224"/>
                  </a:lnTo>
                  <a:lnTo>
                    <a:pt x="121920" y="201168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C9A24A"/>
            </a:solidFill>
          </p:spPr>
        </p:sp>
      </p:grpSp>
      <p:grpSp>
        <p:nvGrpSpPr>
          <p:cNvPr name="Group 182" id="182"/>
          <p:cNvGrpSpPr/>
          <p:nvPr/>
        </p:nvGrpSpPr>
        <p:grpSpPr>
          <a:xfrm rot="0">
            <a:off x="11959590" y="8622030"/>
            <a:ext cx="769620" cy="769620"/>
            <a:chOff x="0" y="0"/>
            <a:chExt cx="1026160" cy="1026160"/>
          </a:xfrm>
        </p:grpSpPr>
        <p:sp>
          <p:nvSpPr>
            <p:cNvPr name="Freeform 183" id="183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84" id="184"/>
          <p:cNvGrpSpPr/>
          <p:nvPr/>
        </p:nvGrpSpPr>
        <p:grpSpPr>
          <a:xfrm rot="0">
            <a:off x="12154205" y="8816645"/>
            <a:ext cx="380390" cy="380390"/>
            <a:chOff x="0" y="0"/>
            <a:chExt cx="507187" cy="507187"/>
          </a:xfrm>
        </p:grpSpPr>
        <p:sp>
          <p:nvSpPr>
            <p:cNvPr name="Freeform 185" id="185" descr="FaCodeBranch_y.png"/>
            <p:cNvSpPr/>
            <p:nvPr/>
          </p:nvSpPr>
          <p:spPr>
            <a:xfrm flipH="false" flipV="false" rot="0">
              <a:off x="0" y="0"/>
              <a:ext cx="507238" cy="507238"/>
            </a:xfrm>
            <a:custGeom>
              <a:avLst/>
              <a:gdLst/>
              <a:ahLst/>
              <a:cxnLst/>
              <a:rect r="r" b="b" t="t" l="l"/>
              <a:pathLst>
                <a:path h="507238" w="507238">
                  <a:moveTo>
                    <a:pt x="0" y="0"/>
                  </a:moveTo>
                  <a:lnTo>
                    <a:pt x="507238" y="0"/>
                  </a:lnTo>
                  <a:lnTo>
                    <a:pt x="507238" y="507238"/>
                  </a:lnTo>
                  <a:lnTo>
                    <a:pt x="0" y="5072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10" b="10"/>
              </a:stretch>
            </a:blipFill>
          </p:spPr>
        </p:sp>
      </p:grpSp>
      <p:grpSp>
        <p:nvGrpSpPr>
          <p:cNvPr name="Group 186" id="186"/>
          <p:cNvGrpSpPr/>
          <p:nvPr/>
        </p:nvGrpSpPr>
        <p:grpSpPr>
          <a:xfrm rot="0">
            <a:off x="12819888" y="8641080"/>
            <a:ext cx="1554480" cy="731520"/>
            <a:chOff x="0" y="0"/>
            <a:chExt cx="2072640" cy="975360"/>
          </a:xfrm>
        </p:grpSpPr>
        <p:sp>
          <p:nvSpPr>
            <p:cNvPr name="Freeform 187" id="187"/>
            <p:cNvSpPr/>
            <p:nvPr/>
          </p:nvSpPr>
          <p:spPr>
            <a:xfrm flipH="false" flipV="false" rot="0">
              <a:off x="0" y="0"/>
              <a:ext cx="2072640" cy="975360"/>
            </a:xfrm>
            <a:custGeom>
              <a:avLst/>
              <a:gdLst/>
              <a:ahLst/>
              <a:cxnLst/>
              <a:rect r="r" b="b" t="t" l="l"/>
              <a:pathLst>
                <a:path h="975360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0378" t="0" r="-10378" b="0"/>
              </a:stretch>
            </a:blipFill>
          </p:spPr>
        </p:sp>
        <p:sp>
          <p:nvSpPr>
            <p:cNvPr name="TextBox 188" id="188"/>
            <p:cNvSpPr txBox="true"/>
            <p:nvPr/>
          </p:nvSpPr>
          <p:spPr>
            <a:xfrm>
              <a:off x="0" y="-38100"/>
              <a:ext cx="207264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Actual commit</a:t>
              </a:r>
            </a:p>
          </p:txBody>
        </p:sp>
      </p:grpSp>
      <p:grpSp>
        <p:nvGrpSpPr>
          <p:cNvPr name="Group 189" id="189"/>
          <p:cNvGrpSpPr/>
          <p:nvPr/>
        </p:nvGrpSpPr>
        <p:grpSpPr>
          <a:xfrm rot="0">
            <a:off x="14410944" y="8906256"/>
            <a:ext cx="182880" cy="201168"/>
            <a:chOff x="0" y="0"/>
            <a:chExt cx="243840" cy="268224"/>
          </a:xfrm>
        </p:grpSpPr>
        <p:sp>
          <p:nvSpPr>
            <p:cNvPr name="Freeform 190" id="190"/>
            <p:cNvSpPr/>
            <p:nvPr/>
          </p:nvSpPr>
          <p:spPr>
            <a:xfrm flipH="false" flipV="false" rot="0">
              <a:off x="0" y="0"/>
              <a:ext cx="243840" cy="268224"/>
            </a:xfrm>
            <a:custGeom>
              <a:avLst/>
              <a:gdLst/>
              <a:ahLst/>
              <a:cxnLst/>
              <a:rect r="r" b="b" t="t" l="l"/>
              <a:pathLst>
                <a:path h="268224" w="243840">
                  <a:moveTo>
                    <a:pt x="0" y="67056"/>
                  </a:moveTo>
                  <a:lnTo>
                    <a:pt x="121920" y="67056"/>
                  </a:lnTo>
                  <a:lnTo>
                    <a:pt x="121920" y="0"/>
                  </a:lnTo>
                  <a:lnTo>
                    <a:pt x="243840" y="134112"/>
                  </a:lnTo>
                  <a:lnTo>
                    <a:pt x="121920" y="268224"/>
                  </a:lnTo>
                  <a:lnTo>
                    <a:pt x="121920" y="201168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C9A24A"/>
            </a:solidFill>
          </p:spPr>
        </p:sp>
      </p:grpSp>
      <p:grpSp>
        <p:nvGrpSpPr>
          <p:cNvPr name="Group 191" id="191"/>
          <p:cNvGrpSpPr/>
          <p:nvPr/>
        </p:nvGrpSpPr>
        <p:grpSpPr>
          <a:xfrm rot="0">
            <a:off x="14657070" y="8622030"/>
            <a:ext cx="769620" cy="769620"/>
            <a:chOff x="0" y="0"/>
            <a:chExt cx="1026160" cy="1026160"/>
          </a:xfrm>
        </p:grpSpPr>
        <p:sp>
          <p:nvSpPr>
            <p:cNvPr name="Freeform 192" id="192"/>
            <p:cNvSpPr/>
            <p:nvPr/>
          </p:nvSpPr>
          <p:spPr>
            <a:xfrm flipH="false" flipV="false" rot="0">
              <a:off x="0" y="0"/>
              <a:ext cx="1026160" cy="1026160"/>
            </a:xfrm>
            <a:custGeom>
              <a:avLst/>
              <a:gdLst/>
              <a:ahLst/>
              <a:cxnLst/>
              <a:rect r="r" b="b" t="t" l="l"/>
              <a:pathLst>
                <a:path h="1026160" w="1026160">
                  <a:moveTo>
                    <a:pt x="0" y="513080"/>
                  </a:moveTo>
                  <a:cubicBezTo>
                    <a:pt x="0" y="229743"/>
                    <a:pt x="229743" y="0"/>
                    <a:pt x="513080" y="0"/>
                  </a:cubicBezTo>
                  <a:cubicBezTo>
                    <a:pt x="796417" y="0"/>
                    <a:pt x="1026160" y="229743"/>
                    <a:pt x="1026160" y="513080"/>
                  </a:cubicBezTo>
                  <a:cubicBezTo>
                    <a:pt x="1026160" y="796417"/>
                    <a:pt x="796417" y="1026160"/>
                    <a:pt x="513080" y="1026160"/>
                  </a:cubicBezTo>
                  <a:cubicBezTo>
                    <a:pt x="229743" y="1026160"/>
                    <a:pt x="0" y="796417"/>
                    <a:pt x="0" y="51308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93" id="193"/>
          <p:cNvGrpSpPr/>
          <p:nvPr/>
        </p:nvGrpSpPr>
        <p:grpSpPr>
          <a:xfrm rot="0">
            <a:off x="14851685" y="8816645"/>
            <a:ext cx="380390" cy="380390"/>
            <a:chOff x="0" y="0"/>
            <a:chExt cx="507187" cy="507187"/>
          </a:xfrm>
        </p:grpSpPr>
        <p:sp>
          <p:nvSpPr>
            <p:cNvPr name="Freeform 194" id="194" descr="FaSyncAlt_y.png"/>
            <p:cNvSpPr/>
            <p:nvPr/>
          </p:nvSpPr>
          <p:spPr>
            <a:xfrm flipH="false" flipV="false" rot="0">
              <a:off x="0" y="0"/>
              <a:ext cx="507238" cy="507238"/>
            </a:xfrm>
            <a:custGeom>
              <a:avLst/>
              <a:gdLst/>
              <a:ahLst/>
              <a:cxnLst/>
              <a:rect r="r" b="b" t="t" l="l"/>
              <a:pathLst>
                <a:path h="507238" w="507238">
                  <a:moveTo>
                    <a:pt x="0" y="0"/>
                  </a:moveTo>
                  <a:lnTo>
                    <a:pt x="507238" y="0"/>
                  </a:lnTo>
                  <a:lnTo>
                    <a:pt x="507238" y="507238"/>
                  </a:lnTo>
                  <a:lnTo>
                    <a:pt x="0" y="5072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10" b="10"/>
              </a:stretch>
            </a:blipFill>
          </p:spPr>
        </p:sp>
      </p:grpSp>
      <p:grpSp>
        <p:nvGrpSpPr>
          <p:cNvPr name="Group 195" id="195"/>
          <p:cNvGrpSpPr/>
          <p:nvPr/>
        </p:nvGrpSpPr>
        <p:grpSpPr>
          <a:xfrm rot="0">
            <a:off x="15517368" y="8641080"/>
            <a:ext cx="1554480" cy="731520"/>
            <a:chOff x="0" y="0"/>
            <a:chExt cx="2072640" cy="975360"/>
          </a:xfrm>
        </p:grpSpPr>
        <p:sp>
          <p:nvSpPr>
            <p:cNvPr name="Freeform 196" id="196"/>
            <p:cNvSpPr/>
            <p:nvPr/>
          </p:nvSpPr>
          <p:spPr>
            <a:xfrm flipH="false" flipV="false" rot="0">
              <a:off x="0" y="0"/>
              <a:ext cx="2072640" cy="975360"/>
            </a:xfrm>
            <a:custGeom>
              <a:avLst/>
              <a:gdLst/>
              <a:ahLst/>
              <a:cxnLst/>
              <a:rect r="r" b="b" t="t" l="l"/>
              <a:pathLst>
                <a:path h="975360" w="2072640">
                  <a:moveTo>
                    <a:pt x="0" y="0"/>
                  </a:moveTo>
                  <a:lnTo>
                    <a:pt x="2072640" y="0"/>
                  </a:lnTo>
                  <a:lnTo>
                    <a:pt x="2072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10378" t="0" r="-10378" b="0"/>
              </a:stretch>
            </a:blipFill>
          </p:spPr>
        </p:sp>
        <p:sp>
          <p:nvSpPr>
            <p:cNvPr name="TextBox 197" id="197"/>
            <p:cNvSpPr txBox="true"/>
            <p:nvPr/>
          </p:nvSpPr>
          <p:spPr>
            <a:xfrm>
              <a:off x="0" y="-38100"/>
              <a:ext cx="207264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Auto-reassess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0768" y="0"/>
            <a:ext cx="18237832" cy="10287000"/>
            <a:chOff x="0" y="0"/>
            <a:chExt cx="24317109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1631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16310">
                  <a:moveTo>
                    <a:pt x="0" y="13716000"/>
                  </a:moveTo>
                  <a:lnTo>
                    <a:pt x="24316310" y="13716000"/>
                  </a:lnTo>
                  <a:lnTo>
                    <a:pt x="24316310" y="0"/>
                  </a:lnTo>
                  <a:lnTo>
                    <a:pt x="0" y="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4DFC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10" cy="10287000"/>
            <a:chOff x="0" y="0"/>
            <a:chExt cx="24384013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874482"/>
            <a:ext cx="18288000" cy="412747"/>
            <a:chOff x="0" y="0"/>
            <a:chExt cx="24384000" cy="5503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3364" cy="550037"/>
            </a:xfrm>
            <a:custGeom>
              <a:avLst/>
              <a:gdLst/>
              <a:ahLst/>
              <a:cxnLst/>
              <a:rect r="r" b="b" t="t" l="l"/>
              <a:pathLst>
                <a:path h="550037" w="24383364">
                  <a:moveTo>
                    <a:pt x="24383364" y="0"/>
                  </a:moveTo>
                  <a:lnTo>
                    <a:pt x="24383364" y="550037"/>
                  </a:lnTo>
                  <a:lnTo>
                    <a:pt x="0" y="550037"/>
                  </a:lnTo>
                  <a:lnTo>
                    <a:pt x="0" y="0"/>
                  </a:lnTo>
                  <a:lnTo>
                    <a:pt x="24383364" y="0"/>
                  </a:lnTo>
                  <a:close/>
                </a:path>
              </a:pathLst>
            </a:custGeom>
            <a:solidFill>
              <a:srgbClr val="371704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0"/>
            <a:ext cx="18288000" cy="9874482"/>
            <a:chOff x="0" y="0"/>
            <a:chExt cx="24384000" cy="131659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3165962"/>
            </a:xfrm>
            <a:custGeom>
              <a:avLst/>
              <a:gdLst/>
              <a:ahLst/>
              <a:cxnLst/>
              <a:rect r="r" b="b" t="t" l="l"/>
              <a:pathLst>
                <a:path h="13165962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165962"/>
                  </a:lnTo>
                  <a:lnTo>
                    <a:pt x="0" y="131659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67" r="0" b="-6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0" y="0"/>
            <a:ext cx="18288000" cy="1524724"/>
            <a:chOff x="0" y="0"/>
            <a:chExt cx="24384000" cy="203296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2033016"/>
            </a:xfrm>
            <a:custGeom>
              <a:avLst/>
              <a:gdLst/>
              <a:ahLst/>
              <a:cxnLst/>
              <a:rect r="r" b="b" t="t" l="l"/>
              <a:pathLst>
                <a:path h="203301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033016"/>
                  </a:lnTo>
                  <a:lnTo>
                    <a:pt x="0" y="2033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3" t="0" r="-23" b="2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508006" y="9678591"/>
            <a:ext cx="1274493" cy="388620"/>
            <a:chOff x="0" y="0"/>
            <a:chExt cx="1699324" cy="51816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99260" cy="518160"/>
            </a:xfrm>
            <a:custGeom>
              <a:avLst/>
              <a:gdLst/>
              <a:ahLst/>
              <a:cxnLst/>
              <a:rect r="r" b="b" t="t" l="l"/>
              <a:pathLst>
                <a:path h="518160" w="1699260">
                  <a:moveTo>
                    <a:pt x="0" y="0"/>
                  </a:moveTo>
                  <a:lnTo>
                    <a:pt x="1699260" y="0"/>
                  </a:lnTo>
                  <a:lnTo>
                    <a:pt x="1699260" y="518160"/>
                  </a:lnTo>
                  <a:lnTo>
                    <a:pt x="0" y="518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71" r="-3" b="-17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081512" y="123330"/>
            <a:ext cx="3648056" cy="1219200"/>
            <a:chOff x="0" y="0"/>
            <a:chExt cx="4864075" cy="1625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8641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4864100">
                  <a:moveTo>
                    <a:pt x="0" y="0"/>
                  </a:moveTo>
                  <a:lnTo>
                    <a:pt x="4864100" y="0"/>
                  </a:lnTo>
                  <a:lnTo>
                    <a:pt x="48641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59" r="0" b="-258"/>
              </a:stretch>
            </a:blipFill>
          </p:spPr>
        </p:sp>
      </p:grpSp>
      <p:sp>
        <p:nvSpPr>
          <p:cNvPr name="TextBox 16" id="16" descr="$PPTXTitle"/>
          <p:cNvSpPr txBox="true"/>
          <p:nvPr/>
        </p:nvSpPr>
        <p:spPr>
          <a:xfrm rot="0">
            <a:off x="5243903" y="445008"/>
            <a:ext cx="6627019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517">
                <a:solidFill>
                  <a:srgbClr val="FFFF00"/>
                </a:solidFill>
                <a:latin typeface="Doulos"/>
                <a:ea typeface="Doulos"/>
                <a:cs typeface="Doulos"/>
                <a:sym typeface="Doulos"/>
              </a:rPr>
              <a:t>TECHNICAL APPROACH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8445" y="9992135"/>
            <a:ext cx="1284608" cy="22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599" spc="14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PROOFSTACK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345244" y="9967484"/>
            <a:ext cx="396240" cy="288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b="true" sz="2150" spc="34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822960" y="1664208"/>
            <a:ext cx="16642080" cy="868680"/>
            <a:chOff x="0" y="0"/>
            <a:chExt cx="22189440" cy="11582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89439" cy="1158240"/>
            </a:xfrm>
            <a:custGeom>
              <a:avLst/>
              <a:gdLst/>
              <a:ahLst/>
              <a:cxnLst/>
              <a:rect r="r" b="b" t="t" l="l"/>
              <a:pathLst>
                <a:path h="115824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23292" r="0" b="-32329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22189440" cy="1158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spc="-33">
                  <a:solidFill>
                    <a:srgbClr val="732017"/>
                  </a:solidFill>
                  <a:latin typeface="Doulos"/>
                  <a:ea typeface="Doulos"/>
                  <a:cs typeface="Doulos"/>
                  <a:sym typeface="Doulos"/>
                </a:rPr>
                <a:t>Rules decide. The LLM only confirms.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822960" y="2395728"/>
            <a:ext cx="16642080" cy="457200"/>
            <a:chOff x="0" y="0"/>
            <a:chExt cx="22189440" cy="609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2189439" cy="609600"/>
            </a:xfrm>
            <a:custGeom>
              <a:avLst/>
              <a:gdLst/>
              <a:ahLst/>
              <a:cxnLst/>
              <a:rect r="r" b="b" t="t" l="l"/>
              <a:pathLst>
                <a:path h="60960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59255" r="0" b="-65925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22189440" cy="657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i="true">
                  <a:solidFill>
                    <a:srgbClr val="6B4A32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Every status is computed by rules. The LLM can only confirm or reject a candidate.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810263" y="2959103"/>
            <a:ext cx="2585723" cy="683771"/>
            <a:chOff x="0" y="0"/>
            <a:chExt cx="3447631" cy="91169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47669" cy="911733"/>
            </a:xfrm>
            <a:custGeom>
              <a:avLst/>
              <a:gdLst/>
              <a:ahLst/>
              <a:cxnLst/>
              <a:rect r="r" b="b" t="t" l="l"/>
              <a:pathLst>
                <a:path h="911733" w="3447669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lnTo>
                    <a:pt x="3257677" y="0"/>
                  </a:lnTo>
                  <a:cubicBezTo>
                    <a:pt x="3362579" y="0"/>
                    <a:pt x="3447669" y="85090"/>
                    <a:pt x="3447669" y="189992"/>
                  </a:cubicBezTo>
                  <a:lnTo>
                    <a:pt x="3447669" y="721741"/>
                  </a:lnTo>
                  <a:cubicBezTo>
                    <a:pt x="3447669" y="826643"/>
                    <a:pt x="3362579" y="911733"/>
                    <a:pt x="3257677" y="911733"/>
                  </a:cubicBezTo>
                  <a:lnTo>
                    <a:pt x="189992" y="911733"/>
                  </a:lnTo>
                  <a:cubicBezTo>
                    <a:pt x="85090" y="911733"/>
                    <a:pt x="0" y="826643"/>
                    <a:pt x="0" y="721741"/>
                  </a:cubicBezTo>
                  <a:close/>
                </a:path>
              </a:pathLst>
            </a:custGeom>
            <a:solidFill>
              <a:srgbClr val="FFF9F0"/>
            </a:solidFill>
            <a:ln w="25400" cap="sq">
              <a:solidFill>
                <a:srgbClr val="37170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005840" y="3081528"/>
            <a:ext cx="438912" cy="438912"/>
            <a:chOff x="0" y="0"/>
            <a:chExt cx="585216" cy="585216"/>
          </a:xfrm>
        </p:grpSpPr>
        <p:sp>
          <p:nvSpPr>
            <p:cNvPr name="Freeform 28" id="28" descr="FaFileAlt_m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600200" y="2971800"/>
            <a:ext cx="1737360" cy="658368"/>
            <a:chOff x="0" y="0"/>
            <a:chExt cx="2316480" cy="87782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316480" cy="877824"/>
            </a:xfrm>
            <a:custGeom>
              <a:avLst/>
              <a:gdLst/>
              <a:ahLst/>
              <a:cxnLst/>
              <a:rect r="r" b="b" t="t" l="l"/>
              <a:pathLst>
                <a:path h="877824" w="2316480">
                  <a:moveTo>
                    <a:pt x="0" y="0"/>
                  </a:moveTo>
                  <a:lnTo>
                    <a:pt x="2316480" y="0"/>
                  </a:lnTo>
                  <a:lnTo>
                    <a:pt x="23164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418" r="0" b="-1418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2316480" cy="91592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Job posting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920240" y="3648456"/>
            <a:ext cx="365760" cy="182880"/>
            <a:chOff x="0" y="0"/>
            <a:chExt cx="487680" cy="2438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87680" cy="243840"/>
            </a:xfrm>
            <a:custGeom>
              <a:avLst/>
              <a:gdLst/>
              <a:ahLst/>
              <a:cxnLst/>
              <a:rect r="r" b="b" t="t" l="l"/>
              <a:pathLst>
                <a:path h="243840" w="487680">
                  <a:moveTo>
                    <a:pt x="0" y="121920"/>
                  </a:moveTo>
                  <a:lnTo>
                    <a:pt x="121920" y="121920"/>
                  </a:lnTo>
                  <a:lnTo>
                    <a:pt x="121920" y="0"/>
                  </a:lnTo>
                  <a:lnTo>
                    <a:pt x="365760" y="0"/>
                  </a:lnTo>
                  <a:lnTo>
                    <a:pt x="365760" y="121920"/>
                  </a:lnTo>
                  <a:lnTo>
                    <a:pt x="487680" y="121920"/>
                  </a:lnTo>
                  <a:lnTo>
                    <a:pt x="243840" y="24384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3626615" y="2959103"/>
            <a:ext cx="2585723" cy="683771"/>
            <a:chOff x="0" y="0"/>
            <a:chExt cx="3447631" cy="911695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447669" cy="911733"/>
            </a:xfrm>
            <a:custGeom>
              <a:avLst/>
              <a:gdLst/>
              <a:ahLst/>
              <a:cxnLst/>
              <a:rect r="r" b="b" t="t" l="l"/>
              <a:pathLst>
                <a:path h="911733" w="3447669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lnTo>
                    <a:pt x="3257677" y="0"/>
                  </a:lnTo>
                  <a:cubicBezTo>
                    <a:pt x="3362579" y="0"/>
                    <a:pt x="3447669" y="85090"/>
                    <a:pt x="3447669" y="189992"/>
                  </a:cubicBezTo>
                  <a:lnTo>
                    <a:pt x="3447669" y="721741"/>
                  </a:lnTo>
                  <a:cubicBezTo>
                    <a:pt x="3447669" y="826643"/>
                    <a:pt x="3362579" y="911733"/>
                    <a:pt x="3257677" y="911733"/>
                  </a:cubicBezTo>
                  <a:lnTo>
                    <a:pt x="189992" y="911733"/>
                  </a:lnTo>
                  <a:cubicBezTo>
                    <a:pt x="85090" y="911733"/>
                    <a:pt x="0" y="826643"/>
                    <a:pt x="0" y="721741"/>
                  </a:cubicBezTo>
                  <a:close/>
                </a:path>
              </a:pathLst>
            </a:custGeom>
            <a:solidFill>
              <a:srgbClr val="FFF9F0"/>
            </a:solidFill>
            <a:ln w="25400" cap="sq">
              <a:solidFill>
                <a:srgbClr val="371704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3822192" y="3081528"/>
            <a:ext cx="438912" cy="438912"/>
            <a:chOff x="0" y="0"/>
            <a:chExt cx="585216" cy="585216"/>
          </a:xfrm>
        </p:grpSpPr>
        <p:sp>
          <p:nvSpPr>
            <p:cNvPr name="Freeform 37" id="37" descr="FaGithub_m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4416552" y="2971800"/>
            <a:ext cx="1737360" cy="658368"/>
            <a:chOff x="0" y="0"/>
            <a:chExt cx="2316480" cy="87782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316480" cy="877824"/>
            </a:xfrm>
            <a:custGeom>
              <a:avLst/>
              <a:gdLst/>
              <a:ahLst/>
              <a:cxnLst/>
              <a:rect r="r" b="b" t="t" l="l"/>
              <a:pathLst>
                <a:path h="877824" w="2316480">
                  <a:moveTo>
                    <a:pt x="0" y="0"/>
                  </a:moveTo>
                  <a:lnTo>
                    <a:pt x="2316480" y="0"/>
                  </a:lnTo>
                  <a:lnTo>
                    <a:pt x="23164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418" r="0" b="-1418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2316480" cy="91592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push / poll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4736592" y="3648456"/>
            <a:ext cx="365760" cy="182880"/>
            <a:chOff x="0" y="0"/>
            <a:chExt cx="487680" cy="2438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87680" cy="243840"/>
            </a:xfrm>
            <a:custGeom>
              <a:avLst/>
              <a:gdLst/>
              <a:ahLst/>
              <a:cxnLst/>
              <a:rect r="r" b="b" t="t" l="l"/>
              <a:pathLst>
                <a:path h="243840" w="487680">
                  <a:moveTo>
                    <a:pt x="0" y="121920"/>
                  </a:moveTo>
                  <a:lnTo>
                    <a:pt x="121920" y="121920"/>
                  </a:lnTo>
                  <a:lnTo>
                    <a:pt x="121920" y="0"/>
                  </a:lnTo>
                  <a:lnTo>
                    <a:pt x="365760" y="0"/>
                  </a:lnTo>
                  <a:lnTo>
                    <a:pt x="365760" y="121920"/>
                  </a:lnTo>
                  <a:lnTo>
                    <a:pt x="487680" y="121920"/>
                  </a:lnTo>
                  <a:lnTo>
                    <a:pt x="243840" y="24384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6583680" y="2971800"/>
            <a:ext cx="2194560" cy="658368"/>
            <a:chOff x="0" y="0"/>
            <a:chExt cx="2926080" cy="87782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926080" cy="877824"/>
            </a:xfrm>
            <a:custGeom>
              <a:avLst/>
              <a:gdLst/>
              <a:ahLst/>
              <a:cxnLst/>
              <a:rect r="r" b="b" t="t" l="l"/>
              <a:pathLst>
                <a:path h="877824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926080" cy="91592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73201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SECURE BY DESIGN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8853802" y="3029074"/>
            <a:ext cx="2249167" cy="543811"/>
            <a:chOff x="0" y="0"/>
            <a:chExt cx="2998889" cy="72508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998978" cy="725170"/>
            </a:xfrm>
            <a:custGeom>
              <a:avLst/>
              <a:gdLst/>
              <a:ahLst/>
              <a:cxnLst/>
              <a:rect r="r" b="b" t="t" l="l"/>
              <a:pathLst>
                <a:path h="725170" w="2998978">
                  <a:moveTo>
                    <a:pt x="0" y="362585"/>
                  </a:moveTo>
                  <a:cubicBezTo>
                    <a:pt x="0" y="162306"/>
                    <a:pt x="162306" y="0"/>
                    <a:pt x="362585" y="0"/>
                  </a:cubicBezTo>
                  <a:lnTo>
                    <a:pt x="2636393" y="0"/>
                  </a:lnTo>
                  <a:cubicBezTo>
                    <a:pt x="2836672" y="0"/>
                    <a:pt x="2998978" y="162306"/>
                    <a:pt x="2998978" y="362585"/>
                  </a:cubicBezTo>
                  <a:cubicBezTo>
                    <a:pt x="2998978" y="562864"/>
                    <a:pt x="2836672" y="725170"/>
                    <a:pt x="2636393" y="725170"/>
                  </a:cubicBezTo>
                  <a:lnTo>
                    <a:pt x="362585" y="725170"/>
                  </a:lnTo>
                  <a:cubicBezTo>
                    <a:pt x="162306" y="725043"/>
                    <a:pt x="0" y="562737"/>
                    <a:pt x="0" y="362585"/>
                  </a:cubicBezTo>
                  <a:close/>
                </a:path>
              </a:pathLst>
            </a:custGeom>
            <a:solidFill>
              <a:srgbClr val="371704"/>
            </a:solidFill>
            <a:ln w="31750" cap="sq">
              <a:solidFill>
                <a:srgbClr val="C9A24A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28575"/>
              <a:ext cx="2998889" cy="7536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19"/>
                </a:lnSpc>
              </a:pPr>
              <a:r>
                <a:rPr lang="en-US" sz="15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Read-only agent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1235814" y="3029074"/>
            <a:ext cx="2249167" cy="543811"/>
            <a:chOff x="0" y="0"/>
            <a:chExt cx="2998889" cy="72508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998978" cy="725170"/>
            </a:xfrm>
            <a:custGeom>
              <a:avLst/>
              <a:gdLst/>
              <a:ahLst/>
              <a:cxnLst/>
              <a:rect r="r" b="b" t="t" l="l"/>
              <a:pathLst>
                <a:path h="725170" w="2998978">
                  <a:moveTo>
                    <a:pt x="0" y="362585"/>
                  </a:moveTo>
                  <a:cubicBezTo>
                    <a:pt x="0" y="162306"/>
                    <a:pt x="162306" y="0"/>
                    <a:pt x="362585" y="0"/>
                  </a:cubicBezTo>
                  <a:lnTo>
                    <a:pt x="2636393" y="0"/>
                  </a:lnTo>
                  <a:cubicBezTo>
                    <a:pt x="2836672" y="0"/>
                    <a:pt x="2998978" y="162306"/>
                    <a:pt x="2998978" y="362585"/>
                  </a:cubicBezTo>
                  <a:cubicBezTo>
                    <a:pt x="2998978" y="562864"/>
                    <a:pt x="2836672" y="725170"/>
                    <a:pt x="2636393" y="725170"/>
                  </a:cubicBezTo>
                  <a:lnTo>
                    <a:pt x="362585" y="725170"/>
                  </a:lnTo>
                  <a:cubicBezTo>
                    <a:pt x="162306" y="725043"/>
                    <a:pt x="0" y="562737"/>
                    <a:pt x="0" y="362585"/>
                  </a:cubicBezTo>
                  <a:close/>
                </a:path>
              </a:pathLst>
            </a:custGeom>
            <a:solidFill>
              <a:srgbClr val="371704"/>
            </a:solidFill>
            <a:ln w="31750" cap="sq">
              <a:solidFill>
                <a:srgbClr val="C9A24A"/>
              </a:solidFill>
              <a:prstDash val="solid"/>
              <a:miter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2998889" cy="7536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19"/>
                </a:lnSpc>
              </a:pPr>
              <a:r>
                <a:rPr lang="en-US" sz="15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Signed webhooks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3617826" y="3029074"/>
            <a:ext cx="2249167" cy="543811"/>
            <a:chOff x="0" y="0"/>
            <a:chExt cx="2998889" cy="725081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998978" cy="725170"/>
            </a:xfrm>
            <a:custGeom>
              <a:avLst/>
              <a:gdLst/>
              <a:ahLst/>
              <a:cxnLst/>
              <a:rect r="r" b="b" t="t" l="l"/>
              <a:pathLst>
                <a:path h="725170" w="2998978">
                  <a:moveTo>
                    <a:pt x="0" y="362585"/>
                  </a:moveTo>
                  <a:cubicBezTo>
                    <a:pt x="0" y="162306"/>
                    <a:pt x="162306" y="0"/>
                    <a:pt x="362585" y="0"/>
                  </a:cubicBezTo>
                  <a:lnTo>
                    <a:pt x="2636393" y="0"/>
                  </a:lnTo>
                  <a:cubicBezTo>
                    <a:pt x="2836672" y="0"/>
                    <a:pt x="2998978" y="162306"/>
                    <a:pt x="2998978" y="362585"/>
                  </a:cubicBezTo>
                  <a:cubicBezTo>
                    <a:pt x="2998978" y="562864"/>
                    <a:pt x="2836672" y="725170"/>
                    <a:pt x="2636393" y="725170"/>
                  </a:cubicBezTo>
                  <a:lnTo>
                    <a:pt x="362585" y="725170"/>
                  </a:lnTo>
                  <a:cubicBezTo>
                    <a:pt x="162306" y="725043"/>
                    <a:pt x="0" y="562737"/>
                    <a:pt x="0" y="362585"/>
                  </a:cubicBezTo>
                  <a:close/>
                </a:path>
              </a:pathLst>
            </a:custGeom>
            <a:solidFill>
              <a:srgbClr val="371704"/>
            </a:solidFill>
            <a:ln w="31750" cap="sq">
              <a:solidFill>
                <a:srgbClr val="C9A24A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2998889" cy="7536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19"/>
                </a:lnSpc>
              </a:pPr>
              <a:r>
                <a:rPr lang="en-US" sz="15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SSRF-safe fetch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810263" y="3827783"/>
            <a:ext cx="2585723" cy="2265683"/>
            <a:chOff x="0" y="0"/>
            <a:chExt cx="3447631" cy="3020911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447542" cy="3020822"/>
            </a:xfrm>
            <a:custGeom>
              <a:avLst/>
              <a:gdLst/>
              <a:ahLst/>
              <a:cxnLst/>
              <a:rect r="r" b="b" t="t" l="l"/>
              <a:pathLst>
                <a:path h="3020822" w="3447542">
                  <a:moveTo>
                    <a:pt x="0" y="184912"/>
                  </a:moveTo>
                  <a:cubicBezTo>
                    <a:pt x="0" y="82804"/>
                    <a:pt x="82804" y="0"/>
                    <a:pt x="184912" y="0"/>
                  </a:cubicBezTo>
                  <a:lnTo>
                    <a:pt x="3262630" y="0"/>
                  </a:lnTo>
                  <a:cubicBezTo>
                    <a:pt x="3364738" y="0"/>
                    <a:pt x="3447542" y="82804"/>
                    <a:pt x="3447542" y="184912"/>
                  </a:cubicBezTo>
                  <a:lnTo>
                    <a:pt x="3447542" y="2835910"/>
                  </a:lnTo>
                  <a:cubicBezTo>
                    <a:pt x="3447542" y="2938018"/>
                    <a:pt x="3364738" y="3020822"/>
                    <a:pt x="3262630" y="3020822"/>
                  </a:cubicBezTo>
                  <a:lnTo>
                    <a:pt x="184912" y="3020822"/>
                  </a:lnTo>
                  <a:cubicBezTo>
                    <a:pt x="82804" y="3020949"/>
                    <a:pt x="0" y="2938145"/>
                    <a:pt x="0" y="283591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32010">
                    <a:alpha val="100000"/>
                  </a:srgbClr>
                </a:gs>
                <a:gs pos="100000">
                  <a:srgbClr val="24100A">
                    <a:alpha val="100000"/>
                  </a:srgbClr>
                </a:gs>
              </a:gsLst>
              <a:lin ang="16200000"/>
            </a:gradFill>
            <a:ln w="254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672590" y="4004310"/>
            <a:ext cx="861060" cy="861060"/>
            <a:chOff x="0" y="0"/>
            <a:chExt cx="1148080" cy="11480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1480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1148080">
                  <a:moveTo>
                    <a:pt x="0" y="574040"/>
                  </a:moveTo>
                  <a:cubicBezTo>
                    <a:pt x="0" y="257048"/>
                    <a:pt x="257048" y="0"/>
                    <a:pt x="574040" y="0"/>
                  </a:cubicBezTo>
                  <a:cubicBezTo>
                    <a:pt x="891032" y="0"/>
                    <a:pt x="1148080" y="257048"/>
                    <a:pt x="1148080" y="574040"/>
                  </a:cubicBezTo>
                  <a:cubicBezTo>
                    <a:pt x="1148080" y="891032"/>
                    <a:pt x="891032" y="1148080"/>
                    <a:pt x="574040" y="1148080"/>
                  </a:cubicBezTo>
                  <a:cubicBezTo>
                    <a:pt x="257048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897380" y="4229100"/>
            <a:ext cx="411480" cy="411480"/>
            <a:chOff x="0" y="0"/>
            <a:chExt cx="548640" cy="548640"/>
          </a:xfrm>
        </p:grpSpPr>
        <p:sp>
          <p:nvSpPr>
            <p:cNvPr name="Freeform 60" id="60" descr="FaFilter_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904875" y="3922395"/>
            <a:ext cx="403098" cy="403098"/>
            <a:chOff x="0" y="0"/>
            <a:chExt cx="537464" cy="53746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37464" cy="537464"/>
            </a:xfrm>
            <a:custGeom>
              <a:avLst/>
              <a:gdLst/>
              <a:ahLst/>
              <a:cxnLst/>
              <a:rect r="r" b="b" t="t" l="l"/>
              <a:pathLst>
                <a:path h="537464" w="537464">
                  <a:moveTo>
                    <a:pt x="0" y="268732"/>
                  </a:moveTo>
                  <a:cubicBezTo>
                    <a:pt x="0" y="120269"/>
                    <a:pt x="120269" y="0"/>
                    <a:pt x="268732" y="0"/>
                  </a:cubicBezTo>
                  <a:cubicBezTo>
                    <a:pt x="417195" y="0"/>
                    <a:pt x="537464" y="120269"/>
                    <a:pt x="537464" y="268732"/>
                  </a:cubicBezTo>
                  <a:cubicBezTo>
                    <a:pt x="537464" y="417195"/>
                    <a:pt x="417195" y="537464"/>
                    <a:pt x="268732" y="537464"/>
                  </a:cubicBezTo>
                  <a:cubicBezTo>
                    <a:pt x="120269" y="537464"/>
                    <a:pt x="0" y="417195"/>
                    <a:pt x="0" y="268732"/>
                  </a:cubicBezTo>
                  <a:close/>
                </a:path>
              </a:pathLst>
            </a:custGeom>
            <a:solidFill>
              <a:srgbClr val="FFD54A"/>
            </a:solidFill>
            <a:ln w="19050" cap="sq">
              <a:solidFill>
                <a:srgbClr val="371704"/>
              </a:solidFill>
              <a:prstDash val="solid"/>
              <a:miter/>
            </a:ln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537464" cy="5755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14400" y="4937760"/>
            <a:ext cx="2377440" cy="411480"/>
            <a:chOff x="0" y="0"/>
            <a:chExt cx="316992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169919" cy="548640"/>
            </a:xfrm>
            <a:custGeom>
              <a:avLst/>
              <a:gdLst/>
              <a:ahLst/>
              <a:cxnLst/>
              <a:rect r="r" b="b" t="t" l="l"/>
              <a:pathLst>
                <a:path h="548640" w="3169919">
                  <a:moveTo>
                    <a:pt x="0" y="0"/>
                  </a:moveTo>
                  <a:lnTo>
                    <a:pt x="3169919" y="0"/>
                  </a:lnTo>
                  <a:lnTo>
                    <a:pt x="316991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2580" r="0" b="-6258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47625"/>
              <a:ext cx="31699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Extractor</a:t>
              </a: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960120" y="5348097"/>
            <a:ext cx="2286000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E8CDA8"/>
                </a:solidFill>
                <a:latin typeface="Calibri (MS)"/>
                <a:ea typeface="Calibri (MS)"/>
                <a:cs typeface="Calibri (MS)"/>
                <a:sym typeface="Calibri (MS)"/>
              </a:rPr>
              <a:t>Verbatim source quotes. SSRF-safe fetch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3383280" y="4754880"/>
            <a:ext cx="256032" cy="320040"/>
            <a:chOff x="0" y="0"/>
            <a:chExt cx="341376" cy="4267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41376" cy="426720"/>
            </a:xfrm>
            <a:custGeom>
              <a:avLst/>
              <a:gdLst/>
              <a:ahLst/>
              <a:cxnLst/>
              <a:rect r="r" b="b" t="t" l="l"/>
              <a:pathLst>
                <a:path h="426720" w="341376">
                  <a:moveTo>
                    <a:pt x="0" y="106680"/>
                  </a:moveTo>
                  <a:lnTo>
                    <a:pt x="170688" y="106680"/>
                  </a:lnTo>
                  <a:lnTo>
                    <a:pt x="170688" y="0"/>
                  </a:lnTo>
                  <a:lnTo>
                    <a:pt x="341376" y="213360"/>
                  </a:lnTo>
                  <a:lnTo>
                    <a:pt x="170688" y="426720"/>
                  </a:lnTo>
                  <a:lnTo>
                    <a:pt x="170688" y="320040"/>
                  </a:lnTo>
                  <a:lnTo>
                    <a:pt x="0" y="32004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3626615" y="3827783"/>
            <a:ext cx="2585723" cy="2265683"/>
            <a:chOff x="0" y="0"/>
            <a:chExt cx="3447631" cy="3020911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447542" cy="3020822"/>
            </a:xfrm>
            <a:custGeom>
              <a:avLst/>
              <a:gdLst/>
              <a:ahLst/>
              <a:cxnLst/>
              <a:rect r="r" b="b" t="t" l="l"/>
              <a:pathLst>
                <a:path h="3020822" w="3447542">
                  <a:moveTo>
                    <a:pt x="0" y="184912"/>
                  </a:moveTo>
                  <a:cubicBezTo>
                    <a:pt x="0" y="82804"/>
                    <a:pt x="82804" y="0"/>
                    <a:pt x="184912" y="0"/>
                  </a:cubicBezTo>
                  <a:lnTo>
                    <a:pt x="3262630" y="0"/>
                  </a:lnTo>
                  <a:cubicBezTo>
                    <a:pt x="3364738" y="0"/>
                    <a:pt x="3447542" y="82804"/>
                    <a:pt x="3447542" y="184912"/>
                  </a:cubicBezTo>
                  <a:lnTo>
                    <a:pt x="3447542" y="2835910"/>
                  </a:lnTo>
                  <a:cubicBezTo>
                    <a:pt x="3447542" y="2938018"/>
                    <a:pt x="3364738" y="3020822"/>
                    <a:pt x="3262630" y="3020822"/>
                  </a:cubicBezTo>
                  <a:lnTo>
                    <a:pt x="184912" y="3020822"/>
                  </a:lnTo>
                  <a:cubicBezTo>
                    <a:pt x="82804" y="3020949"/>
                    <a:pt x="0" y="2938145"/>
                    <a:pt x="0" y="283591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32010">
                    <a:alpha val="100000"/>
                  </a:srgbClr>
                </a:gs>
                <a:gs pos="100000">
                  <a:srgbClr val="24100A">
                    <a:alpha val="100000"/>
                  </a:srgbClr>
                </a:gs>
              </a:gsLst>
              <a:lin ang="16200000"/>
            </a:gradFill>
            <a:ln w="254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4488942" y="4004310"/>
            <a:ext cx="861060" cy="861060"/>
            <a:chOff x="0" y="0"/>
            <a:chExt cx="1148080" cy="11480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1480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1148080">
                  <a:moveTo>
                    <a:pt x="0" y="574040"/>
                  </a:moveTo>
                  <a:cubicBezTo>
                    <a:pt x="0" y="257048"/>
                    <a:pt x="257048" y="0"/>
                    <a:pt x="574040" y="0"/>
                  </a:cubicBezTo>
                  <a:cubicBezTo>
                    <a:pt x="891032" y="0"/>
                    <a:pt x="1148080" y="257048"/>
                    <a:pt x="1148080" y="574040"/>
                  </a:cubicBezTo>
                  <a:cubicBezTo>
                    <a:pt x="1148080" y="891032"/>
                    <a:pt x="891032" y="1148080"/>
                    <a:pt x="574040" y="1148080"/>
                  </a:cubicBezTo>
                  <a:cubicBezTo>
                    <a:pt x="257048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4713732" y="4229100"/>
            <a:ext cx="411480" cy="411480"/>
            <a:chOff x="0" y="0"/>
            <a:chExt cx="548640" cy="548640"/>
          </a:xfrm>
        </p:grpSpPr>
        <p:sp>
          <p:nvSpPr>
            <p:cNvPr name="Freeform 75" id="75" descr="FaCogs_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3721227" y="3922395"/>
            <a:ext cx="403098" cy="403098"/>
            <a:chOff x="0" y="0"/>
            <a:chExt cx="537464" cy="537464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537464" cy="537464"/>
            </a:xfrm>
            <a:custGeom>
              <a:avLst/>
              <a:gdLst/>
              <a:ahLst/>
              <a:cxnLst/>
              <a:rect r="r" b="b" t="t" l="l"/>
              <a:pathLst>
                <a:path h="537464" w="537464">
                  <a:moveTo>
                    <a:pt x="0" y="268732"/>
                  </a:moveTo>
                  <a:cubicBezTo>
                    <a:pt x="0" y="120269"/>
                    <a:pt x="120269" y="0"/>
                    <a:pt x="268732" y="0"/>
                  </a:cubicBezTo>
                  <a:cubicBezTo>
                    <a:pt x="417195" y="0"/>
                    <a:pt x="537464" y="120269"/>
                    <a:pt x="537464" y="268732"/>
                  </a:cubicBezTo>
                  <a:cubicBezTo>
                    <a:pt x="537464" y="417195"/>
                    <a:pt x="417195" y="537464"/>
                    <a:pt x="268732" y="537464"/>
                  </a:cubicBezTo>
                  <a:cubicBezTo>
                    <a:pt x="120269" y="537464"/>
                    <a:pt x="0" y="417195"/>
                    <a:pt x="0" y="268732"/>
                  </a:cubicBezTo>
                  <a:close/>
                </a:path>
              </a:pathLst>
            </a:custGeom>
            <a:solidFill>
              <a:srgbClr val="FFD54A"/>
            </a:solidFill>
            <a:ln w="19050" cap="sq">
              <a:solidFill>
                <a:srgbClr val="371704"/>
              </a:solidFill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38100"/>
              <a:ext cx="537464" cy="5755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3730752" y="4937760"/>
            <a:ext cx="2377440" cy="411480"/>
            <a:chOff x="0" y="0"/>
            <a:chExt cx="316992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169919" cy="548640"/>
            </a:xfrm>
            <a:custGeom>
              <a:avLst/>
              <a:gdLst/>
              <a:ahLst/>
              <a:cxnLst/>
              <a:rect r="r" b="b" t="t" l="l"/>
              <a:pathLst>
                <a:path h="548640" w="3169919">
                  <a:moveTo>
                    <a:pt x="0" y="0"/>
                  </a:moveTo>
                  <a:lnTo>
                    <a:pt x="3169919" y="0"/>
                  </a:lnTo>
                  <a:lnTo>
                    <a:pt x="316991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2580" r="0" b="-6258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31699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Evidence Engine</a:t>
              </a:r>
            </a:p>
          </p:txBody>
        </p:sp>
      </p:grpSp>
      <p:sp>
        <p:nvSpPr>
          <p:cNvPr name="TextBox 82" id="82"/>
          <p:cNvSpPr txBox="true"/>
          <p:nvPr/>
        </p:nvSpPr>
        <p:spPr>
          <a:xfrm rot="0">
            <a:off x="3776472" y="5348097"/>
            <a:ext cx="2286000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E8CDA8"/>
                </a:solidFill>
                <a:latin typeface="Calibri (MS)"/>
                <a:ea typeface="Calibri (MS)"/>
                <a:cs typeface="Calibri (MS)"/>
                <a:sym typeface="Calibri (MS)"/>
              </a:rPr>
              <a:t>Detectors + guard + provenance audit</a:t>
            </a:r>
          </a:p>
        </p:txBody>
      </p:sp>
      <p:grpSp>
        <p:nvGrpSpPr>
          <p:cNvPr name="Group 83" id="83"/>
          <p:cNvGrpSpPr/>
          <p:nvPr/>
        </p:nvGrpSpPr>
        <p:grpSpPr>
          <a:xfrm rot="0">
            <a:off x="6199632" y="4754880"/>
            <a:ext cx="256032" cy="320040"/>
            <a:chOff x="0" y="0"/>
            <a:chExt cx="341376" cy="42672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341376" cy="426720"/>
            </a:xfrm>
            <a:custGeom>
              <a:avLst/>
              <a:gdLst/>
              <a:ahLst/>
              <a:cxnLst/>
              <a:rect r="r" b="b" t="t" l="l"/>
              <a:pathLst>
                <a:path h="426720" w="341376">
                  <a:moveTo>
                    <a:pt x="0" y="106680"/>
                  </a:moveTo>
                  <a:lnTo>
                    <a:pt x="170688" y="106680"/>
                  </a:lnTo>
                  <a:lnTo>
                    <a:pt x="170688" y="0"/>
                  </a:lnTo>
                  <a:lnTo>
                    <a:pt x="341376" y="213360"/>
                  </a:lnTo>
                  <a:lnTo>
                    <a:pt x="170688" y="426720"/>
                  </a:lnTo>
                  <a:lnTo>
                    <a:pt x="170688" y="320040"/>
                  </a:lnTo>
                  <a:lnTo>
                    <a:pt x="0" y="32004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6436614" y="3821430"/>
            <a:ext cx="2598420" cy="2278380"/>
            <a:chOff x="0" y="0"/>
            <a:chExt cx="3464560" cy="30378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464560" cy="3037840"/>
            </a:xfrm>
            <a:custGeom>
              <a:avLst/>
              <a:gdLst/>
              <a:ahLst/>
              <a:cxnLst/>
              <a:rect r="r" b="b" t="t" l="l"/>
              <a:pathLst>
                <a:path h="3037840" w="3464560">
                  <a:moveTo>
                    <a:pt x="0" y="185928"/>
                  </a:moveTo>
                  <a:cubicBezTo>
                    <a:pt x="0" y="83312"/>
                    <a:pt x="83312" y="0"/>
                    <a:pt x="185928" y="0"/>
                  </a:cubicBezTo>
                  <a:lnTo>
                    <a:pt x="3278632" y="0"/>
                  </a:lnTo>
                  <a:cubicBezTo>
                    <a:pt x="3381375" y="0"/>
                    <a:pt x="3464560" y="83312"/>
                    <a:pt x="3464560" y="185928"/>
                  </a:cubicBezTo>
                  <a:lnTo>
                    <a:pt x="3464560" y="2851912"/>
                  </a:lnTo>
                  <a:cubicBezTo>
                    <a:pt x="3464560" y="2954655"/>
                    <a:pt x="3381248" y="3037840"/>
                    <a:pt x="3278632" y="3037840"/>
                  </a:cubicBezTo>
                  <a:lnTo>
                    <a:pt x="185928" y="3037840"/>
                  </a:lnTo>
                  <a:cubicBezTo>
                    <a:pt x="83312" y="3037840"/>
                    <a:pt x="0" y="2954528"/>
                    <a:pt x="0" y="2851912"/>
                  </a:cubicBezTo>
                  <a:close/>
                </a:path>
              </a:pathLst>
            </a:custGeom>
            <a:solidFill>
              <a:srgbClr val="E9B949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7305294" y="4004310"/>
            <a:ext cx="861060" cy="861060"/>
            <a:chOff x="0" y="0"/>
            <a:chExt cx="1148080" cy="114808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1480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1148080">
                  <a:moveTo>
                    <a:pt x="0" y="574040"/>
                  </a:moveTo>
                  <a:cubicBezTo>
                    <a:pt x="0" y="257048"/>
                    <a:pt x="257048" y="0"/>
                    <a:pt x="574040" y="0"/>
                  </a:cubicBezTo>
                  <a:cubicBezTo>
                    <a:pt x="891032" y="0"/>
                    <a:pt x="1148080" y="257048"/>
                    <a:pt x="1148080" y="574040"/>
                  </a:cubicBezTo>
                  <a:cubicBezTo>
                    <a:pt x="1148080" y="891032"/>
                    <a:pt x="891032" y="1148080"/>
                    <a:pt x="574040" y="1148080"/>
                  </a:cubicBezTo>
                  <a:cubicBezTo>
                    <a:pt x="257048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371704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7530084" y="4229100"/>
            <a:ext cx="411480" cy="411480"/>
            <a:chOff x="0" y="0"/>
            <a:chExt cx="548640" cy="548640"/>
          </a:xfrm>
        </p:grpSpPr>
        <p:sp>
          <p:nvSpPr>
            <p:cNvPr name="Freeform 90" id="90" descr="FaRobot_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91" id="91"/>
          <p:cNvGrpSpPr/>
          <p:nvPr/>
        </p:nvGrpSpPr>
        <p:grpSpPr>
          <a:xfrm rot="0">
            <a:off x="6537579" y="3922395"/>
            <a:ext cx="403098" cy="403098"/>
            <a:chOff x="0" y="0"/>
            <a:chExt cx="537464" cy="537464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537464" cy="537464"/>
            </a:xfrm>
            <a:custGeom>
              <a:avLst/>
              <a:gdLst/>
              <a:ahLst/>
              <a:cxnLst/>
              <a:rect r="r" b="b" t="t" l="l"/>
              <a:pathLst>
                <a:path h="537464" w="537464">
                  <a:moveTo>
                    <a:pt x="0" y="268732"/>
                  </a:moveTo>
                  <a:cubicBezTo>
                    <a:pt x="0" y="120269"/>
                    <a:pt x="120269" y="0"/>
                    <a:pt x="268732" y="0"/>
                  </a:cubicBezTo>
                  <a:cubicBezTo>
                    <a:pt x="417195" y="0"/>
                    <a:pt x="537464" y="120269"/>
                    <a:pt x="537464" y="268732"/>
                  </a:cubicBezTo>
                  <a:cubicBezTo>
                    <a:pt x="537464" y="417195"/>
                    <a:pt x="417195" y="537464"/>
                    <a:pt x="268732" y="537464"/>
                  </a:cubicBezTo>
                  <a:cubicBezTo>
                    <a:pt x="120269" y="537464"/>
                    <a:pt x="0" y="417195"/>
                    <a:pt x="0" y="268732"/>
                  </a:cubicBezTo>
                  <a:close/>
                </a:path>
              </a:pathLst>
            </a:custGeom>
            <a:solidFill>
              <a:srgbClr val="FFD54A"/>
            </a:solidFill>
            <a:ln w="19050" cap="sq">
              <a:solidFill>
                <a:srgbClr val="371704"/>
              </a:solidFill>
              <a:prstDash val="solid"/>
              <a:miter/>
            </a:ln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537464" cy="5755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6547104" y="4937760"/>
            <a:ext cx="2377440" cy="411480"/>
            <a:chOff x="0" y="0"/>
            <a:chExt cx="3169920" cy="54864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169919" cy="548640"/>
            </a:xfrm>
            <a:custGeom>
              <a:avLst/>
              <a:gdLst/>
              <a:ahLst/>
              <a:cxnLst/>
              <a:rect r="r" b="b" t="t" l="l"/>
              <a:pathLst>
                <a:path h="548640" w="3169919">
                  <a:moveTo>
                    <a:pt x="0" y="0"/>
                  </a:moveTo>
                  <a:lnTo>
                    <a:pt x="3169919" y="0"/>
                  </a:lnTo>
                  <a:lnTo>
                    <a:pt x="316991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2580" r="0" b="-62580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47625"/>
              <a:ext cx="31699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LLM Verifier</a:t>
              </a:r>
            </a:p>
          </p:txBody>
        </p:sp>
      </p:grpSp>
      <p:sp>
        <p:nvSpPr>
          <p:cNvPr name="TextBox 97" id="97"/>
          <p:cNvSpPr txBox="true"/>
          <p:nvPr/>
        </p:nvSpPr>
        <p:spPr>
          <a:xfrm rot="0">
            <a:off x="6592824" y="5348097"/>
            <a:ext cx="2286000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371704"/>
                </a:solidFill>
                <a:latin typeface="Calibri (MS)"/>
                <a:ea typeface="Calibri (MS)"/>
                <a:cs typeface="Calibri (MS)"/>
                <a:sym typeface="Calibri (MS)"/>
              </a:rPr>
              <a:t>Confirms or rejects only. Temp 0, cached</a:t>
            </a:r>
          </a:p>
        </p:txBody>
      </p:sp>
      <p:grpSp>
        <p:nvGrpSpPr>
          <p:cNvPr name="Group 98" id="98"/>
          <p:cNvGrpSpPr/>
          <p:nvPr/>
        </p:nvGrpSpPr>
        <p:grpSpPr>
          <a:xfrm rot="0">
            <a:off x="9015984" y="4754880"/>
            <a:ext cx="256032" cy="320040"/>
            <a:chOff x="0" y="0"/>
            <a:chExt cx="341376" cy="42672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341376" cy="426720"/>
            </a:xfrm>
            <a:custGeom>
              <a:avLst/>
              <a:gdLst/>
              <a:ahLst/>
              <a:cxnLst/>
              <a:rect r="r" b="b" t="t" l="l"/>
              <a:pathLst>
                <a:path h="426720" w="341376">
                  <a:moveTo>
                    <a:pt x="0" y="106680"/>
                  </a:moveTo>
                  <a:lnTo>
                    <a:pt x="170688" y="106680"/>
                  </a:lnTo>
                  <a:lnTo>
                    <a:pt x="170688" y="0"/>
                  </a:lnTo>
                  <a:lnTo>
                    <a:pt x="341376" y="213360"/>
                  </a:lnTo>
                  <a:lnTo>
                    <a:pt x="170688" y="426720"/>
                  </a:lnTo>
                  <a:lnTo>
                    <a:pt x="170688" y="320040"/>
                  </a:lnTo>
                  <a:lnTo>
                    <a:pt x="0" y="32004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259319" y="3827783"/>
            <a:ext cx="2585723" cy="2265683"/>
            <a:chOff x="0" y="0"/>
            <a:chExt cx="3447631" cy="3020911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447542" cy="3020822"/>
            </a:xfrm>
            <a:custGeom>
              <a:avLst/>
              <a:gdLst/>
              <a:ahLst/>
              <a:cxnLst/>
              <a:rect r="r" b="b" t="t" l="l"/>
              <a:pathLst>
                <a:path h="3020822" w="3447542">
                  <a:moveTo>
                    <a:pt x="0" y="184912"/>
                  </a:moveTo>
                  <a:cubicBezTo>
                    <a:pt x="0" y="82804"/>
                    <a:pt x="82804" y="0"/>
                    <a:pt x="184912" y="0"/>
                  </a:cubicBezTo>
                  <a:lnTo>
                    <a:pt x="3262630" y="0"/>
                  </a:lnTo>
                  <a:cubicBezTo>
                    <a:pt x="3364738" y="0"/>
                    <a:pt x="3447542" y="82804"/>
                    <a:pt x="3447542" y="184912"/>
                  </a:cubicBezTo>
                  <a:lnTo>
                    <a:pt x="3447542" y="2835910"/>
                  </a:lnTo>
                  <a:cubicBezTo>
                    <a:pt x="3447542" y="2938018"/>
                    <a:pt x="3364738" y="3020822"/>
                    <a:pt x="3262630" y="3020822"/>
                  </a:cubicBezTo>
                  <a:lnTo>
                    <a:pt x="184912" y="3020822"/>
                  </a:lnTo>
                  <a:cubicBezTo>
                    <a:pt x="82804" y="3020949"/>
                    <a:pt x="0" y="2938145"/>
                    <a:pt x="0" y="283591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32010">
                    <a:alpha val="100000"/>
                  </a:srgbClr>
                </a:gs>
                <a:gs pos="100000">
                  <a:srgbClr val="24100A">
                    <a:alpha val="100000"/>
                  </a:srgbClr>
                </a:gs>
              </a:gsLst>
              <a:lin ang="16200000"/>
            </a:gradFill>
            <a:ln w="254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02" id="102"/>
          <p:cNvGrpSpPr/>
          <p:nvPr/>
        </p:nvGrpSpPr>
        <p:grpSpPr>
          <a:xfrm rot="0">
            <a:off x="10121646" y="4004310"/>
            <a:ext cx="861060" cy="861060"/>
            <a:chOff x="0" y="0"/>
            <a:chExt cx="1148080" cy="1148080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1480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1148080">
                  <a:moveTo>
                    <a:pt x="0" y="574040"/>
                  </a:moveTo>
                  <a:cubicBezTo>
                    <a:pt x="0" y="257048"/>
                    <a:pt x="257048" y="0"/>
                    <a:pt x="574040" y="0"/>
                  </a:cubicBezTo>
                  <a:cubicBezTo>
                    <a:pt x="891032" y="0"/>
                    <a:pt x="1148080" y="257048"/>
                    <a:pt x="1148080" y="574040"/>
                  </a:cubicBezTo>
                  <a:cubicBezTo>
                    <a:pt x="1148080" y="891032"/>
                    <a:pt x="891032" y="1148080"/>
                    <a:pt x="574040" y="1148080"/>
                  </a:cubicBezTo>
                  <a:cubicBezTo>
                    <a:pt x="257048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04" id="104"/>
          <p:cNvGrpSpPr/>
          <p:nvPr/>
        </p:nvGrpSpPr>
        <p:grpSpPr>
          <a:xfrm rot="0">
            <a:off x="10346436" y="4229100"/>
            <a:ext cx="411480" cy="411480"/>
            <a:chOff x="0" y="0"/>
            <a:chExt cx="548640" cy="548640"/>
          </a:xfrm>
        </p:grpSpPr>
        <p:sp>
          <p:nvSpPr>
            <p:cNvPr name="Freeform 105" id="105" descr="FaBalanceScale_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06" id="106"/>
          <p:cNvGrpSpPr/>
          <p:nvPr/>
        </p:nvGrpSpPr>
        <p:grpSpPr>
          <a:xfrm rot="0">
            <a:off x="9353931" y="3922395"/>
            <a:ext cx="403098" cy="403098"/>
            <a:chOff x="0" y="0"/>
            <a:chExt cx="537464" cy="53746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537464" cy="537464"/>
            </a:xfrm>
            <a:custGeom>
              <a:avLst/>
              <a:gdLst/>
              <a:ahLst/>
              <a:cxnLst/>
              <a:rect r="r" b="b" t="t" l="l"/>
              <a:pathLst>
                <a:path h="537464" w="537464">
                  <a:moveTo>
                    <a:pt x="0" y="268732"/>
                  </a:moveTo>
                  <a:cubicBezTo>
                    <a:pt x="0" y="120269"/>
                    <a:pt x="120269" y="0"/>
                    <a:pt x="268732" y="0"/>
                  </a:cubicBezTo>
                  <a:cubicBezTo>
                    <a:pt x="417195" y="0"/>
                    <a:pt x="537464" y="120269"/>
                    <a:pt x="537464" y="268732"/>
                  </a:cubicBezTo>
                  <a:cubicBezTo>
                    <a:pt x="537464" y="417195"/>
                    <a:pt x="417195" y="537464"/>
                    <a:pt x="268732" y="537464"/>
                  </a:cubicBezTo>
                  <a:cubicBezTo>
                    <a:pt x="120269" y="537464"/>
                    <a:pt x="0" y="417195"/>
                    <a:pt x="0" y="268732"/>
                  </a:cubicBezTo>
                  <a:close/>
                </a:path>
              </a:pathLst>
            </a:custGeom>
            <a:solidFill>
              <a:srgbClr val="FFD54A"/>
            </a:solidFill>
            <a:ln w="19050" cap="sq">
              <a:solidFill>
                <a:srgbClr val="371704"/>
              </a:solidFill>
              <a:prstDash val="solid"/>
              <a:miter/>
            </a:ln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537464" cy="5755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9363456" y="4937760"/>
            <a:ext cx="2377440" cy="411480"/>
            <a:chOff x="0" y="0"/>
            <a:chExt cx="316992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169919" cy="548640"/>
            </a:xfrm>
            <a:custGeom>
              <a:avLst/>
              <a:gdLst/>
              <a:ahLst/>
              <a:cxnLst/>
              <a:rect r="r" b="b" t="t" l="l"/>
              <a:pathLst>
                <a:path h="548640" w="3169919">
                  <a:moveTo>
                    <a:pt x="0" y="0"/>
                  </a:moveTo>
                  <a:lnTo>
                    <a:pt x="3169919" y="0"/>
                  </a:lnTo>
                  <a:lnTo>
                    <a:pt x="316991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2580" r="0" b="-6258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47625"/>
              <a:ext cx="31699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Assessment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9409176" y="5348097"/>
            <a:ext cx="2286000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E8CDA8"/>
                </a:solidFill>
                <a:latin typeface="Calibri (MS)"/>
                <a:ea typeface="Calibri (MS)"/>
                <a:cs typeface="Calibri (MS)"/>
                <a:sym typeface="Calibri (MS)"/>
              </a:rPr>
              <a:t>Rule-based. Only writer of status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832336" y="4754880"/>
            <a:ext cx="256032" cy="320040"/>
            <a:chOff x="0" y="0"/>
            <a:chExt cx="341376" cy="42672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341376" cy="426720"/>
            </a:xfrm>
            <a:custGeom>
              <a:avLst/>
              <a:gdLst/>
              <a:ahLst/>
              <a:cxnLst/>
              <a:rect r="r" b="b" t="t" l="l"/>
              <a:pathLst>
                <a:path h="426720" w="341376">
                  <a:moveTo>
                    <a:pt x="0" y="106680"/>
                  </a:moveTo>
                  <a:lnTo>
                    <a:pt x="170688" y="106680"/>
                  </a:lnTo>
                  <a:lnTo>
                    <a:pt x="170688" y="0"/>
                  </a:lnTo>
                  <a:lnTo>
                    <a:pt x="341376" y="213360"/>
                  </a:lnTo>
                  <a:lnTo>
                    <a:pt x="170688" y="426720"/>
                  </a:lnTo>
                  <a:lnTo>
                    <a:pt x="170688" y="320040"/>
                  </a:lnTo>
                  <a:lnTo>
                    <a:pt x="0" y="32004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75671" y="3827783"/>
            <a:ext cx="2585723" cy="2265683"/>
            <a:chOff x="0" y="0"/>
            <a:chExt cx="3447631" cy="3020911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447542" cy="3020822"/>
            </a:xfrm>
            <a:custGeom>
              <a:avLst/>
              <a:gdLst/>
              <a:ahLst/>
              <a:cxnLst/>
              <a:rect r="r" b="b" t="t" l="l"/>
              <a:pathLst>
                <a:path h="3020822" w="3447542">
                  <a:moveTo>
                    <a:pt x="0" y="184912"/>
                  </a:moveTo>
                  <a:cubicBezTo>
                    <a:pt x="0" y="82804"/>
                    <a:pt x="82804" y="0"/>
                    <a:pt x="184912" y="0"/>
                  </a:cubicBezTo>
                  <a:lnTo>
                    <a:pt x="3262630" y="0"/>
                  </a:lnTo>
                  <a:cubicBezTo>
                    <a:pt x="3364738" y="0"/>
                    <a:pt x="3447542" y="82804"/>
                    <a:pt x="3447542" y="184912"/>
                  </a:cubicBezTo>
                  <a:lnTo>
                    <a:pt x="3447542" y="2835910"/>
                  </a:lnTo>
                  <a:cubicBezTo>
                    <a:pt x="3447542" y="2938018"/>
                    <a:pt x="3364738" y="3020822"/>
                    <a:pt x="3262630" y="3020822"/>
                  </a:cubicBezTo>
                  <a:lnTo>
                    <a:pt x="184912" y="3020822"/>
                  </a:lnTo>
                  <a:cubicBezTo>
                    <a:pt x="82804" y="3020949"/>
                    <a:pt x="0" y="2938145"/>
                    <a:pt x="0" y="283591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32010">
                    <a:alpha val="100000"/>
                  </a:srgbClr>
                </a:gs>
                <a:gs pos="100000">
                  <a:srgbClr val="24100A">
                    <a:alpha val="100000"/>
                  </a:srgbClr>
                </a:gs>
              </a:gsLst>
              <a:lin ang="16200000"/>
            </a:gradFill>
            <a:ln w="254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17" id="117"/>
          <p:cNvGrpSpPr/>
          <p:nvPr/>
        </p:nvGrpSpPr>
        <p:grpSpPr>
          <a:xfrm rot="0">
            <a:off x="12937998" y="4004310"/>
            <a:ext cx="861060" cy="861060"/>
            <a:chOff x="0" y="0"/>
            <a:chExt cx="1148080" cy="1148080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11480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1148080">
                  <a:moveTo>
                    <a:pt x="0" y="574040"/>
                  </a:moveTo>
                  <a:cubicBezTo>
                    <a:pt x="0" y="257048"/>
                    <a:pt x="257048" y="0"/>
                    <a:pt x="574040" y="0"/>
                  </a:cubicBezTo>
                  <a:cubicBezTo>
                    <a:pt x="891032" y="0"/>
                    <a:pt x="1148080" y="257048"/>
                    <a:pt x="1148080" y="574040"/>
                  </a:cubicBezTo>
                  <a:cubicBezTo>
                    <a:pt x="1148080" y="891032"/>
                    <a:pt x="891032" y="1148080"/>
                    <a:pt x="574040" y="1148080"/>
                  </a:cubicBezTo>
                  <a:cubicBezTo>
                    <a:pt x="257048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19" id="119"/>
          <p:cNvGrpSpPr/>
          <p:nvPr/>
        </p:nvGrpSpPr>
        <p:grpSpPr>
          <a:xfrm rot="0">
            <a:off x="13162788" y="4229100"/>
            <a:ext cx="411480" cy="411480"/>
            <a:chOff x="0" y="0"/>
            <a:chExt cx="548640" cy="548640"/>
          </a:xfrm>
        </p:grpSpPr>
        <p:sp>
          <p:nvSpPr>
            <p:cNvPr name="Freeform 120" id="120" descr="FaCertificate_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12170283" y="3922395"/>
            <a:ext cx="403098" cy="403098"/>
            <a:chOff x="0" y="0"/>
            <a:chExt cx="537464" cy="537464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537464" cy="537464"/>
            </a:xfrm>
            <a:custGeom>
              <a:avLst/>
              <a:gdLst/>
              <a:ahLst/>
              <a:cxnLst/>
              <a:rect r="r" b="b" t="t" l="l"/>
              <a:pathLst>
                <a:path h="537464" w="537464">
                  <a:moveTo>
                    <a:pt x="0" y="268732"/>
                  </a:moveTo>
                  <a:cubicBezTo>
                    <a:pt x="0" y="120269"/>
                    <a:pt x="120269" y="0"/>
                    <a:pt x="268732" y="0"/>
                  </a:cubicBezTo>
                  <a:cubicBezTo>
                    <a:pt x="417195" y="0"/>
                    <a:pt x="537464" y="120269"/>
                    <a:pt x="537464" y="268732"/>
                  </a:cubicBezTo>
                  <a:cubicBezTo>
                    <a:pt x="537464" y="417195"/>
                    <a:pt x="417195" y="537464"/>
                    <a:pt x="268732" y="537464"/>
                  </a:cubicBezTo>
                  <a:cubicBezTo>
                    <a:pt x="120269" y="537464"/>
                    <a:pt x="0" y="417195"/>
                    <a:pt x="0" y="268732"/>
                  </a:cubicBezTo>
                  <a:close/>
                </a:path>
              </a:pathLst>
            </a:custGeom>
            <a:solidFill>
              <a:srgbClr val="FFD54A"/>
            </a:solidFill>
            <a:ln w="19050" cap="sq">
              <a:solidFill>
                <a:srgbClr val="371704"/>
              </a:solidFill>
              <a:prstDash val="solid"/>
              <a:miter/>
            </a:ln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537464" cy="5755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2179808" y="4937760"/>
            <a:ext cx="2377440" cy="411480"/>
            <a:chOff x="0" y="0"/>
            <a:chExt cx="3169920" cy="548640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169919" cy="548640"/>
            </a:xfrm>
            <a:custGeom>
              <a:avLst/>
              <a:gdLst/>
              <a:ahLst/>
              <a:cxnLst/>
              <a:rect r="r" b="b" t="t" l="l"/>
              <a:pathLst>
                <a:path h="548640" w="3169919">
                  <a:moveTo>
                    <a:pt x="0" y="0"/>
                  </a:moveTo>
                  <a:lnTo>
                    <a:pt x="3169919" y="0"/>
                  </a:lnTo>
                  <a:lnTo>
                    <a:pt x="316991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2580" r="0" b="-62580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47625"/>
              <a:ext cx="31699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Signed Snapshot</a:t>
              </a:r>
            </a:p>
          </p:txBody>
        </p:sp>
      </p:grpSp>
      <p:sp>
        <p:nvSpPr>
          <p:cNvPr name="TextBox 127" id="127"/>
          <p:cNvSpPr txBox="true"/>
          <p:nvPr/>
        </p:nvSpPr>
        <p:spPr>
          <a:xfrm rot="0">
            <a:off x="12225528" y="5348097"/>
            <a:ext cx="2286000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E8CDA8"/>
                </a:solidFill>
                <a:latin typeface="Calibri (MS)"/>
                <a:ea typeface="Calibri (MS)"/>
                <a:cs typeface="Calibri (MS)"/>
                <a:sym typeface="Calibri (MS)"/>
              </a:rPr>
              <a:t>SHA-256 chain, Ed25519-signed head</a:t>
            </a:r>
          </a:p>
        </p:txBody>
      </p:sp>
      <p:grpSp>
        <p:nvGrpSpPr>
          <p:cNvPr name="Group 128" id="128"/>
          <p:cNvGrpSpPr/>
          <p:nvPr/>
        </p:nvGrpSpPr>
        <p:grpSpPr>
          <a:xfrm rot="0">
            <a:off x="14648688" y="4754880"/>
            <a:ext cx="256032" cy="320040"/>
            <a:chOff x="0" y="0"/>
            <a:chExt cx="341376" cy="426720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341376" cy="426720"/>
            </a:xfrm>
            <a:custGeom>
              <a:avLst/>
              <a:gdLst/>
              <a:ahLst/>
              <a:cxnLst/>
              <a:rect r="r" b="b" t="t" l="l"/>
              <a:pathLst>
                <a:path h="426720" w="341376">
                  <a:moveTo>
                    <a:pt x="0" y="106680"/>
                  </a:moveTo>
                  <a:lnTo>
                    <a:pt x="170688" y="106680"/>
                  </a:lnTo>
                  <a:lnTo>
                    <a:pt x="170688" y="0"/>
                  </a:lnTo>
                  <a:lnTo>
                    <a:pt x="341376" y="213360"/>
                  </a:lnTo>
                  <a:lnTo>
                    <a:pt x="170688" y="426720"/>
                  </a:lnTo>
                  <a:lnTo>
                    <a:pt x="170688" y="320040"/>
                  </a:lnTo>
                  <a:lnTo>
                    <a:pt x="0" y="32004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14892023" y="3827783"/>
            <a:ext cx="2585723" cy="2265683"/>
            <a:chOff x="0" y="0"/>
            <a:chExt cx="3447631" cy="3020911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3447542" cy="3020822"/>
            </a:xfrm>
            <a:custGeom>
              <a:avLst/>
              <a:gdLst/>
              <a:ahLst/>
              <a:cxnLst/>
              <a:rect r="r" b="b" t="t" l="l"/>
              <a:pathLst>
                <a:path h="3020822" w="3447542">
                  <a:moveTo>
                    <a:pt x="0" y="184912"/>
                  </a:moveTo>
                  <a:cubicBezTo>
                    <a:pt x="0" y="82804"/>
                    <a:pt x="82804" y="0"/>
                    <a:pt x="184912" y="0"/>
                  </a:cubicBezTo>
                  <a:lnTo>
                    <a:pt x="3262630" y="0"/>
                  </a:lnTo>
                  <a:cubicBezTo>
                    <a:pt x="3364738" y="0"/>
                    <a:pt x="3447542" y="82804"/>
                    <a:pt x="3447542" y="184912"/>
                  </a:cubicBezTo>
                  <a:lnTo>
                    <a:pt x="3447542" y="2835910"/>
                  </a:lnTo>
                  <a:cubicBezTo>
                    <a:pt x="3447542" y="2938018"/>
                    <a:pt x="3364738" y="3020822"/>
                    <a:pt x="3262630" y="3020822"/>
                  </a:cubicBezTo>
                  <a:lnTo>
                    <a:pt x="184912" y="3020822"/>
                  </a:lnTo>
                  <a:cubicBezTo>
                    <a:pt x="82804" y="3020949"/>
                    <a:pt x="0" y="2938145"/>
                    <a:pt x="0" y="283591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32010">
                    <a:alpha val="100000"/>
                  </a:srgbClr>
                </a:gs>
                <a:gs pos="100000">
                  <a:srgbClr val="24100A">
                    <a:alpha val="100000"/>
                  </a:srgbClr>
                </a:gs>
              </a:gsLst>
              <a:lin ang="16200000"/>
            </a:gradFill>
            <a:ln w="254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32" id="132"/>
          <p:cNvGrpSpPr/>
          <p:nvPr/>
        </p:nvGrpSpPr>
        <p:grpSpPr>
          <a:xfrm rot="0">
            <a:off x="15754350" y="4004310"/>
            <a:ext cx="861060" cy="861060"/>
            <a:chOff x="0" y="0"/>
            <a:chExt cx="1148080" cy="114808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11480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1148080">
                  <a:moveTo>
                    <a:pt x="0" y="574040"/>
                  </a:moveTo>
                  <a:cubicBezTo>
                    <a:pt x="0" y="257048"/>
                    <a:pt x="257048" y="0"/>
                    <a:pt x="574040" y="0"/>
                  </a:cubicBezTo>
                  <a:cubicBezTo>
                    <a:pt x="891032" y="0"/>
                    <a:pt x="1148080" y="257048"/>
                    <a:pt x="1148080" y="574040"/>
                  </a:cubicBezTo>
                  <a:cubicBezTo>
                    <a:pt x="1148080" y="891032"/>
                    <a:pt x="891032" y="1148080"/>
                    <a:pt x="574040" y="1148080"/>
                  </a:cubicBezTo>
                  <a:cubicBezTo>
                    <a:pt x="257048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34" id="134"/>
          <p:cNvGrpSpPr/>
          <p:nvPr/>
        </p:nvGrpSpPr>
        <p:grpSpPr>
          <a:xfrm rot="0">
            <a:off x="15979140" y="4229100"/>
            <a:ext cx="411480" cy="411480"/>
            <a:chOff x="0" y="0"/>
            <a:chExt cx="548640" cy="548640"/>
          </a:xfrm>
        </p:grpSpPr>
        <p:sp>
          <p:nvSpPr>
            <p:cNvPr name="Freeform 135" id="135" descr="FaTachometerAlt_y.png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0"/>
                  </a:moveTo>
                  <a:lnTo>
                    <a:pt x="548640" y="0"/>
                  </a:lnTo>
                  <a:lnTo>
                    <a:pt x="548640" y="548640"/>
                  </a:lnTo>
                  <a:lnTo>
                    <a:pt x="0" y="548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14986635" y="3922395"/>
            <a:ext cx="403098" cy="403098"/>
            <a:chOff x="0" y="0"/>
            <a:chExt cx="537464" cy="53746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37464" cy="537464"/>
            </a:xfrm>
            <a:custGeom>
              <a:avLst/>
              <a:gdLst/>
              <a:ahLst/>
              <a:cxnLst/>
              <a:rect r="r" b="b" t="t" l="l"/>
              <a:pathLst>
                <a:path h="537464" w="537464">
                  <a:moveTo>
                    <a:pt x="0" y="268732"/>
                  </a:moveTo>
                  <a:cubicBezTo>
                    <a:pt x="0" y="120269"/>
                    <a:pt x="120269" y="0"/>
                    <a:pt x="268732" y="0"/>
                  </a:cubicBezTo>
                  <a:cubicBezTo>
                    <a:pt x="417195" y="0"/>
                    <a:pt x="537464" y="120269"/>
                    <a:pt x="537464" y="268732"/>
                  </a:cubicBezTo>
                  <a:cubicBezTo>
                    <a:pt x="537464" y="417195"/>
                    <a:pt x="417195" y="537464"/>
                    <a:pt x="268732" y="537464"/>
                  </a:cubicBezTo>
                  <a:cubicBezTo>
                    <a:pt x="120269" y="537464"/>
                    <a:pt x="0" y="417195"/>
                    <a:pt x="0" y="268732"/>
                  </a:cubicBezTo>
                  <a:close/>
                </a:path>
              </a:pathLst>
            </a:custGeom>
            <a:solidFill>
              <a:srgbClr val="FFD54A"/>
            </a:solidFill>
            <a:ln w="19050" cap="sq">
              <a:solidFill>
                <a:srgbClr val="371704"/>
              </a:solidFill>
              <a:prstDash val="solid"/>
              <a:miter/>
            </a:ln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537464" cy="57556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996160" y="4937760"/>
            <a:ext cx="2377440" cy="411480"/>
            <a:chOff x="0" y="0"/>
            <a:chExt cx="3169920" cy="548640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169919" cy="548640"/>
            </a:xfrm>
            <a:custGeom>
              <a:avLst/>
              <a:gdLst/>
              <a:ahLst/>
              <a:cxnLst/>
              <a:rect r="r" b="b" t="t" l="l"/>
              <a:pathLst>
                <a:path h="548640" w="3169919">
                  <a:moveTo>
                    <a:pt x="0" y="0"/>
                  </a:moveTo>
                  <a:lnTo>
                    <a:pt x="3169919" y="0"/>
                  </a:lnTo>
                  <a:lnTo>
                    <a:pt x="316991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2580" r="0" b="-62580"/>
              </a:stretch>
            </a:blipFill>
          </p:spPr>
        </p:sp>
        <p:sp>
          <p:nvSpPr>
            <p:cNvPr name="TextBox 141" id="141"/>
            <p:cNvSpPr txBox="true"/>
            <p:nvPr/>
          </p:nvSpPr>
          <p:spPr>
            <a:xfrm>
              <a:off x="0" y="-47625"/>
              <a:ext cx="31699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Live Outputs</a:t>
              </a:r>
            </a:p>
          </p:txBody>
        </p:sp>
      </p:grpSp>
      <p:sp>
        <p:nvSpPr>
          <p:cNvPr name="TextBox 142" id="142"/>
          <p:cNvSpPr txBox="true"/>
          <p:nvPr/>
        </p:nvSpPr>
        <p:spPr>
          <a:xfrm rot="0">
            <a:off x="15041880" y="5348097"/>
            <a:ext cx="2286000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E8CDA8"/>
                </a:solidFill>
                <a:latin typeface="Calibri (MS)"/>
                <a:ea typeface="Calibri (MS)"/>
                <a:cs typeface="Calibri (MS)"/>
                <a:sym typeface="Calibri (MS)"/>
              </a:rPr>
              <a:t>Repo audit, proof map, Agent Trace</a:t>
            </a:r>
          </a:p>
        </p:txBody>
      </p:sp>
      <p:grpSp>
        <p:nvGrpSpPr>
          <p:cNvPr name="Group 143" id="143"/>
          <p:cNvGrpSpPr/>
          <p:nvPr/>
        </p:nvGrpSpPr>
        <p:grpSpPr>
          <a:xfrm rot="0">
            <a:off x="6805546" y="3623434"/>
            <a:ext cx="1860547" cy="415795"/>
            <a:chOff x="0" y="0"/>
            <a:chExt cx="2480729" cy="554393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2480818" cy="554482"/>
            </a:xfrm>
            <a:custGeom>
              <a:avLst/>
              <a:gdLst/>
              <a:ahLst/>
              <a:cxnLst/>
              <a:rect r="r" b="b" t="t" l="l"/>
              <a:pathLst>
                <a:path h="554482" w="2480818">
                  <a:moveTo>
                    <a:pt x="0" y="277241"/>
                  </a:moveTo>
                  <a:cubicBezTo>
                    <a:pt x="0" y="124079"/>
                    <a:pt x="124079" y="0"/>
                    <a:pt x="277241" y="0"/>
                  </a:cubicBezTo>
                  <a:lnTo>
                    <a:pt x="2203577" y="0"/>
                  </a:lnTo>
                  <a:cubicBezTo>
                    <a:pt x="2356612" y="0"/>
                    <a:pt x="2480818" y="124079"/>
                    <a:pt x="2480818" y="277241"/>
                  </a:cubicBezTo>
                  <a:cubicBezTo>
                    <a:pt x="2480818" y="430403"/>
                    <a:pt x="2356739" y="554482"/>
                    <a:pt x="2203577" y="554482"/>
                  </a:cubicBezTo>
                  <a:lnTo>
                    <a:pt x="277241" y="554482"/>
                  </a:lnTo>
                  <a:cubicBezTo>
                    <a:pt x="124079" y="554355"/>
                    <a:pt x="0" y="430276"/>
                    <a:pt x="0" y="277241"/>
                  </a:cubicBezTo>
                  <a:close/>
                </a:path>
              </a:pathLst>
            </a:custGeom>
            <a:solidFill>
              <a:srgbClr val="371704"/>
            </a:solidFill>
            <a:ln w="31750" cap="sq">
              <a:solidFill>
                <a:srgbClr val="C9A24A"/>
              </a:solidFill>
              <a:prstDash val="solid"/>
              <a:miter/>
            </a:ln>
          </p:spPr>
        </p:sp>
        <p:sp>
          <p:nvSpPr>
            <p:cNvPr name="TextBox 145" id="145"/>
            <p:cNvSpPr txBox="true"/>
            <p:nvPr/>
          </p:nvSpPr>
          <p:spPr>
            <a:xfrm>
              <a:off x="0" y="-28575"/>
              <a:ext cx="2480729" cy="5829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  <a:r>
                <a:rPr lang="en-US" sz="1400" b="true">
                  <a:solidFill>
                    <a:srgbClr val="FFD5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only LLM step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803910" y="6564630"/>
            <a:ext cx="6256020" cy="1866900"/>
            <a:chOff x="0" y="0"/>
            <a:chExt cx="8341360" cy="2489200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8341360" cy="2489200"/>
            </a:xfrm>
            <a:custGeom>
              <a:avLst/>
              <a:gdLst/>
              <a:ahLst/>
              <a:cxnLst/>
              <a:rect r="r" b="b" t="t" l="l"/>
              <a:pathLst>
                <a:path h="2489200" w="8341360">
                  <a:moveTo>
                    <a:pt x="0" y="186690"/>
                  </a:moveTo>
                  <a:cubicBezTo>
                    <a:pt x="0" y="83566"/>
                    <a:pt x="83566" y="0"/>
                    <a:pt x="186690" y="0"/>
                  </a:cubicBezTo>
                  <a:lnTo>
                    <a:pt x="8154670" y="0"/>
                  </a:lnTo>
                  <a:cubicBezTo>
                    <a:pt x="8257794" y="0"/>
                    <a:pt x="8341360" y="83566"/>
                    <a:pt x="8341360" y="186690"/>
                  </a:cubicBezTo>
                  <a:lnTo>
                    <a:pt x="8341360" y="2302510"/>
                  </a:lnTo>
                  <a:cubicBezTo>
                    <a:pt x="8341360" y="2405634"/>
                    <a:pt x="8257794" y="2489200"/>
                    <a:pt x="8154670" y="2489200"/>
                  </a:cubicBezTo>
                  <a:lnTo>
                    <a:pt x="186690" y="2489200"/>
                  </a:lnTo>
                  <a:cubicBezTo>
                    <a:pt x="83566" y="2489200"/>
                    <a:pt x="0" y="2405634"/>
                    <a:pt x="0" y="2302510"/>
                  </a:cubicBezTo>
                  <a:close/>
                </a:path>
              </a:pathLst>
            </a:custGeom>
            <a:solidFill>
              <a:srgbClr val="FBE6E2"/>
            </a:solidFill>
            <a:ln w="38100" cap="sq">
              <a:solidFill>
                <a:srgbClr val="B22F25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1097280" y="6355080"/>
            <a:ext cx="4023360" cy="438912"/>
            <a:chOff x="0" y="0"/>
            <a:chExt cx="5364480" cy="585216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5364480" cy="585216"/>
            </a:xfrm>
            <a:custGeom>
              <a:avLst/>
              <a:gdLst/>
              <a:ahLst/>
              <a:cxnLst/>
              <a:rect r="r" b="b" t="t" l="l"/>
              <a:pathLst>
                <a:path h="585216" w="5364480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lnTo>
                    <a:pt x="5071872" y="0"/>
                  </a:lnTo>
                  <a:cubicBezTo>
                    <a:pt x="5233416" y="0"/>
                    <a:pt x="5364480" y="131064"/>
                    <a:pt x="5364480" y="292608"/>
                  </a:cubicBezTo>
                  <a:cubicBezTo>
                    <a:pt x="5364480" y="454152"/>
                    <a:pt x="5233416" y="585216"/>
                    <a:pt x="5071872" y="585216"/>
                  </a:cubicBezTo>
                  <a:lnTo>
                    <a:pt x="292608" y="585216"/>
                  </a:ln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B22F25"/>
            </a:solid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38100"/>
              <a:ext cx="5364480" cy="6233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HOLLOW EVIDENCE → REFUSED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097280" y="7059168"/>
            <a:ext cx="365760" cy="365760"/>
            <a:chOff x="0" y="0"/>
            <a:chExt cx="487680" cy="487680"/>
          </a:xfrm>
        </p:grpSpPr>
        <p:sp>
          <p:nvSpPr>
            <p:cNvPr name="Freeform 152" id="152" descr="FaTimesCircle_r.png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487680"/>
                  </a:lnTo>
                  <a:lnTo>
                    <a:pt x="0" y="487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153" id="153"/>
          <p:cNvGrpSpPr/>
          <p:nvPr/>
        </p:nvGrpSpPr>
        <p:grpSpPr>
          <a:xfrm rot="0">
            <a:off x="1691640" y="7031736"/>
            <a:ext cx="5212080" cy="420624"/>
            <a:chOff x="0" y="0"/>
            <a:chExt cx="6949440" cy="560832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6949440" cy="560832"/>
            </a:xfrm>
            <a:custGeom>
              <a:avLst/>
              <a:gdLst/>
              <a:ahLst/>
              <a:cxnLst/>
              <a:rect r="r" b="b" t="t" l="l"/>
              <a:pathLst>
                <a:path h="560832" w="6949440">
                  <a:moveTo>
                    <a:pt x="0" y="0"/>
                  </a:moveTo>
                  <a:lnTo>
                    <a:pt x="6949440" y="0"/>
                  </a:lnTo>
                  <a:lnTo>
                    <a:pt x="6949440" y="560832"/>
                  </a:lnTo>
                  <a:lnTo>
                    <a:pt x="0" y="56083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1445" r="0" b="-191445"/>
              </a:stretch>
            </a:blipFill>
          </p:spPr>
        </p:sp>
        <p:sp>
          <p:nvSpPr>
            <p:cNvPr name="TextBox 155" id="155"/>
            <p:cNvSpPr txBox="true"/>
            <p:nvPr/>
          </p:nvSpPr>
          <p:spPr>
            <a:xfrm>
              <a:off x="0" y="-38100"/>
              <a:ext cx="6949440" cy="5989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37170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Empty test, assert True</a:t>
              </a:r>
            </a:p>
          </p:txBody>
        </p:sp>
      </p:grpSp>
      <p:grpSp>
        <p:nvGrpSpPr>
          <p:cNvPr name="Group 156" id="156"/>
          <p:cNvGrpSpPr/>
          <p:nvPr/>
        </p:nvGrpSpPr>
        <p:grpSpPr>
          <a:xfrm rot="0">
            <a:off x="1097280" y="7498080"/>
            <a:ext cx="365760" cy="365760"/>
            <a:chOff x="0" y="0"/>
            <a:chExt cx="487680" cy="487680"/>
          </a:xfrm>
        </p:grpSpPr>
        <p:sp>
          <p:nvSpPr>
            <p:cNvPr name="Freeform 157" id="157" descr="FaTimesCircle_r.png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487680"/>
                  </a:lnTo>
                  <a:lnTo>
                    <a:pt x="0" y="487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158" id="158"/>
          <p:cNvGrpSpPr/>
          <p:nvPr/>
        </p:nvGrpSpPr>
        <p:grpSpPr>
          <a:xfrm rot="0">
            <a:off x="1691640" y="7470648"/>
            <a:ext cx="5212080" cy="420624"/>
            <a:chOff x="0" y="0"/>
            <a:chExt cx="6949440" cy="560832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6949440" cy="560832"/>
            </a:xfrm>
            <a:custGeom>
              <a:avLst/>
              <a:gdLst/>
              <a:ahLst/>
              <a:cxnLst/>
              <a:rect r="r" b="b" t="t" l="l"/>
              <a:pathLst>
                <a:path h="560832" w="6949440">
                  <a:moveTo>
                    <a:pt x="0" y="0"/>
                  </a:moveTo>
                  <a:lnTo>
                    <a:pt x="6949440" y="0"/>
                  </a:lnTo>
                  <a:lnTo>
                    <a:pt x="6949440" y="560832"/>
                  </a:lnTo>
                  <a:lnTo>
                    <a:pt x="0" y="56083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1445" r="0" b="-191445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38100"/>
              <a:ext cx="6949440" cy="5989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37170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Dependency never imported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097280" y="7936992"/>
            <a:ext cx="365760" cy="365760"/>
            <a:chOff x="0" y="0"/>
            <a:chExt cx="487680" cy="487680"/>
          </a:xfrm>
        </p:grpSpPr>
        <p:sp>
          <p:nvSpPr>
            <p:cNvPr name="Freeform 162" id="162" descr="FaTimesCircle_r.png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487680"/>
                  </a:lnTo>
                  <a:lnTo>
                    <a:pt x="0" y="487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163" id="163"/>
          <p:cNvGrpSpPr/>
          <p:nvPr/>
        </p:nvGrpSpPr>
        <p:grpSpPr>
          <a:xfrm rot="0">
            <a:off x="1691640" y="7909560"/>
            <a:ext cx="5212080" cy="420624"/>
            <a:chOff x="0" y="0"/>
            <a:chExt cx="6949440" cy="560832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6949440" cy="560832"/>
            </a:xfrm>
            <a:custGeom>
              <a:avLst/>
              <a:gdLst/>
              <a:ahLst/>
              <a:cxnLst/>
              <a:rect r="r" b="b" t="t" l="l"/>
              <a:pathLst>
                <a:path h="560832" w="6949440">
                  <a:moveTo>
                    <a:pt x="0" y="0"/>
                  </a:moveTo>
                  <a:lnTo>
                    <a:pt x="6949440" y="0"/>
                  </a:lnTo>
                  <a:lnTo>
                    <a:pt x="6949440" y="560832"/>
                  </a:lnTo>
                  <a:lnTo>
                    <a:pt x="0" y="56083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1445" r="0" b="-191445"/>
              </a:stretch>
            </a:blipFill>
          </p:spPr>
        </p:sp>
        <p:sp>
          <p:nvSpPr>
            <p:cNvPr name="TextBox 165" id="165"/>
            <p:cNvSpPr txBox="true"/>
            <p:nvPr/>
          </p:nvSpPr>
          <p:spPr>
            <a:xfrm>
              <a:off x="0" y="-38100"/>
              <a:ext cx="6949440" cy="5989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37170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SQL only in a README fence</a:t>
              </a:r>
            </a:p>
          </p:txBody>
        </p:sp>
      </p:grpSp>
      <p:grpSp>
        <p:nvGrpSpPr>
          <p:cNvPr name="Group 166" id="166"/>
          <p:cNvGrpSpPr/>
          <p:nvPr/>
        </p:nvGrpSpPr>
        <p:grpSpPr>
          <a:xfrm rot="0">
            <a:off x="7086600" y="7315200"/>
            <a:ext cx="457200" cy="365760"/>
            <a:chOff x="0" y="0"/>
            <a:chExt cx="609600" cy="487680"/>
          </a:xfrm>
        </p:grpSpPr>
        <p:sp>
          <p:nvSpPr>
            <p:cNvPr name="Freeform 167" id="167"/>
            <p:cNvSpPr/>
            <p:nvPr/>
          </p:nvSpPr>
          <p:spPr>
            <a:xfrm flipH="false" flipV="false" rot="0">
              <a:off x="0" y="0"/>
              <a:ext cx="6096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">
                  <a:moveTo>
                    <a:pt x="0" y="121920"/>
                  </a:moveTo>
                  <a:lnTo>
                    <a:pt x="365760" y="121920"/>
                  </a:lnTo>
                  <a:lnTo>
                    <a:pt x="365760" y="0"/>
                  </a:lnTo>
                  <a:lnTo>
                    <a:pt x="609600" y="243840"/>
                  </a:lnTo>
                  <a:lnTo>
                    <a:pt x="365760" y="487680"/>
                  </a:lnTo>
                  <a:lnTo>
                    <a:pt x="365760" y="365760"/>
                  </a:lnTo>
                  <a:lnTo>
                    <a:pt x="0" y="36576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168" id="168"/>
          <p:cNvGrpSpPr/>
          <p:nvPr/>
        </p:nvGrpSpPr>
        <p:grpSpPr>
          <a:xfrm rot="0">
            <a:off x="7570470" y="6884670"/>
            <a:ext cx="1363980" cy="1363980"/>
            <a:chOff x="0" y="0"/>
            <a:chExt cx="1818640" cy="1818640"/>
          </a:xfrm>
        </p:grpSpPr>
        <p:sp>
          <p:nvSpPr>
            <p:cNvPr name="Freeform 169" id="169"/>
            <p:cNvSpPr/>
            <p:nvPr/>
          </p:nvSpPr>
          <p:spPr>
            <a:xfrm flipH="false" flipV="false" rot="0">
              <a:off x="0" y="0"/>
              <a:ext cx="1818640" cy="1818640"/>
            </a:xfrm>
            <a:custGeom>
              <a:avLst/>
              <a:gdLst/>
              <a:ahLst/>
              <a:cxnLst/>
              <a:rect r="r" b="b" t="t" l="l"/>
              <a:pathLst>
                <a:path h="1818640" w="1818640">
                  <a:moveTo>
                    <a:pt x="0" y="909320"/>
                  </a:moveTo>
                  <a:cubicBezTo>
                    <a:pt x="0" y="407162"/>
                    <a:pt x="407162" y="0"/>
                    <a:pt x="909320" y="0"/>
                  </a:cubicBezTo>
                  <a:cubicBezTo>
                    <a:pt x="1411478" y="0"/>
                    <a:pt x="1818640" y="407162"/>
                    <a:pt x="1818640" y="909320"/>
                  </a:cubicBezTo>
                  <a:cubicBezTo>
                    <a:pt x="1818640" y="1411478"/>
                    <a:pt x="1411478" y="1818640"/>
                    <a:pt x="909320" y="1818640"/>
                  </a:cubicBezTo>
                  <a:cubicBezTo>
                    <a:pt x="407162" y="1818640"/>
                    <a:pt x="0" y="1411478"/>
                    <a:pt x="0" y="90932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70" id="170"/>
          <p:cNvGrpSpPr/>
          <p:nvPr/>
        </p:nvGrpSpPr>
        <p:grpSpPr>
          <a:xfrm rot="0">
            <a:off x="7947508" y="7261708"/>
            <a:ext cx="609905" cy="609905"/>
            <a:chOff x="0" y="0"/>
            <a:chExt cx="813206" cy="813206"/>
          </a:xfrm>
        </p:grpSpPr>
        <p:sp>
          <p:nvSpPr>
            <p:cNvPr name="Freeform 171" id="171" descr="FaShieldAlt_y.png"/>
            <p:cNvSpPr/>
            <p:nvPr/>
          </p:nvSpPr>
          <p:spPr>
            <a:xfrm flipH="false" flipV="false" rot="0">
              <a:off x="0" y="0"/>
              <a:ext cx="813181" cy="813181"/>
            </a:xfrm>
            <a:custGeom>
              <a:avLst/>
              <a:gdLst/>
              <a:ahLst/>
              <a:cxnLst/>
              <a:rect r="r" b="b" t="t" l="l"/>
              <a:pathLst>
                <a:path h="813181" w="813181">
                  <a:moveTo>
                    <a:pt x="0" y="0"/>
                  </a:moveTo>
                  <a:lnTo>
                    <a:pt x="813181" y="0"/>
                  </a:lnTo>
                  <a:lnTo>
                    <a:pt x="813181" y="813181"/>
                  </a:lnTo>
                  <a:lnTo>
                    <a:pt x="0" y="813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-3" b="-3"/>
              </a:stretch>
            </a:blipFill>
          </p:spPr>
        </p:sp>
      </p:grpSp>
      <p:grpSp>
        <p:nvGrpSpPr>
          <p:cNvPr name="Group 172" id="172"/>
          <p:cNvGrpSpPr/>
          <p:nvPr/>
        </p:nvGrpSpPr>
        <p:grpSpPr>
          <a:xfrm rot="0">
            <a:off x="8961120" y="7315200"/>
            <a:ext cx="457200" cy="365760"/>
            <a:chOff x="0" y="0"/>
            <a:chExt cx="609600" cy="487680"/>
          </a:xfrm>
        </p:grpSpPr>
        <p:sp>
          <p:nvSpPr>
            <p:cNvPr name="Freeform 173" id="173"/>
            <p:cNvSpPr/>
            <p:nvPr/>
          </p:nvSpPr>
          <p:spPr>
            <a:xfrm flipH="false" flipV="false" rot="0">
              <a:off x="0" y="0"/>
              <a:ext cx="6096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">
                  <a:moveTo>
                    <a:pt x="0" y="121920"/>
                  </a:moveTo>
                  <a:lnTo>
                    <a:pt x="365760" y="121920"/>
                  </a:lnTo>
                  <a:lnTo>
                    <a:pt x="365760" y="0"/>
                  </a:lnTo>
                  <a:lnTo>
                    <a:pt x="609600" y="243840"/>
                  </a:lnTo>
                  <a:lnTo>
                    <a:pt x="365760" y="487680"/>
                  </a:lnTo>
                  <a:lnTo>
                    <a:pt x="365760" y="365760"/>
                  </a:lnTo>
                  <a:lnTo>
                    <a:pt x="0" y="365760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sp>
        <p:nvSpPr>
          <p:cNvPr name="TextBox 174" id="174"/>
          <p:cNvSpPr txBox="true"/>
          <p:nvPr/>
        </p:nvSpPr>
        <p:spPr>
          <a:xfrm rot="0">
            <a:off x="7040880" y="8155305"/>
            <a:ext cx="246888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 b="true">
                <a:solidFill>
                  <a:srgbClr val="73201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GUARD</a:t>
            </a:r>
          </a:p>
        </p:txBody>
      </p:sp>
      <p:grpSp>
        <p:nvGrpSpPr>
          <p:cNvPr name="Group 175" id="175"/>
          <p:cNvGrpSpPr/>
          <p:nvPr/>
        </p:nvGrpSpPr>
        <p:grpSpPr>
          <a:xfrm rot="0">
            <a:off x="9444990" y="6564630"/>
            <a:ext cx="8039100" cy="1866900"/>
            <a:chOff x="0" y="0"/>
            <a:chExt cx="10718800" cy="2489200"/>
          </a:xfrm>
        </p:grpSpPr>
        <p:sp>
          <p:nvSpPr>
            <p:cNvPr name="Freeform 176" id="176"/>
            <p:cNvSpPr/>
            <p:nvPr/>
          </p:nvSpPr>
          <p:spPr>
            <a:xfrm flipH="false" flipV="false" rot="0">
              <a:off x="0" y="0"/>
              <a:ext cx="10718800" cy="2489200"/>
            </a:xfrm>
            <a:custGeom>
              <a:avLst/>
              <a:gdLst/>
              <a:ahLst/>
              <a:cxnLst/>
              <a:rect r="r" b="b" t="t" l="l"/>
              <a:pathLst>
                <a:path h="2489200" w="10718800">
                  <a:moveTo>
                    <a:pt x="0" y="186690"/>
                  </a:moveTo>
                  <a:cubicBezTo>
                    <a:pt x="0" y="83566"/>
                    <a:pt x="83566" y="0"/>
                    <a:pt x="186690" y="0"/>
                  </a:cubicBezTo>
                  <a:lnTo>
                    <a:pt x="10532110" y="0"/>
                  </a:lnTo>
                  <a:cubicBezTo>
                    <a:pt x="10635234" y="0"/>
                    <a:pt x="10718800" y="83566"/>
                    <a:pt x="10718800" y="186690"/>
                  </a:cubicBezTo>
                  <a:lnTo>
                    <a:pt x="10718800" y="2302510"/>
                  </a:lnTo>
                  <a:cubicBezTo>
                    <a:pt x="10718800" y="2405634"/>
                    <a:pt x="10635234" y="2489200"/>
                    <a:pt x="10532110" y="2489200"/>
                  </a:cubicBezTo>
                  <a:lnTo>
                    <a:pt x="186690" y="2489200"/>
                  </a:lnTo>
                  <a:cubicBezTo>
                    <a:pt x="83566" y="2489200"/>
                    <a:pt x="0" y="2405634"/>
                    <a:pt x="0" y="2302510"/>
                  </a:cubicBezTo>
                  <a:close/>
                </a:path>
              </a:pathLst>
            </a:custGeom>
            <a:solidFill>
              <a:srgbClr val="E3F2EA"/>
            </a:solidFill>
            <a:ln w="38100" cap="sq">
              <a:solidFill>
                <a:srgbClr val="1F8A5B"/>
              </a:solidFill>
              <a:prstDash val="solid"/>
              <a:miter/>
            </a:ln>
          </p:spPr>
        </p:sp>
      </p:grpSp>
      <p:grpSp>
        <p:nvGrpSpPr>
          <p:cNvPr name="Group 177" id="177"/>
          <p:cNvGrpSpPr/>
          <p:nvPr/>
        </p:nvGrpSpPr>
        <p:grpSpPr>
          <a:xfrm rot="0">
            <a:off x="9738360" y="6355080"/>
            <a:ext cx="3566160" cy="438912"/>
            <a:chOff x="0" y="0"/>
            <a:chExt cx="4754880" cy="585216"/>
          </a:xfrm>
        </p:grpSpPr>
        <p:sp>
          <p:nvSpPr>
            <p:cNvPr name="Freeform 178" id="178"/>
            <p:cNvSpPr/>
            <p:nvPr/>
          </p:nvSpPr>
          <p:spPr>
            <a:xfrm flipH="false" flipV="false" rot="0">
              <a:off x="0" y="0"/>
              <a:ext cx="4754880" cy="585216"/>
            </a:xfrm>
            <a:custGeom>
              <a:avLst/>
              <a:gdLst/>
              <a:ahLst/>
              <a:cxnLst/>
              <a:rect r="r" b="b" t="t" l="l"/>
              <a:pathLst>
                <a:path h="585216" w="4754880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lnTo>
                    <a:pt x="4462272" y="0"/>
                  </a:lnTo>
                  <a:cubicBezTo>
                    <a:pt x="4623816" y="0"/>
                    <a:pt x="4754880" y="131064"/>
                    <a:pt x="4754880" y="292608"/>
                  </a:cubicBezTo>
                  <a:cubicBezTo>
                    <a:pt x="4754880" y="454152"/>
                    <a:pt x="4623816" y="585216"/>
                    <a:pt x="4462272" y="585216"/>
                  </a:cubicBezTo>
                  <a:lnTo>
                    <a:pt x="292608" y="585216"/>
                  </a:ln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1F8A5B"/>
            </a:solidFill>
          </p:spPr>
        </p:sp>
        <p:sp>
          <p:nvSpPr>
            <p:cNvPr name="TextBox 179" id="179"/>
            <p:cNvSpPr txBox="true"/>
            <p:nvPr/>
          </p:nvSpPr>
          <p:spPr>
            <a:xfrm>
              <a:off x="0" y="-38100"/>
              <a:ext cx="4754880" cy="6233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 USE → COUNTED</a:t>
              </a:r>
            </a:p>
          </p:txBody>
        </p:sp>
      </p:grpSp>
      <p:grpSp>
        <p:nvGrpSpPr>
          <p:cNvPr name="Group 180" id="180"/>
          <p:cNvGrpSpPr/>
          <p:nvPr/>
        </p:nvGrpSpPr>
        <p:grpSpPr>
          <a:xfrm rot="0">
            <a:off x="9738360" y="7059168"/>
            <a:ext cx="365760" cy="365760"/>
            <a:chOff x="0" y="0"/>
            <a:chExt cx="487680" cy="487680"/>
          </a:xfrm>
        </p:grpSpPr>
        <p:sp>
          <p:nvSpPr>
            <p:cNvPr name="Freeform 181" id="181" descr="FaCheckCircle_g.png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487680"/>
                  </a:lnTo>
                  <a:lnTo>
                    <a:pt x="0" y="487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grpSp>
        <p:nvGrpSpPr>
          <p:cNvPr name="Group 182" id="182"/>
          <p:cNvGrpSpPr/>
          <p:nvPr/>
        </p:nvGrpSpPr>
        <p:grpSpPr>
          <a:xfrm rot="0">
            <a:off x="10332720" y="7031736"/>
            <a:ext cx="6949440" cy="420624"/>
            <a:chOff x="0" y="0"/>
            <a:chExt cx="9265920" cy="560832"/>
          </a:xfrm>
        </p:grpSpPr>
        <p:sp>
          <p:nvSpPr>
            <p:cNvPr name="Freeform 183" id="183"/>
            <p:cNvSpPr/>
            <p:nvPr/>
          </p:nvSpPr>
          <p:spPr>
            <a:xfrm flipH="false" flipV="false" rot="0">
              <a:off x="0" y="0"/>
              <a:ext cx="9265920" cy="560832"/>
            </a:xfrm>
            <a:custGeom>
              <a:avLst/>
              <a:gdLst/>
              <a:ahLst/>
              <a:cxnLst/>
              <a:rect r="r" b="b" t="t" l="l"/>
              <a:pathLst>
                <a:path h="560832" w="9265920">
                  <a:moveTo>
                    <a:pt x="0" y="0"/>
                  </a:moveTo>
                  <a:lnTo>
                    <a:pt x="9265920" y="0"/>
                  </a:lnTo>
                  <a:lnTo>
                    <a:pt x="9265920" y="560832"/>
                  </a:lnTo>
                  <a:lnTo>
                    <a:pt x="0" y="56083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71926" r="0" b="-271926"/>
              </a:stretch>
            </a:blipFill>
          </p:spPr>
        </p:sp>
        <p:sp>
          <p:nvSpPr>
            <p:cNvPr name="TextBox 184" id="184"/>
            <p:cNvSpPr txBox="true"/>
            <p:nvPr/>
          </p:nvSpPr>
          <p:spPr>
            <a:xfrm>
              <a:off x="0" y="-38100"/>
              <a:ext cx="9265920" cy="5989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37170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Assertions that call project code</a:t>
              </a:r>
            </a:p>
          </p:txBody>
        </p:sp>
      </p:grpSp>
      <p:grpSp>
        <p:nvGrpSpPr>
          <p:cNvPr name="Group 185" id="185"/>
          <p:cNvGrpSpPr/>
          <p:nvPr/>
        </p:nvGrpSpPr>
        <p:grpSpPr>
          <a:xfrm rot="0">
            <a:off x="9738360" y="7498080"/>
            <a:ext cx="365760" cy="365760"/>
            <a:chOff x="0" y="0"/>
            <a:chExt cx="487680" cy="487680"/>
          </a:xfrm>
        </p:grpSpPr>
        <p:sp>
          <p:nvSpPr>
            <p:cNvPr name="Freeform 186" id="186" descr="FaCheckCircle_g.png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487680"/>
                  </a:lnTo>
                  <a:lnTo>
                    <a:pt x="0" y="487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grpSp>
        <p:nvGrpSpPr>
          <p:cNvPr name="Group 187" id="187"/>
          <p:cNvGrpSpPr/>
          <p:nvPr/>
        </p:nvGrpSpPr>
        <p:grpSpPr>
          <a:xfrm rot="0">
            <a:off x="10332720" y="7470648"/>
            <a:ext cx="6949440" cy="420624"/>
            <a:chOff x="0" y="0"/>
            <a:chExt cx="9265920" cy="560832"/>
          </a:xfrm>
        </p:grpSpPr>
        <p:sp>
          <p:nvSpPr>
            <p:cNvPr name="Freeform 188" id="188"/>
            <p:cNvSpPr/>
            <p:nvPr/>
          </p:nvSpPr>
          <p:spPr>
            <a:xfrm flipH="false" flipV="false" rot="0">
              <a:off x="0" y="0"/>
              <a:ext cx="9265920" cy="560832"/>
            </a:xfrm>
            <a:custGeom>
              <a:avLst/>
              <a:gdLst/>
              <a:ahLst/>
              <a:cxnLst/>
              <a:rect r="r" b="b" t="t" l="l"/>
              <a:pathLst>
                <a:path h="560832" w="9265920">
                  <a:moveTo>
                    <a:pt x="0" y="0"/>
                  </a:moveTo>
                  <a:lnTo>
                    <a:pt x="9265920" y="0"/>
                  </a:lnTo>
                  <a:lnTo>
                    <a:pt x="9265920" y="560832"/>
                  </a:lnTo>
                  <a:lnTo>
                    <a:pt x="0" y="56083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71926" r="0" b="-271926"/>
              </a:stretch>
            </a:blipFill>
          </p:spPr>
        </p:sp>
        <p:sp>
          <p:nvSpPr>
            <p:cNvPr name="TextBox 189" id="189"/>
            <p:cNvSpPr txBox="true"/>
            <p:nvPr/>
          </p:nvSpPr>
          <p:spPr>
            <a:xfrm>
              <a:off x="0" y="-38100"/>
              <a:ext cx="9265920" cy="5989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37170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Query reachable from a route</a:t>
              </a:r>
            </a:p>
          </p:txBody>
        </p:sp>
      </p:grpSp>
      <p:grpSp>
        <p:nvGrpSpPr>
          <p:cNvPr name="Group 190" id="190"/>
          <p:cNvGrpSpPr/>
          <p:nvPr/>
        </p:nvGrpSpPr>
        <p:grpSpPr>
          <a:xfrm rot="0">
            <a:off x="9738360" y="7936992"/>
            <a:ext cx="365760" cy="365760"/>
            <a:chOff x="0" y="0"/>
            <a:chExt cx="487680" cy="487680"/>
          </a:xfrm>
        </p:grpSpPr>
        <p:sp>
          <p:nvSpPr>
            <p:cNvPr name="Freeform 191" id="191" descr="FaCheckCircle_g.png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487680"/>
                  </a:lnTo>
                  <a:lnTo>
                    <a:pt x="0" y="487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grpSp>
        <p:nvGrpSpPr>
          <p:cNvPr name="Group 192" id="192"/>
          <p:cNvGrpSpPr/>
          <p:nvPr/>
        </p:nvGrpSpPr>
        <p:grpSpPr>
          <a:xfrm rot="0">
            <a:off x="10332720" y="7909560"/>
            <a:ext cx="6949440" cy="420624"/>
            <a:chOff x="0" y="0"/>
            <a:chExt cx="9265920" cy="560832"/>
          </a:xfrm>
        </p:grpSpPr>
        <p:sp>
          <p:nvSpPr>
            <p:cNvPr name="Freeform 193" id="193"/>
            <p:cNvSpPr/>
            <p:nvPr/>
          </p:nvSpPr>
          <p:spPr>
            <a:xfrm flipH="false" flipV="false" rot="0">
              <a:off x="0" y="0"/>
              <a:ext cx="9265920" cy="560832"/>
            </a:xfrm>
            <a:custGeom>
              <a:avLst/>
              <a:gdLst/>
              <a:ahLst/>
              <a:cxnLst/>
              <a:rect r="r" b="b" t="t" l="l"/>
              <a:pathLst>
                <a:path h="560832" w="9265920">
                  <a:moveTo>
                    <a:pt x="0" y="0"/>
                  </a:moveTo>
                  <a:lnTo>
                    <a:pt x="9265920" y="0"/>
                  </a:lnTo>
                  <a:lnTo>
                    <a:pt x="9265920" y="560832"/>
                  </a:lnTo>
                  <a:lnTo>
                    <a:pt x="0" y="56083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71926" r="0" b="-271926"/>
              </a:stretch>
            </a:blipFill>
          </p:spPr>
        </p:sp>
        <p:sp>
          <p:nvSpPr>
            <p:cNvPr name="TextBox 194" id="194"/>
            <p:cNvSpPr txBox="true"/>
            <p:nvPr/>
          </p:nvSpPr>
          <p:spPr>
            <a:xfrm>
              <a:off x="0" y="-38100"/>
              <a:ext cx="9265920" cy="5989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37170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Dockerfile with real build steps</a:t>
              </a:r>
            </a:p>
          </p:txBody>
        </p:sp>
      </p:grpSp>
      <p:grpSp>
        <p:nvGrpSpPr>
          <p:cNvPr name="Group 195" id="195"/>
          <p:cNvGrpSpPr/>
          <p:nvPr/>
        </p:nvGrpSpPr>
        <p:grpSpPr>
          <a:xfrm rot="0">
            <a:off x="807082" y="8625202"/>
            <a:ext cx="5335267" cy="900427"/>
            <a:chOff x="0" y="0"/>
            <a:chExt cx="7113689" cy="1200569"/>
          </a:xfrm>
        </p:grpSpPr>
        <p:sp>
          <p:nvSpPr>
            <p:cNvPr name="Freeform 196" id="196"/>
            <p:cNvSpPr/>
            <p:nvPr/>
          </p:nvSpPr>
          <p:spPr>
            <a:xfrm flipH="false" flipV="false" rot="0">
              <a:off x="0" y="0"/>
              <a:ext cx="7113778" cy="1200658"/>
            </a:xfrm>
            <a:custGeom>
              <a:avLst/>
              <a:gdLst/>
              <a:ahLst/>
              <a:cxnLst/>
              <a:rect r="r" b="b" t="t" l="l"/>
              <a:pathLst>
                <a:path h="1200658" w="7113778">
                  <a:moveTo>
                    <a:pt x="0" y="189611"/>
                  </a:moveTo>
                  <a:cubicBezTo>
                    <a:pt x="0" y="84836"/>
                    <a:pt x="84836" y="0"/>
                    <a:pt x="189611" y="0"/>
                  </a:cubicBezTo>
                  <a:lnTo>
                    <a:pt x="6924167" y="0"/>
                  </a:lnTo>
                  <a:cubicBezTo>
                    <a:pt x="7028815" y="0"/>
                    <a:pt x="7113778" y="84836"/>
                    <a:pt x="7113778" y="189611"/>
                  </a:cubicBezTo>
                  <a:lnTo>
                    <a:pt x="7113778" y="1011047"/>
                  </a:lnTo>
                  <a:cubicBezTo>
                    <a:pt x="7113778" y="1115695"/>
                    <a:pt x="7028942" y="1200658"/>
                    <a:pt x="6924167" y="1200658"/>
                  </a:cubicBezTo>
                  <a:lnTo>
                    <a:pt x="189611" y="1200658"/>
                  </a:lnTo>
                  <a:cubicBezTo>
                    <a:pt x="84836" y="1200531"/>
                    <a:pt x="0" y="1115695"/>
                    <a:pt x="0" y="101104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197" id="197"/>
          <p:cNvGrpSpPr/>
          <p:nvPr/>
        </p:nvGrpSpPr>
        <p:grpSpPr>
          <a:xfrm rot="0">
            <a:off x="1051560" y="8641080"/>
            <a:ext cx="2011680" cy="868680"/>
            <a:chOff x="0" y="0"/>
            <a:chExt cx="2682240" cy="1158240"/>
          </a:xfrm>
        </p:grpSpPr>
        <p:sp>
          <p:nvSpPr>
            <p:cNvPr name="Freeform 198" id="198"/>
            <p:cNvSpPr/>
            <p:nvPr/>
          </p:nvSpPr>
          <p:spPr>
            <a:xfrm flipH="false" flipV="false" rot="0">
              <a:off x="0" y="0"/>
              <a:ext cx="2682240" cy="1158240"/>
            </a:xfrm>
            <a:custGeom>
              <a:avLst/>
              <a:gdLst/>
              <a:ahLst/>
              <a:cxnLst/>
              <a:rect r="r" b="b" t="t" l="l"/>
              <a:pathLst>
                <a:path h="1158240" w="2682240">
                  <a:moveTo>
                    <a:pt x="0" y="0"/>
                  </a:moveTo>
                  <a:lnTo>
                    <a:pt x="2682240" y="0"/>
                  </a:lnTo>
                  <a:lnTo>
                    <a:pt x="268224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403" t="0" r="-5403" b="0"/>
              </a:stretch>
            </a:blipFill>
          </p:spPr>
        </p:sp>
        <p:sp>
          <p:nvSpPr>
            <p:cNvPr name="TextBox 199" id="199"/>
            <p:cNvSpPr txBox="true"/>
            <p:nvPr/>
          </p:nvSpPr>
          <p:spPr>
            <a:xfrm>
              <a:off x="0" y="-38100"/>
              <a:ext cx="268224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b="true">
                  <a:solidFill>
                    <a:srgbClr val="73201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signal type</a:t>
              </a:r>
            </a:p>
          </p:txBody>
        </p:sp>
      </p:grpSp>
      <p:grpSp>
        <p:nvGrpSpPr>
          <p:cNvPr name="Group 200" id="200"/>
          <p:cNvGrpSpPr/>
          <p:nvPr/>
        </p:nvGrpSpPr>
        <p:grpSpPr>
          <a:xfrm rot="0">
            <a:off x="3063240" y="8805672"/>
            <a:ext cx="548640" cy="548640"/>
            <a:chOff x="0" y="0"/>
            <a:chExt cx="731520" cy="731520"/>
          </a:xfrm>
        </p:grpSpPr>
        <p:sp>
          <p:nvSpPr>
            <p:cNvPr name="Freeform 201" id="201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371704"/>
            </a:solidFill>
          </p:spPr>
        </p:sp>
      </p:grpSp>
      <p:grpSp>
        <p:nvGrpSpPr>
          <p:cNvPr name="Group 202" id="202"/>
          <p:cNvGrpSpPr/>
          <p:nvPr/>
        </p:nvGrpSpPr>
        <p:grpSpPr>
          <a:xfrm rot="0">
            <a:off x="3194914" y="8937346"/>
            <a:ext cx="285293" cy="285293"/>
            <a:chOff x="0" y="0"/>
            <a:chExt cx="380390" cy="380390"/>
          </a:xfrm>
        </p:grpSpPr>
        <p:sp>
          <p:nvSpPr>
            <p:cNvPr name="Freeform 203" id="203" descr="FaCode_w.png"/>
            <p:cNvSpPr/>
            <p:nvPr/>
          </p:nvSpPr>
          <p:spPr>
            <a:xfrm flipH="false" flipV="false" rot="0">
              <a:off x="0" y="0"/>
              <a:ext cx="380365" cy="380365"/>
            </a:xfrm>
            <a:custGeom>
              <a:avLst/>
              <a:gdLst/>
              <a:ahLst/>
              <a:cxnLst/>
              <a:rect r="r" b="b" t="t" l="l"/>
              <a:pathLst>
                <a:path h="380365" w="380365">
                  <a:moveTo>
                    <a:pt x="0" y="0"/>
                  </a:moveTo>
                  <a:lnTo>
                    <a:pt x="380365" y="0"/>
                  </a:lnTo>
                  <a:lnTo>
                    <a:pt x="380365" y="380365"/>
                  </a:lnTo>
                  <a:lnTo>
                    <a:pt x="0" y="3803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-6" b="-6"/>
              </a:stretch>
            </a:blipFill>
          </p:spPr>
        </p:sp>
      </p:grpSp>
      <p:grpSp>
        <p:nvGrpSpPr>
          <p:cNvPr name="Group 204" id="204"/>
          <p:cNvGrpSpPr/>
          <p:nvPr/>
        </p:nvGrpSpPr>
        <p:grpSpPr>
          <a:xfrm rot="0">
            <a:off x="4279392" y="8915400"/>
            <a:ext cx="329184" cy="310896"/>
            <a:chOff x="0" y="0"/>
            <a:chExt cx="438912" cy="414528"/>
          </a:xfrm>
        </p:grpSpPr>
        <p:sp>
          <p:nvSpPr>
            <p:cNvPr name="Freeform 205" id="205"/>
            <p:cNvSpPr/>
            <p:nvPr/>
          </p:nvSpPr>
          <p:spPr>
            <a:xfrm flipH="false" flipV="false" rot="0">
              <a:off x="0" y="0"/>
              <a:ext cx="438912" cy="414528"/>
            </a:xfrm>
            <a:custGeom>
              <a:avLst/>
              <a:gdLst/>
              <a:ahLst/>
              <a:cxnLst/>
              <a:rect r="r" b="b" t="t" l="l"/>
              <a:pathLst>
                <a:path h="414528" w="438912">
                  <a:moveTo>
                    <a:pt x="0" y="103632"/>
                  </a:moveTo>
                  <a:lnTo>
                    <a:pt x="231648" y="103632"/>
                  </a:lnTo>
                  <a:lnTo>
                    <a:pt x="231648" y="0"/>
                  </a:lnTo>
                  <a:lnTo>
                    <a:pt x="438912" y="207264"/>
                  </a:lnTo>
                  <a:lnTo>
                    <a:pt x="231648" y="414528"/>
                  </a:lnTo>
                  <a:lnTo>
                    <a:pt x="231648" y="310896"/>
                  </a:lnTo>
                  <a:lnTo>
                    <a:pt x="0" y="310896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206" id="206"/>
          <p:cNvGrpSpPr/>
          <p:nvPr/>
        </p:nvGrpSpPr>
        <p:grpSpPr>
          <a:xfrm rot="0">
            <a:off x="4690110" y="8804910"/>
            <a:ext cx="1318260" cy="541020"/>
            <a:chOff x="0" y="0"/>
            <a:chExt cx="1757680" cy="721360"/>
          </a:xfrm>
        </p:grpSpPr>
        <p:sp>
          <p:nvSpPr>
            <p:cNvPr name="Freeform 207" id="207"/>
            <p:cNvSpPr/>
            <p:nvPr/>
          </p:nvSpPr>
          <p:spPr>
            <a:xfrm flipH="false" flipV="false" rot="0">
              <a:off x="0" y="0"/>
              <a:ext cx="1757680" cy="721360"/>
            </a:xfrm>
            <a:custGeom>
              <a:avLst/>
              <a:gdLst/>
              <a:ahLst/>
              <a:cxnLst/>
              <a:rect r="r" b="b" t="t" l="l"/>
              <a:pathLst>
                <a:path h="721360" w="1757680">
                  <a:moveTo>
                    <a:pt x="0" y="157353"/>
                  </a:moveTo>
                  <a:cubicBezTo>
                    <a:pt x="0" y="70485"/>
                    <a:pt x="70485" y="0"/>
                    <a:pt x="157353" y="0"/>
                  </a:cubicBezTo>
                  <a:lnTo>
                    <a:pt x="1600327" y="0"/>
                  </a:lnTo>
                  <a:cubicBezTo>
                    <a:pt x="1687195" y="0"/>
                    <a:pt x="1757680" y="70485"/>
                    <a:pt x="1757680" y="157353"/>
                  </a:cubicBezTo>
                  <a:lnTo>
                    <a:pt x="1757680" y="564007"/>
                  </a:lnTo>
                  <a:cubicBezTo>
                    <a:pt x="1757680" y="650875"/>
                    <a:pt x="1687195" y="721360"/>
                    <a:pt x="1600327" y="721360"/>
                  </a:cubicBezTo>
                  <a:lnTo>
                    <a:pt x="157353" y="721360"/>
                  </a:lnTo>
                  <a:cubicBezTo>
                    <a:pt x="70485" y="721360"/>
                    <a:pt x="0" y="650875"/>
                    <a:pt x="0" y="564007"/>
                  </a:cubicBezTo>
                  <a:close/>
                </a:path>
              </a:pathLst>
            </a:custGeom>
            <a:solidFill>
              <a:srgbClr val="F8ECD3"/>
            </a:solidFill>
            <a:ln w="38100" cap="sq">
              <a:solidFill>
                <a:srgbClr val="9A6512"/>
              </a:solidFill>
              <a:prstDash val="solid"/>
              <a:miter/>
            </a:ln>
          </p:spPr>
        </p:sp>
        <p:sp>
          <p:nvSpPr>
            <p:cNvPr name="TextBox 208" id="208"/>
            <p:cNvSpPr txBox="true"/>
            <p:nvPr/>
          </p:nvSpPr>
          <p:spPr>
            <a:xfrm>
              <a:off x="0" y="-38100"/>
              <a:ext cx="1757680" cy="7594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9A651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BASIC</a:t>
              </a:r>
            </a:p>
          </p:txBody>
        </p:sp>
      </p:grpSp>
      <p:grpSp>
        <p:nvGrpSpPr>
          <p:cNvPr name="Group 209" id="209"/>
          <p:cNvGrpSpPr/>
          <p:nvPr/>
        </p:nvGrpSpPr>
        <p:grpSpPr>
          <a:xfrm rot="0">
            <a:off x="6476362" y="8625202"/>
            <a:ext cx="5335267" cy="900427"/>
            <a:chOff x="0" y="0"/>
            <a:chExt cx="7113689" cy="1200569"/>
          </a:xfrm>
        </p:grpSpPr>
        <p:sp>
          <p:nvSpPr>
            <p:cNvPr name="Freeform 210" id="210"/>
            <p:cNvSpPr/>
            <p:nvPr/>
          </p:nvSpPr>
          <p:spPr>
            <a:xfrm flipH="false" flipV="false" rot="0">
              <a:off x="0" y="0"/>
              <a:ext cx="7113778" cy="1200658"/>
            </a:xfrm>
            <a:custGeom>
              <a:avLst/>
              <a:gdLst/>
              <a:ahLst/>
              <a:cxnLst/>
              <a:rect r="r" b="b" t="t" l="l"/>
              <a:pathLst>
                <a:path h="1200658" w="7113778">
                  <a:moveTo>
                    <a:pt x="0" y="189611"/>
                  </a:moveTo>
                  <a:cubicBezTo>
                    <a:pt x="0" y="84836"/>
                    <a:pt x="84836" y="0"/>
                    <a:pt x="189611" y="0"/>
                  </a:cubicBezTo>
                  <a:lnTo>
                    <a:pt x="6924167" y="0"/>
                  </a:lnTo>
                  <a:cubicBezTo>
                    <a:pt x="7028815" y="0"/>
                    <a:pt x="7113778" y="84836"/>
                    <a:pt x="7113778" y="189611"/>
                  </a:cubicBezTo>
                  <a:lnTo>
                    <a:pt x="7113778" y="1011047"/>
                  </a:lnTo>
                  <a:cubicBezTo>
                    <a:pt x="7113778" y="1115695"/>
                    <a:pt x="7028942" y="1200658"/>
                    <a:pt x="6924167" y="1200658"/>
                  </a:cubicBezTo>
                  <a:lnTo>
                    <a:pt x="189611" y="1200658"/>
                  </a:lnTo>
                  <a:cubicBezTo>
                    <a:pt x="84836" y="1200531"/>
                    <a:pt x="0" y="1115695"/>
                    <a:pt x="0" y="101104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211" id="211"/>
          <p:cNvGrpSpPr/>
          <p:nvPr/>
        </p:nvGrpSpPr>
        <p:grpSpPr>
          <a:xfrm rot="0">
            <a:off x="6720840" y="8641080"/>
            <a:ext cx="2011680" cy="868680"/>
            <a:chOff x="0" y="0"/>
            <a:chExt cx="2682240" cy="1158240"/>
          </a:xfrm>
        </p:grpSpPr>
        <p:sp>
          <p:nvSpPr>
            <p:cNvPr name="Freeform 212" id="212"/>
            <p:cNvSpPr/>
            <p:nvPr/>
          </p:nvSpPr>
          <p:spPr>
            <a:xfrm flipH="false" flipV="false" rot="0">
              <a:off x="0" y="0"/>
              <a:ext cx="2682240" cy="1158240"/>
            </a:xfrm>
            <a:custGeom>
              <a:avLst/>
              <a:gdLst/>
              <a:ahLst/>
              <a:cxnLst/>
              <a:rect r="r" b="b" t="t" l="l"/>
              <a:pathLst>
                <a:path h="1158240" w="2682240">
                  <a:moveTo>
                    <a:pt x="0" y="0"/>
                  </a:moveTo>
                  <a:lnTo>
                    <a:pt x="2682240" y="0"/>
                  </a:lnTo>
                  <a:lnTo>
                    <a:pt x="268224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403" t="0" r="-5403" b="0"/>
              </a:stretch>
            </a:blipFill>
          </p:spPr>
        </p:sp>
        <p:sp>
          <p:nvSpPr>
            <p:cNvPr name="TextBox 213" id="213"/>
            <p:cNvSpPr txBox="true"/>
            <p:nvPr/>
          </p:nvSpPr>
          <p:spPr>
            <a:xfrm>
              <a:off x="0" y="-38100"/>
              <a:ext cx="268224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b="true">
                  <a:solidFill>
                    <a:srgbClr val="73201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signal types</a:t>
              </a:r>
            </a:p>
          </p:txBody>
        </p:sp>
      </p:grpSp>
      <p:grpSp>
        <p:nvGrpSpPr>
          <p:cNvPr name="Group 214" id="214"/>
          <p:cNvGrpSpPr/>
          <p:nvPr/>
        </p:nvGrpSpPr>
        <p:grpSpPr>
          <a:xfrm rot="0">
            <a:off x="8732520" y="8805672"/>
            <a:ext cx="548640" cy="548640"/>
            <a:chOff x="0" y="0"/>
            <a:chExt cx="731520" cy="731520"/>
          </a:xfrm>
        </p:grpSpPr>
        <p:sp>
          <p:nvSpPr>
            <p:cNvPr name="Freeform 215" id="215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371704"/>
            </a:solidFill>
          </p:spPr>
        </p:sp>
      </p:grpSp>
      <p:grpSp>
        <p:nvGrpSpPr>
          <p:cNvPr name="Group 216" id="216"/>
          <p:cNvGrpSpPr/>
          <p:nvPr/>
        </p:nvGrpSpPr>
        <p:grpSpPr>
          <a:xfrm rot="0">
            <a:off x="8864194" y="8937346"/>
            <a:ext cx="285293" cy="285293"/>
            <a:chOff x="0" y="0"/>
            <a:chExt cx="380390" cy="380390"/>
          </a:xfrm>
        </p:grpSpPr>
        <p:sp>
          <p:nvSpPr>
            <p:cNvPr name="Freeform 217" id="217" descr="FaCode_w.png"/>
            <p:cNvSpPr/>
            <p:nvPr/>
          </p:nvSpPr>
          <p:spPr>
            <a:xfrm flipH="false" flipV="false" rot="0">
              <a:off x="0" y="0"/>
              <a:ext cx="380365" cy="380365"/>
            </a:xfrm>
            <a:custGeom>
              <a:avLst/>
              <a:gdLst/>
              <a:ahLst/>
              <a:cxnLst/>
              <a:rect r="r" b="b" t="t" l="l"/>
              <a:pathLst>
                <a:path h="380365" w="380365">
                  <a:moveTo>
                    <a:pt x="0" y="0"/>
                  </a:moveTo>
                  <a:lnTo>
                    <a:pt x="380365" y="0"/>
                  </a:lnTo>
                  <a:lnTo>
                    <a:pt x="380365" y="380365"/>
                  </a:lnTo>
                  <a:lnTo>
                    <a:pt x="0" y="3803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-6" b="-6"/>
              </a:stretch>
            </a:blipFill>
          </p:spPr>
        </p:sp>
      </p:grpSp>
      <p:grpSp>
        <p:nvGrpSpPr>
          <p:cNvPr name="Group 218" id="218"/>
          <p:cNvGrpSpPr/>
          <p:nvPr/>
        </p:nvGrpSpPr>
        <p:grpSpPr>
          <a:xfrm rot="0">
            <a:off x="9354312" y="8805672"/>
            <a:ext cx="548640" cy="548640"/>
            <a:chOff x="0" y="0"/>
            <a:chExt cx="731520" cy="731520"/>
          </a:xfrm>
        </p:grpSpPr>
        <p:sp>
          <p:nvSpPr>
            <p:cNvPr name="Freeform 219" id="219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371704"/>
            </a:solidFill>
          </p:spPr>
        </p:sp>
      </p:grpSp>
      <p:grpSp>
        <p:nvGrpSpPr>
          <p:cNvPr name="Group 220" id="220"/>
          <p:cNvGrpSpPr/>
          <p:nvPr/>
        </p:nvGrpSpPr>
        <p:grpSpPr>
          <a:xfrm rot="0">
            <a:off x="9485986" y="8937346"/>
            <a:ext cx="285293" cy="285293"/>
            <a:chOff x="0" y="0"/>
            <a:chExt cx="380390" cy="380390"/>
          </a:xfrm>
        </p:grpSpPr>
        <p:sp>
          <p:nvSpPr>
            <p:cNvPr name="Freeform 221" id="221" descr="FaFlask_w.png"/>
            <p:cNvSpPr/>
            <p:nvPr/>
          </p:nvSpPr>
          <p:spPr>
            <a:xfrm flipH="false" flipV="false" rot="0">
              <a:off x="0" y="0"/>
              <a:ext cx="380365" cy="380365"/>
            </a:xfrm>
            <a:custGeom>
              <a:avLst/>
              <a:gdLst/>
              <a:ahLst/>
              <a:cxnLst/>
              <a:rect r="r" b="b" t="t" l="l"/>
              <a:pathLst>
                <a:path h="380365" w="380365">
                  <a:moveTo>
                    <a:pt x="0" y="0"/>
                  </a:moveTo>
                  <a:lnTo>
                    <a:pt x="380365" y="0"/>
                  </a:lnTo>
                  <a:lnTo>
                    <a:pt x="380365" y="380365"/>
                  </a:lnTo>
                  <a:lnTo>
                    <a:pt x="0" y="3803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-6" b="-6"/>
              </a:stretch>
            </a:blipFill>
          </p:spPr>
        </p:sp>
      </p:grpSp>
      <p:grpSp>
        <p:nvGrpSpPr>
          <p:cNvPr name="Group 222" id="222"/>
          <p:cNvGrpSpPr/>
          <p:nvPr/>
        </p:nvGrpSpPr>
        <p:grpSpPr>
          <a:xfrm rot="0">
            <a:off x="9948672" y="8915400"/>
            <a:ext cx="329184" cy="310896"/>
            <a:chOff x="0" y="0"/>
            <a:chExt cx="438912" cy="414528"/>
          </a:xfrm>
        </p:grpSpPr>
        <p:sp>
          <p:nvSpPr>
            <p:cNvPr name="Freeform 223" id="223"/>
            <p:cNvSpPr/>
            <p:nvPr/>
          </p:nvSpPr>
          <p:spPr>
            <a:xfrm flipH="false" flipV="false" rot="0">
              <a:off x="0" y="0"/>
              <a:ext cx="438912" cy="414528"/>
            </a:xfrm>
            <a:custGeom>
              <a:avLst/>
              <a:gdLst/>
              <a:ahLst/>
              <a:cxnLst/>
              <a:rect r="r" b="b" t="t" l="l"/>
              <a:pathLst>
                <a:path h="414528" w="438912">
                  <a:moveTo>
                    <a:pt x="0" y="103632"/>
                  </a:moveTo>
                  <a:lnTo>
                    <a:pt x="231648" y="103632"/>
                  </a:lnTo>
                  <a:lnTo>
                    <a:pt x="231648" y="0"/>
                  </a:lnTo>
                  <a:lnTo>
                    <a:pt x="438912" y="207264"/>
                  </a:lnTo>
                  <a:lnTo>
                    <a:pt x="231648" y="414528"/>
                  </a:lnTo>
                  <a:lnTo>
                    <a:pt x="231648" y="310896"/>
                  </a:lnTo>
                  <a:lnTo>
                    <a:pt x="0" y="310896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224" id="224"/>
          <p:cNvGrpSpPr/>
          <p:nvPr/>
        </p:nvGrpSpPr>
        <p:grpSpPr>
          <a:xfrm rot="0">
            <a:off x="10359390" y="8804910"/>
            <a:ext cx="1318260" cy="541020"/>
            <a:chOff x="0" y="0"/>
            <a:chExt cx="1757680" cy="721360"/>
          </a:xfrm>
        </p:grpSpPr>
        <p:sp>
          <p:nvSpPr>
            <p:cNvPr name="Freeform 225" id="225"/>
            <p:cNvSpPr/>
            <p:nvPr/>
          </p:nvSpPr>
          <p:spPr>
            <a:xfrm flipH="false" flipV="false" rot="0">
              <a:off x="0" y="0"/>
              <a:ext cx="1757680" cy="721360"/>
            </a:xfrm>
            <a:custGeom>
              <a:avLst/>
              <a:gdLst/>
              <a:ahLst/>
              <a:cxnLst/>
              <a:rect r="r" b="b" t="t" l="l"/>
              <a:pathLst>
                <a:path h="721360" w="1757680">
                  <a:moveTo>
                    <a:pt x="0" y="157353"/>
                  </a:moveTo>
                  <a:cubicBezTo>
                    <a:pt x="0" y="70485"/>
                    <a:pt x="70485" y="0"/>
                    <a:pt x="157353" y="0"/>
                  </a:cubicBezTo>
                  <a:lnTo>
                    <a:pt x="1600327" y="0"/>
                  </a:lnTo>
                  <a:cubicBezTo>
                    <a:pt x="1687195" y="0"/>
                    <a:pt x="1757680" y="70485"/>
                    <a:pt x="1757680" y="157353"/>
                  </a:cubicBezTo>
                  <a:lnTo>
                    <a:pt x="1757680" y="564007"/>
                  </a:lnTo>
                  <a:cubicBezTo>
                    <a:pt x="1757680" y="650875"/>
                    <a:pt x="1687195" y="721360"/>
                    <a:pt x="1600327" y="721360"/>
                  </a:cubicBezTo>
                  <a:lnTo>
                    <a:pt x="157353" y="721360"/>
                  </a:lnTo>
                  <a:cubicBezTo>
                    <a:pt x="70485" y="721360"/>
                    <a:pt x="0" y="650875"/>
                    <a:pt x="0" y="564007"/>
                  </a:cubicBezTo>
                  <a:close/>
                </a:path>
              </a:pathLst>
            </a:custGeom>
            <a:solidFill>
              <a:srgbClr val="E3F2EA"/>
            </a:solidFill>
            <a:ln w="38100" cap="sq">
              <a:solidFill>
                <a:srgbClr val="1F8A5B"/>
              </a:solidFill>
              <a:prstDash val="solid"/>
              <a:miter/>
            </a:ln>
          </p:spPr>
        </p:sp>
        <p:sp>
          <p:nvSpPr>
            <p:cNvPr name="TextBox 226" id="226"/>
            <p:cNvSpPr txBox="true"/>
            <p:nvPr/>
          </p:nvSpPr>
          <p:spPr>
            <a:xfrm>
              <a:off x="0" y="-38100"/>
              <a:ext cx="1757680" cy="7594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1F8A5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STRONG</a:t>
              </a:r>
            </a:p>
          </p:txBody>
        </p:sp>
      </p:grpSp>
      <p:grpSp>
        <p:nvGrpSpPr>
          <p:cNvPr name="Group 227" id="227"/>
          <p:cNvGrpSpPr/>
          <p:nvPr/>
        </p:nvGrpSpPr>
        <p:grpSpPr>
          <a:xfrm rot="0">
            <a:off x="12145642" y="8625202"/>
            <a:ext cx="5335267" cy="900427"/>
            <a:chOff x="0" y="0"/>
            <a:chExt cx="7113689" cy="1200569"/>
          </a:xfrm>
        </p:grpSpPr>
        <p:sp>
          <p:nvSpPr>
            <p:cNvPr name="Freeform 228" id="228"/>
            <p:cNvSpPr/>
            <p:nvPr/>
          </p:nvSpPr>
          <p:spPr>
            <a:xfrm flipH="false" flipV="false" rot="0">
              <a:off x="0" y="0"/>
              <a:ext cx="7113778" cy="1200658"/>
            </a:xfrm>
            <a:custGeom>
              <a:avLst/>
              <a:gdLst/>
              <a:ahLst/>
              <a:cxnLst/>
              <a:rect r="r" b="b" t="t" l="l"/>
              <a:pathLst>
                <a:path h="1200658" w="7113778">
                  <a:moveTo>
                    <a:pt x="0" y="189611"/>
                  </a:moveTo>
                  <a:cubicBezTo>
                    <a:pt x="0" y="84836"/>
                    <a:pt x="84836" y="0"/>
                    <a:pt x="189611" y="0"/>
                  </a:cubicBezTo>
                  <a:lnTo>
                    <a:pt x="6924167" y="0"/>
                  </a:lnTo>
                  <a:cubicBezTo>
                    <a:pt x="7028815" y="0"/>
                    <a:pt x="7113778" y="84836"/>
                    <a:pt x="7113778" y="189611"/>
                  </a:cubicBezTo>
                  <a:lnTo>
                    <a:pt x="7113778" y="1011047"/>
                  </a:lnTo>
                  <a:cubicBezTo>
                    <a:pt x="7113778" y="1115695"/>
                    <a:pt x="7028942" y="1200658"/>
                    <a:pt x="6924167" y="1200658"/>
                  </a:cubicBezTo>
                  <a:lnTo>
                    <a:pt x="189611" y="1200658"/>
                  </a:lnTo>
                  <a:cubicBezTo>
                    <a:pt x="84836" y="1200531"/>
                    <a:pt x="0" y="1115695"/>
                    <a:pt x="0" y="101104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229" id="229"/>
          <p:cNvGrpSpPr/>
          <p:nvPr/>
        </p:nvGrpSpPr>
        <p:grpSpPr>
          <a:xfrm rot="0">
            <a:off x="12390120" y="8641080"/>
            <a:ext cx="2011680" cy="868680"/>
            <a:chOff x="0" y="0"/>
            <a:chExt cx="2682240" cy="1158240"/>
          </a:xfrm>
        </p:grpSpPr>
        <p:sp>
          <p:nvSpPr>
            <p:cNvPr name="Freeform 230" id="230"/>
            <p:cNvSpPr/>
            <p:nvPr/>
          </p:nvSpPr>
          <p:spPr>
            <a:xfrm flipH="false" flipV="false" rot="0">
              <a:off x="0" y="0"/>
              <a:ext cx="2682240" cy="1158240"/>
            </a:xfrm>
            <a:custGeom>
              <a:avLst/>
              <a:gdLst/>
              <a:ahLst/>
              <a:cxnLst/>
              <a:rect r="r" b="b" t="t" l="l"/>
              <a:pathLst>
                <a:path h="1158240" w="2682240">
                  <a:moveTo>
                    <a:pt x="0" y="0"/>
                  </a:moveTo>
                  <a:lnTo>
                    <a:pt x="2682240" y="0"/>
                  </a:lnTo>
                  <a:lnTo>
                    <a:pt x="268224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403" t="0" r="-5403" b="0"/>
              </a:stretch>
            </a:blipFill>
          </p:spPr>
        </p:sp>
        <p:sp>
          <p:nvSpPr>
            <p:cNvPr name="TextBox 231" id="231"/>
            <p:cNvSpPr txBox="true"/>
            <p:nvPr/>
          </p:nvSpPr>
          <p:spPr>
            <a:xfrm>
              <a:off x="0" y="-38100"/>
              <a:ext cx="268224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b="true">
                  <a:solidFill>
                    <a:srgbClr val="73201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LLM alone</a:t>
              </a:r>
            </a:p>
          </p:txBody>
        </p:sp>
      </p:grpSp>
      <p:grpSp>
        <p:nvGrpSpPr>
          <p:cNvPr name="Group 232" id="232"/>
          <p:cNvGrpSpPr/>
          <p:nvPr/>
        </p:nvGrpSpPr>
        <p:grpSpPr>
          <a:xfrm rot="0">
            <a:off x="14401800" y="8805672"/>
            <a:ext cx="548640" cy="548640"/>
            <a:chOff x="0" y="0"/>
            <a:chExt cx="731520" cy="731520"/>
          </a:xfrm>
        </p:grpSpPr>
        <p:sp>
          <p:nvSpPr>
            <p:cNvPr name="Freeform 233" id="233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9A6512"/>
            </a:solidFill>
          </p:spPr>
        </p:sp>
      </p:grpSp>
      <p:grpSp>
        <p:nvGrpSpPr>
          <p:cNvPr name="Group 234" id="234"/>
          <p:cNvGrpSpPr/>
          <p:nvPr/>
        </p:nvGrpSpPr>
        <p:grpSpPr>
          <a:xfrm rot="0">
            <a:off x="14533474" y="8937346"/>
            <a:ext cx="285293" cy="285293"/>
            <a:chOff x="0" y="0"/>
            <a:chExt cx="380390" cy="380390"/>
          </a:xfrm>
        </p:grpSpPr>
        <p:sp>
          <p:nvSpPr>
            <p:cNvPr name="Freeform 235" id="235" descr="FaRobot_w.png"/>
            <p:cNvSpPr/>
            <p:nvPr/>
          </p:nvSpPr>
          <p:spPr>
            <a:xfrm flipH="false" flipV="false" rot="0">
              <a:off x="0" y="0"/>
              <a:ext cx="380365" cy="380365"/>
            </a:xfrm>
            <a:custGeom>
              <a:avLst/>
              <a:gdLst/>
              <a:ahLst/>
              <a:cxnLst/>
              <a:rect r="r" b="b" t="t" l="l"/>
              <a:pathLst>
                <a:path h="380365" w="380365">
                  <a:moveTo>
                    <a:pt x="0" y="0"/>
                  </a:moveTo>
                  <a:lnTo>
                    <a:pt x="380365" y="0"/>
                  </a:lnTo>
                  <a:lnTo>
                    <a:pt x="380365" y="380365"/>
                  </a:lnTo>
                  <a:lnTo>
                    <a:pt x="0" y="3803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-6" b="-6"/>
              </a:stretch>
            </a:blipFill>
          </p:spPr>
        </p:sp>
      </p:grpSp>
      <p:grpSp>
        <p:nvGrpSpPr>
          <p:cNvPr name="Group 236" id="236"/>
          <p:cNvGrpSpPr/>
          <p:nvPr/>
        </p:nvGrpSpPr>
        <p:grpSpPr>
          <a:xfrm rot="0">
            <a:off x="15617952" y="8915400"/>
            <a:ext cx="329184" cy="310896"/>
            <a:chOff x="0" y="0"/>
            <a:chExt cx="438912" cy="414528"/>
          </a:xfrm>
        </p:grpSpPr>
        <p:sp>
          <p:nvSpPr>
            <p:cNvPr name="Freeform 237" id="237"/>
            <p:cNvSpPr/>
            <p:nvPr/>
          </p:nvSpPr>
          <p:spPr>
            <a:xfrm flipH="false" flipV="false" rot="0">
              <a:off x="0" y="0"/>
              <a:ext cx="438912" cy="414528"/>
            </a:xfrm>
            <a:custGeom>
              <a:avLst/>
              <a:gdLst/>
              <a:ahLst/>
              <a:cxnLst/>
              <a:rect r="r" b="b" t="t" l="l"/>
              <a:pathLst>
                <a:path h="414528" w="438912">
                  <a:moveTo>
                    <a:pt x="0" y="103632"/>
                  </a:moveTo>
                  <a:lnTo>
                    <a:pt x="231648" y="103632"/>
                  </a:lnTo>
                  <a:lnTo>
                    <a:pt x="231648" y="0"/>
                  </a:lnTo>
                  <a:lnTo>
                    <a:pt x="438912" y="207264"/>
                  </a:lnTo>
                  <a:lnTo>
                    <a:pt x="231648" y="414528"/>
                  </a:lnTo>
                  <a:lnTo>
                    <a:pt x="231648" y="310896"/>
                  </a:lnTo>
                  <a:lnTo>
                    <a:pt x="0" y="310896"/>
                  </a:lnTo>
                  <a:close/>
                </a:path>
              </a:pathLst>
            </a:custGeom>
            <a:solidFill>
              <a:srgbClr val="732017"/>
            </a:solidFill>
          </p:spPr>
        </p:sp>
      </p:grpSp>
      <p:grpSp>
        <p:nvGrpSpPr>
          <p:cNvPr name="Group 238" id="238"/>
          <p:cNvGrpSpPr/>
          <p:nvPr/>
        </p:nvGrpSpPr>
        <p:grpSpPr>
          <a:xfrm rot="0">
            <a:off x="16028670" y="8804910"/>
            <a:ext cx="1318260" cy="541020"/>
            <a:chOff x="0" y="0"/>
            <a:chExt cx="1757680" cy="721360"/>
          </a:xfrm>
        </p:grpSpPr>
        <p:sp>
          <p:nvSpPr>
            <p:cNvPr name="Freeform 239" id="239"/>
            <p:cNvSpPr/>
            <p:nvPr/>
          </p:nvSpPr>
          <p:spPr>
            <a:xfrm flipH="false" flipV="false" rot="0">
              <a:off x="0" y="0"/>
              <a:ext cx="1757680" cy="721360"/>
            </a:xfrm>
            <a:custGeom>
              <a:avLst/>
              <a:gdLst/>
              <a:ahLst/>
              <a:cxnLst/>
              <a:rect r="r" b="b" t="t" l="l"/>
              <a:pathLst>
                <a:path h="721360" w="1757680">
                  <a:moveTo>
                    <a:pt x="0" y="157353"/>
                  </a:moveTo>
                  <a:cubicBezTo>
                    <a:pt x="0" y="70485"/>
                    <a:pt x="70485" y="0"/>
                    <a:pt x="157353" y="0"/>
                  </a:cubicBezTo>
                  <a:lnTo>
                    <a:pt x="1600327" y="0"/>
                  </a:lnTo>
                  <a:cubicBezTo>
                    <a:pt x="1687195" y="0"/>
                    <a:pt x="1757680" y="70485"/>
                    <a:pt x="1757680" y="157353"/>
                  </a:cubicBezTo>
                  <a:lnTo>
                    <a:pt x="1757680" y="564007"/>
                  </a:lnTo>
                  <a:cubicBezTo>
                    <a:pt x="1757680" y="650875"/>
                    <a:pt x="1687195" y="721360"/>
                    <a:pt x="1600327" y="721360"/>
                  </a:cubicBezTo>
                  <a:lnTo>
                    <a:pt x="157353" y="721360"/>
                  </a:lnTo>
                  <a:cubicBezTo>
                    <a:pt x="70485" y="721360"/>
                    <a:pt x="0" y="650875"/>
                    <a:pt x="0" y="564007"/>
                  </a:cubicBezTo>
                  <a:close/>
                </a:path>
              </a:pathLst>
            </a:custGeom>
            <a:solidFill>
              <a:srgbClr val="F8ECD3"/>
            </a:solidFill>
            <a:ln w="38100" cap="sq">
              <a:solidFill>
                <a:srgbClr val="9A6512"/>
              </a:solidFill>
              <a:prstDash val="solid"/>
              <a:miter/>
            </a:ln>
          </p:spPr>
        </p:sp>
        <p:sp>
          <p:nvSpPr>
            <p:cNvPr name="TextBox 240" id="240"/>
            <p:cNvSpPr txBox="true"/>
            <p:nvPr/>
          </p:nvSpPr>
          <p:spPr>
            <a:xfrm>
              <a:off x="0" y="-38100"/>
              <a:ext cx="1757680" cy="7594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9A651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BASIC MAX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598" y="0"/>
            <a:ext cx="18230850" cy="10287000"/>
            <a:chOff x="0" y="0"/>
            <a:chExt cx="243078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071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07164">
                  <a:moveTo>
                    <a:pt x="0" y="13716000"/>
                  </a:moveTo>
                  <a:lnTo>
                    <a:pt x="24307164" y="13716000"/>
                  </a:lnTo>
                  <a:lnTo>
                    <a:pt x="24307164" y="0"/>
                  </a:lnTo>
                  <a:lnTo>
                    <a:pt x="0" y="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4DFC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6772" y="9892865"/>
            <a:ext cx="18281647" cy="394335"/>
            <a:chOff x="0" y="0"/>
            <a:chExt cx="24375529" cy="5257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4983" cy="525526"/>
            </a:xfrm>
            <a:custGeom>
              <a:avLst/>
              <a:gdLst/>
              <a:ahLst/>
              <a:cxnLst/>
              <a:rect r="r" b="b" t="t" l="l"/>
              <a:pathLst>
                <a:path h="525526" w="24374983">
                  <a:moveTo>
                    <a:pt x="24374983" y="525526"/>
                  </a:moveTo>
                  <a:lnTo>
                    <a:pt x="0" y="525526"/>
                  </a:lnTo>
                  <a:lnTo>
                    <a:pt x="0" y="0"/>
                  </a:lnTo>
                  <a:lnTo>
                    <a:pt x="24374983" y="0"/>
                  </a:lnTo>
                  <a:lnTo>
                    <a:pt x="24374983" y="525526"/>
                  </a:lnTo>
                  <a:close/>
                </a:path>
              </a:pathLst>
            </a:custGeom>
            <a:solidFill>
              <a:srgbClr val="371704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772" y="0"/>
            <a:ext cx="18281228" cy="9892865"/>
            <a:chOff x="0" y="0"/>
            <a:chExt cx="24374970" cy="131904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74983" cy="13190474"/>
            </a:xfrm>
            <a:custGeom>
              <a:avLst/>
              <a:gdLst/>
              <a:ahLst/>
              <a:cxnLst/>
              <a:rect r="r" b="b" t="t" l="l"/>
              <a:pathLst>
                <a:path h="13190474" w="24374983">
                  <a:moveTo>
                    <a:pt x="0" y="0"/>
                  </a:moveTo>
                  <a:lnTo>
                    <a:pt x="24374983" y="0"/>
                  </a:lnTo>
                  <a:lnTo>
                    <a:pt x="24374983" y="13190474"/>
                  </a:lnTo>
                  <a:lnTo>
                    <a:pt x="0" y="13190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6" r="0" b="-96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0" y="18393"/>
            <a:ext cx="18288010" cy="1524733"/>
            <a:chOff x="0" y="0"/>
            <a:chExt cx="24384013" cy="203297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2033016"/>
            </a:xfrm>
            <a:custGeom>
              <a:avLst/>
              <a:gdLst/>
              <a:ahLst/>
              <a:cxnLst/>
              <a:rect r="r" b="b" t="t" l="l"/>
              <a:pathLst>
                <a:path h="203301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033016"/>
                  </a:lnTo>
                  <a:lnTo>
                    <a:pt x="0" y="2033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4" t="0" r="-24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514798" y="9696993"/>
            <a:ext cx="1274464" cy="388620"/>
            <a:chOff x="0" y="0"/>
            <a:chExt cx="1699285" cy="51816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99260" cy="518160"/>
            </a:xfrm>
            <a:custGeom>
              <a:avLst/>
              <a:gdLst/>
              <a:ahLst/>
              <a:cxnLst/>
              <a:rect r="r" b="b" t="t" l="l"/>
              <a:pathLst>
                <a:path h="518160" w="1699260">
                  <a:moveTo>
                    <a:pt x="0" y="0"/>
                  </a:moveTo>
                  <a:lnTo>
                    <a:pt x="1699260" y="0"/>
                  </a:lnTo>
                  <a:lnTo>
                    <a:pt x="1699260" y="518160"/>
                  </a:lnTo>
                  <a:lnTo>
                    <a:pt x="0" y="518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357" r="-1" b="-3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088285" y="141732"/>
            <a:ext cx="3648056" cy="1219200"/>
            <a:chOff x="0" y="0"/>
            <a:chExt cx="4864075" cy="1625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8641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4864100">
                  <a:moveTo>
                    <a:pt x="0" y="0"/>
                  </a:moveTo>
                  <a:lnTo>
                    <a:pt x="4864100" y="0"/>
                  </a:lnTo>
                  <a:lnTo>
                    <a:pt x="48641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59" r="0" b="-258"/>
              </a:stretch>
            </a:blipFill>
          </p:spPr>
        </p:sp>
      </p:grpSp>
      <p:sp>
        <p:nvSpPr>
          <p:cNvPr name="TextBox 16" id="16" descr="$PPTXTitle"/>
          <p:cNvSpPr txBox="true"/>
          <p:nvPr/>
        </p:nvSpPr>
        <p:spPr>
          <a:xfrm rot="0">
            <a:off x="5731026" y="435483"/>
            <a:ext cx="6496764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459">
                <a:solidFill>
                  <a:srgbClr val="FFFF00"/>
                </a:solidFill>
                <a:latin typeface="Doulos"/>
                <a:ea typeface="Doulos"/>
                <a:cs typeface="Doulos"/>
                <a:sym typeface="Doulos"/>
              </a:rPr>
              <a:t>IMPACT AND BENEFITS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75227" y="10010537"/>
            <a:ext cx="1284608" cy="22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599" spc="14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PROOFSTACK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352016" y="9985877"/>
            <a:ext cx="396240" cy="288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b="true" sz="2150" spc="34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822960" y="1664208"/>
            <a:ext cx="16642080" cy="868680"/>
            <a:chOff x="0" y="0"/>
            <a:chExt cx="22189440" cy="11582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89439" cy="1158240"/>
            </a:xfrm>
            <a:custGeom>
              <a:avLst/>
              <a:gdLst/>
              <a:ahLst/>
              <a:cxnLst/>
              <a:rect r="r" b="b" t="t" l="l"/>
              <a:pathLst>
                <a:path h="115824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23292" r="0" b="-32329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22189440" cy="1158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spc="-33">
                  <a:solidFill>
                    <a:srgbClr val="732017"/>
                  </a:solidFill>
                  <a:latin typeface="Doulos"/>
                  <a:ea typeface="Doulos"/>
                  <a:cs typeface="Doulos"/>
                  <a:sym typeface="Doulos"/>
                </a:rPr>
                <a:t>Who benefits, and how we'll know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822960" y="2395728"/>
            <a:ext cx="16642080" cy="457200"/>
            <a:chOff x="0" y="0"/>
            <a:chExt cx="22189440" cy="609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2189439" cy="609600"/>
            </a:xfrm>
            <a:custGeom>
              <a:avLst/>
              <a:gdLst/>
              <a:ahLst/>
              <a:cxnLst/>
              <a:rect r="r" b="b" t="t" l="l"/>
              <a:pathLst>
                <a:path h="60960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59255" r="0" b="-65925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22189440" cy="6572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i="true">
                  <a:solidFill>
                    <a:srgbClr val="6B4A32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One commit turns a gap into proof — and we measure how fast.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807082" y="3001642"/>
            <a:ext cx="10455907" cy="4558027"/>
            <a:chOff x="0" y="0"/>
            <a:chExt cx="13941209" cy="607736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3941171" cy="6077331"/>
            </a:xfrm>
            <a:custGeom>
              <a:avLst/>
              <a:gdLst/>
              <a:ahLst/>
              <a:cxnLst/>
              <a:rect r="r" b="b" t="t" l="l"/>
              <a:pathLst>
                <a:path h="6077331" w="13941171">
                  <a:moveTo>
                    <a:pt x="0" y="245491"/>
                  </a:moveTo>
                  <a:cubicBezTo>
                    <a:pt x="0" y="109982"/>
                    <a:pt x="109982" y="0"/>
                    <a:pt x="245491" y="0"/>
                  </a:cubicBezTo>
                  <a:lnTo>
                    <a:pt x="13695680" y="0"/>
                  </a:lnTo>
                  <a:cubicBezTo>
                    <a:pt x="13831317" y="0"/>
                    <a:pt x="13941171" y="109982"/>
                    <a:pt x="13941171" y="245491"/>
                  </a:cubicBezTo>
                  <a:lnTo>
                    <a:pt x="13941171" y="5831840"/>
                  </a:lnTo>
                  <a:cubicBezTo>
                    <a:pt x="13941171" y="5967476"/>
                    <a:pt x="13831190" y="6077331"/>
                    <a:pt x="13695680" y="6077331"/>
                  </a:cubicBezTo>
                  <a:lnTo>
                    <a:pt x="245491" y="6077331"/>
                  </a:lnTo>
                  <a:cubicBezTo>
                    <a:pt x="109982" y="6077331"/>
                    <a:pt x="0" y="5967476"/>
                    <a:pt x="0" y="583184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32010">
                    <a:alpha val="100000"/>
                  </a:srgbClr>
                </a:gs>
                <a:gs pos="100000">
                  <a:srgbClr val="24100A">
                    <a:alpha val="100000"/>
                  </a:srgbClr>
                </a:gs>
              </a:gsLst>
              <a:lin ang="16200000"/>
            </a:gradFill>
            <a:ln w="3175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188720" y="3127248"/>
            <a:ext cx="5943600" cy="411480"/>
            <a:chOff x="0" y="0"/>
            <a:chExt cx="7924800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924800" cy="548640"/>
            </a:xfrm>
            <a:custGeom>
              <a:avLst/>
              <a:gdLst/>
              <a:ahLst/>
              <a:cxnLst/>
              <a:rect r="r" b="b" t="t" l="l"/>
              <a:pathLst>
                <a:path h="548640" w="7924800">
                  <a:moveTo>
                    <a:pt x="0" y="0"/>
                  </a:moveTo>
                  <a:lnTo>
                    <a:pt x="7924800" y="0"/>
                  </a:lnTo>
                  <a:lnTo>
                    <a:pt x="7924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1450" r="0" b="-23145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792480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FFD5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ONE COMMIT, VERIFIABLY CLOSED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229600" y="3127248"/>
            <a:ext cx="2743200" cy="411480"/>
            <a:chOff x="0" y="0"/>
            <a:chExt cx="3657600" cy="5486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657600" cy="548640"/>
            </a:xfrm>
            <a:custGeom>
              <a:avLst/>
              <a:gdLst/>
              <a:ahLst/>
              <a:cxnLst/>
              <a:rect r="r" b="b" t="t" l="l"/>
              <a:pathLst>
                <a:path h="54864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28575"/>
              <a:ext cx="36576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19"/>
                </a:lnSpc>
              </a:pPr>
              <a:r>
                <a:rPr lang="en-US" sz="1599" i="true">
                  <a:solidFill>
                    <a:srgbClr val="E8CDA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example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97280" y="3573780"/>
            <a:ext cx="3017520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FFD5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 · GAP SHOWN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084583" y="4010663"/>
            <a:ext cx="3042923" cy="2357123"/>
            <a:chOff x="0" y="0"/>
            <a:chExt cx="4057231" cy="314283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057269" cy="3142869"/>
            </a:xfrm>
            <a:custGeom>
              <a:avLst/>
              <a:gdLst/>
              <a:ahLst/>
              <a:cxnLst/>
              <a:rect r="r" b="b" t="t" l="l"/>
              <a:pathLst>
                <a:path h="3142869" w="4057269">
                  <a:moveTo>
                    <a:pt x="0" y="184912"/>
                  </a:moveTo>
                  <a:cubicBezTo>
                    <a:pt x="0" y="82804"/>
                    <a:pt x="82804" y="0"/>
                    <a:pt x="184912" y="0"/>
                  </a:cubicBezTo>
                  <a:lnTo>
                    <a:pt x="3872357" y="0"/>
                  </a:lnTo>
                  <a:cubicBezTo>
                    <a:pt x="3974465" y="0"/>
                    <a:pt x="4057269" y="82804"/>
                    <a:pt x="4057269" y="184912"/>
                  </a:cubicBezTo>
                  <a:lnTo>
                    <a:pt x="4057269" y="2957957"/>
                  </a:lnTo>
                  <a:cubicBezTo>
                    <a:pt x="4057269" y="3060065"/>
                    <a:pt x="3974465" y="3142869"/>
                    <a:pt x="3872357" y="3142869"/>
                  </a:cubicBezTo>
                  <a:lnTo>
                    <a:pt x="184912" y="3142869"/>
                  </a:lnTo>
                  <a:cubicBezTo>
                    <a:pt x="82804" y="3142869"/>
                    <a:pt x="0" y="3060065"/>
                    <a:pt x="0" y="2957957"/>
                  </a:cubicBezTo>
                  <a:close/>
                </a:path>
              </a:pathLst>
            </a:custGeom>
            <a:solidFill>
              <a:srgbClr val="FFF9F0"/>
            </a:solidFill>
            <a:ln w="254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097280" y="6382512"/>
            <a:ext cx="3017520" cy="457200"/>
            <a:chOff x="0" y="0"/>
            <a:chExt cx="4023360" cy="6096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i="true">
                  <a:solidFill>
                    <a:srgbClr val="FFF4E3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Files scanned are listed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4142232" y="4983480"/>
            <a:ext cx="365760" cy="411480"/>
            <a:chOff x="0" y="0"/>
            <a:chExt cx="48768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87680" cy="548640"/>
            </a:xfrm>
            <a:custGeom>
              <a:avLst/>
              <a:gdLst/>
              <a:ahLst/>
              <a:cxnLst/>
              <a:rect r="r" b="b" t="t" l="l"/>
              <a:pathLst>
                <a:path h="548640" w="487680">
                  <a:moveTo>
                    <a:pt x="0" y="137160"/>
                  </a:moveTo>
                  <a:lnTo>
                    <a:pt x="243840" y="137160"/>
                  </a:lnTo>
                  <a:lnTo>
                    <a:pt x="243840" y="0"/>
                  </a:lnTo>
                  <a:lnTo>
                    <a:pt x="487680" y="274320"/>
                  </a:lnTo>
                  <a:lnTo>
                    <a:pt x="243840" y="548640"/>
                  </a:lnTo>
                  <a:lnTo>
                    <a:pt x="24384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FFD54A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325880" y="4206240"/>
            <a:ext cx="457200" cy="457200"/>
            <a:chOff x="0" y="0"/>
            <a:chExt cx="609600" cy="609600"/>
          </a:xfrm>
        </p:grpSpPr>
        <p:sp>
          <p:nvSpPr>
            <p:cNvPr name="Freeform 42" id="42" descr="FaDatabase_m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920240" y="4160520"/>
            <a:ext cx="2011680" cy="548640"/>
            <a:chOff x="0" y="0"/>
            <a:chExt cx="2682240" cy="73152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682240" cy="731520"/>
            </a:xfrm>
            <a:custGeom>
              <a:avLst/>
              <a:gdLst/>
              <a:ahLst/>
              <a:cxnLst/>
              <a:rect r="r" b="b" t="t" l="l"/>
              <a:pathLst>
                <a:path h="731520" w="2682240">
                  <a:moveTo>
                    <a:pt x="0" y="0"/>
                  </a:moveTo>
                  <a:lnTo>
                    <a:pt x="2682240" y="0"/>
                  </a:lnTo>
                  <a:lnTo>
                    <a:pt x="2682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1445" r="0" b="-21445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68224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SQL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306830" y="4827270"/>
            <a:ext cx="2598420" cy="586740"/>
            <a:chOff x="0" y="0"/>
            <a:chExt cx="3464560" cy="78232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464560" cy="782320"/>
            </a:xfrm>
            <a:custGeom>
              <a:avLst/>
              <a:gdLst/>
              <a:ahLst/>
              <a:cxnLst/>
              <a:rect r="r" b="b" t="t" l="l"/>
              <a:pathLst>
                <a:path h="782320" w="3464560">
                  <a:moveTo>
                    <a:pt x="0" y="156464"/>
                  </a:moveTo>
                  <a:cubicBezTo>
                    <a:pt x="0" y="70104"/>
                    <a:pt x="70104" y="0"/>
                    <a:pt x="156464" y="0"/>
                  </a:cubicBezTo>
                  <a:lnTo>
                    <a:pt x="3308096" y="0"/>
                  </a:lnTo>
                  <a:cubicBezTo>
                    <a:pt x="3394456" y="0"/>
                    <a:pt x="3464560" y="70104"/>
                    <a:pt x="3464560" y="156464"/>
                  </a:cubicBezTo>
                  <a:lnTo>
                    <a:pt x="3464560" y="625856"/>
                  </a:lnTo>
                  <a:cubicBezTo>
                    <a:pt x="3464560" y="712216"/>
                    <a:pt x="3394456" y="782320"/>
                    <a:pt x="3308096" y="782320"/>
                  </a:cubicBezTo>
                  <a:lnTo>
                    <a:pt x="156464" y="782320"/>
                  </a:lnTo>
                  <a:cubicBezTo>
                    <a:pt x="70104" y="782320"/>
                    <a:pt x="0" y="712216"/>
                    <a:pt x="0" y="625856"/>
                  </a:cubicBezTo>
                  <a:close/>
                </a:path>
              </a:pathLst>
            </a:custGeom>
            <a:solidFill>
              <a:srgbClr val="E8ECF1"/>
            </a:solidFill>
            <a:ln w="38100" cap="sq">
              <a:solidFill>
                <a:srgbClr val="556377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28575"/>
              <a:ext cx="3464560" cy="8108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  <a:r>
                <a:rPr lang="en-US" sz="1400" b="true">
                  <a:solidFill>
                    <a:srgbClr val="55637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NOT SHOWN IN SCOPE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325880" y="5448300"/>
            <a:ext cx="256032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6B4A3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Evidence coverage 42%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25880" y="5852160"/>
            <a:ext cx="2560320" cy="274320"/>
            <a:chOff x="0" y="0"/>
            <a:chExt cx="3413760" cy="3657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413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413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230880" y="0"/>
                  </a:lnTo>
                  <a:cubicBezTo>
                    <a:pt x="3331845" y="0"/>
                    <a:pt x="3413760" y="81915"/>
                    <a:pt x="3413760" y="182880"/>
                  </a:cubicBezTo>
                  <a:cubicBezTo>
                    <a:pt x="3413760" y="283845"/>
                    <a:pt x="3331845" y="365760"/>
                    <a:pt x="3230880" y="365760"/>
                  </a:cubicBezTo>
                  <a:lnTo>
                    <a:pt x="182880" y="365760"/>
                  </a:ln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D9C3A5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325880" y="5852160"/>
            <a:ext cx="1075334" cy="274320"/>
            <a:chOff x="0" y="0"/>
            <a:chExt cx="1433779" cy="36576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433830" cy="365760"/>
            </a:xfrm>
            <a:custGeom>
              <a:avLst/>
              <a:gdLst/>
              <a:ahLst/>
              <a:cxnLst/>
              <a:rect r="r" b="b" t="t" l="l"/>
              <a:pathLst>
                <a:path h="365760" w="143383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1250950" y="0"/>
                  </a:lnTo>
                  <a:cubicBezTo>
                    <a:pt x="1351915" y="0"/>
                    <a:pt x="1433830" y="81915"/>
                    <a:pt x="1433830" y="182880"/>
                  </a:cubicBezTo>
                  <a:cubicBezTo>
                    <a:pt x="1433830" y="283845"/>
                    <a:pt x="1351915" y="365760"/>
                    <a:pt x="1250950" y="365760"/>
                  </a:cubicBezTo>
                  <a:lnTo>
                    <a:pt x="182880" y="365760"/>
                  </a:ln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556377"/>
            </a:solidFill>
          </p:spPr>
        </p:sp>
      </p:grpSp>
      <p:sp>
        <p:nvSpPr>
          <p:cNvPr name="TextBox 54" id="54"/>
          <p:cNvSpPr txBox="true"/>
          <p:nvPr/>
        </p:nvSpPr>
        <p:spPr>
          <a:xfrm rot="0">
            <a:off x="4526280" y="3573780"/>
            <a:ext cx="3017520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FFD5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 · COMMIT PUSHED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4513583" y="4010663"/>
            <a:ext cx="3042923" cy="2357123"/>
            <a:chOff x="0" y="0"/>
            <a:chExt cx="4057231" cy="3142831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4057269" cy="3142869"/>
            </a:xfrm>
            <a:custGeom>
              <a:avLst/>
              <a:gdLst/>
              <a:ahLst/>
              <a:cxnLst/>
              <a:rect r="r" b="b" t="t" l="l"/>
              <a:pathLst>
                <a:path h="3142869" w="4057269">
                  <a:moveTo>
                    <a:pt x="0" y="184912"/>
                  </a:moveTo>
                  <a:cubicBezTo>
                    <a:pt x="0" y="82804"/>
                    <a:pt x="82804" y="0"/>
                    <a:pt x="184912" y="0"/>
                  </a:cubicBezTo>
                  <a:lnTo>
                    <a:pt x="3872357" y="0"/>
                  </a:lnTo>
                  <a:cubicBezTo>
                    <a:pt x="3974465" y="0"/>
                    <a:pt x="4057269" y="82804"/>
                    <a:pt x="4057269" y="184912"/>
                  </a:cubicBezTo>
                  <a:lnTo>
                    <a:pt x="4057269" y="2957957"/>
                  </a:lnTo>
                  <a:cubicBezTo>
                    <a:pt x="4057269" y="3060065"/>
                    <a:pt x="3974465" y="3142869"/>
                    <a:pt x="3872357" y="3142869"/>
                  </a:cubicBezTo>
                  <a:lnTo>
                    <a:pt x="184912" y="3142869"/>
                  </a:lnTo>
                  <a:cubicBezTo>
                    <a:pt x="82804" y="3142869"/>
                    <a:pt x="0" y="3060065"/>
                    <a:pt x="0" y="2957957"/>
                  </a:cubicBezTo>
                  <a:close/>
                </a:path>
              </a:pathLst>
            </a:custGeom>
            <a:solidFill>
              <a:srgbClr val="FFF9F0"/>
            </a:solidFill>
            <a:ln w="254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4526280" y="6382512"/>
            <a:ext cx="3017520" cy="457200"/>
            <a:chOff x="0" y="0"/>
            <a:chExt cx="4023360" cy="6096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i="true">
                  <a:solidFill>
                    <a:srgbClr val="FFF4E3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Webhook or polling detects it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7571232" y="4983480"/>
            <a:ext cx="365760" cy="411480"/>
            <a:chOff x="0" y="0"/>
            <a:chExt cx="48768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87680" cy="548640"/>
            </a:xfrm>
            <a:custGeom>
              <a:avLst/>
              <a:gdLst/>
              <a:ahLst/>
              <a:cxnLst/>
              <a:rect r="r" b="b" t="t" l="l"/>
              <a:pathLst>
                <a:path h="548640" w="487680">
                  <a:moveTo>
                    <a:pt x="0" y="137160"/>
                  </a:moveTo>
                  <a:lnTo>
                    <a:pt x="243840" y="137160"/>
                  </a:lnTo>
                  <a:lnTo>
                    <a:pt x="243840" y="0"/>
                  </a:lnTo>
                  <a:lnTo>
                    <a:pt x="487680" y="274320"/>
                  </a:lnTo>
                  <a:lnTo>
                    <a:pt x="243840" y="548640"/>
                  </a:lnTo>
                  <a:lnTo>
                    <a:pt x="24384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FFD54A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5467350" y="4232910"/>
            <a:ext cx="1135380" cy="1135380"/>
            <a:chOff x="0" y="0"/>
            <a:chExt cx="1513840" cy="15138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513840" cy="1513840"/>
            </a:xfrm>
            <a:custGeom>
              <a:avLst/>
              <a:gdLst/>
              <a:ahLst/>
              <a:cxnLst/>
              <a:rect r="r" b="b" t="t" l="l"/>
              <a:pathLst>
                <a:path h="1513840" w="1513840">
                  <a:moveTo>
                    <a:pt x="0" y="756920"/>
                  </a:moveTo>
                  <a:cubicBezTo>
                    <a:pt x="0" y="338836"/>
                    <a:pt x="338836" y="0"/>
                    <a:pt x="756920" y="0"/>
                  </a:cubicBezTo>
                  <a:cubicBezTo>
                    <a:pt x="1175004" y="0"/>
                    <a:pt x="1513840" y="338836"/>
                    <a:pt x="1513840" y="756920"/>
                  </a:cubicBezTo>
                  <a:cubicBezTo>
                    <a:pt x="1513840" y="1175004"/>
                    <a:pt x="1175004" y="1513840"/>
                    <a:pt x="756920" y="1513840"/>
                  </a:cubicBezTo>
                  <a:cubicBezTo>
                    <a:pt x="338836" y="1513840"/>
                    <a:pt x="0" y="1175004"/>
                    <a:pt x="0" y="756920"/>
                  </a:cubicBezTo>
                  <a:close/>
                </a:path>
              </a:pathLst>
            </a:custGeom>
            <a:solidFill>
              <a:srgbClr val="371704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64" id="64"/>
          <p:cNvGrpSpPr/>
          <p:nvPr/>
        </p:nvGrpSpPr>
        <p:grpSpPr>
          <a:xfrm rot="0">
            <a:off x="5760720" y="4526280"/>
            <a:ext cx="548640" cy="548640"/>
            <a:chOff x="0" y="0"/>
            <a:chExt cx="731520" cy="731520"/>
          </a:xfrm>
        </p:grpSpPr>
        <p:sp>
          <p:nvSpPr>
            <p:cNvPr name="Freeform 65" id="65" descr="FaCodeBranch_y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4617720" y="5486400"/>
            <a:ext cx="2834640" cy="731520"/>
            <a:chOff x="0" y="0"/>
            <a:chExt cx="3779520" cy="97536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3779520" cy="975360"/>
            </a:xfrm>
            <a:custGeom>
              <a:avLst/>
              <a:gdLst/>
              <a:ahLst/>
              <a:cxnLst/>
              <a:rect r="r" b="b" t="t" l="l"/>
              <a:pathLst>
                <a:path h="975360" w="3779520">
                  <a:moveTo>
                    <a:pt x="0" y="0"/>
                  </a:moveTo>
                  <a:lnTo>
                    <a:pt x="3779520" y="0"/>
                  </a:lnTo>
                  <a:lnTo>
                    <a:pt x="377952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5504" r="0" b="-25504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47625"/>
              <a:ext cx="377952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73201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Push to GitHub</a:t>
              </a:r>
            </a:p>
          </p:txBody>
        </p:sp>
      </p:grpSp>
      <p:sp>
        <p:nvSpPr>
          <p:cNvPr name="TextBox 69" id="69"/>
          <p:cNvSpPr txBox="true"/>
          <p:nvPr/>
        </p:nvSpPr>
        <p:spPr>
          <a:xfrm rot="0">
            <a:off x="7955280" y="3573780"/>
            <a:ext cx="3017520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FFD5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 · VERIFIABLY CLOSED</a:t>
            </a:r>
          </a:p>
        </p:txBody>
      </p:sp>
      <p:grpSp>
        <p:nvGrpSpPr>
          <p:cNvPr name="Group 70" id="70"/>
          <p:cNvGrpSpPr/>
          <p:nvPr/>
        </p:nvGrpSpPr>
        <p:grpSpPr>
          <a:xfrm rot="0">
            <a:off x="7942583" y="4010663"/>
            <a:ext cx="3042923" cy="2357123"/>
            <a:chOff x="0" y="0"/>
            <a:chExt cx="4057231" cy="3142831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4057269" cy="3142869"/>
            </a:xfrm>
            <a:custGeom>
              <a:avLst/>
              <a:gdLst/>
              <a:ahLst/>
              <a:cxnLst/>
              <a:rect r="r" b="b" t="t" l="l"/>
              <a:pathLst>
                <a:path h="3142869" w="4057269">
                  <a:moveTo>
                    <a:pt x="0" y="184912"/>
                  </a:moveTo>
                  <a:cubicBezTo>
                    <a:pt x="0" y="82804"/>
                    <a:pt x="82804" y="0"/>
                    <a:pt x="184912" y="0"/>
                  </a:cubicBezTo>
                  <a:lnTo>
                    <a:pt x="3872357" y="0"/>
                  </a:lnTo>
                  <a:cubicBezTo>
                    <a:pt x="3974465" y="0"/>
                    <a:pt x="4057269" y="82804"/>
                    <a:pt x="4057269" y="184912"/>
                  </a:cubicBezTo>
                  <a:lnTo>
                    <a:pt x="4057269" y="2957957"/>
                  </a:lnTo>
                  <a:cubicBezTo>
                    <a:pt x="4057269" y="3060065"/>
                    <a:pt x="3974465" y="3142869"/>
                    <a:pt x="3872357" y="3142869"/>
                  </a:cubicBezTo>
                  <a:lnTo>
                    <a:pt x="184912" y="3142869"/>
                  </a:lnTo>
                  <a:cubicBezTo>
                    <a:pt x="82804" y="3142869"/>
                    <a:pt x="0" y="3060065"/>
                    <a:pt x="0" y="2957957"/>
                  </a:cubicBezTo>
                  <a:close/>
                </a:path>
              </a:pathLst>
            </a:custGeom>
            <a:solidFill>
              <a:srgbClr val="FFF9F0"/>
            </a:solidFill>
            <a:ln w="254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7955280" y="6382512"/>
            <a:ext cx="3017520" cy="457200"/>
            <a:chOff x="0" y="0"/>
            <a:chExt cx="4023360" cy="60960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4023360" cy="609600"/>
            </a:xfrm>
            <a:custGeom>
              <a:avLst/>
              <a:gdLst/>
              <a:ahLst/>
              <a:cxnLst/>
              <a:rect r="r" b="b" t="t" l="l"/>
              <a:pathLst>
                <a:path h="60960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78601" r="0" b="-78601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40233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i="true">
                  <a:solidFill>
                    <a:srgbClr val="FFF4E3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Evidence cites the changed files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8183880" y="4206240"/>
            <a:ext cx="457200" cy="457200"/>
            <a:chOff x="0" y="0"/>
            <a:chExt cx="609600" cy="609600"/>
          </a:xfrm>
        </p:grpSpPr>
        <p:sp>
          <p:nvSpPr>
            <p:cNvPr name="Freeform 76" id="76" descr="FaDatabase_m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8778240" y="4160520"/>
            <a:ext cx="2011680" cy="548640"/>
            <a:chOff x="0" y="0"/>
            <a:chExt cx="2682240" cy="73152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682240" cy="731520"/>
            </a:xfrm>
            <a:custGeom>
              <a:avLst/>
              <a:gdLst/>
              <a:ahLst/>
              <a:cxnLst/>
              <a:rect r="r" b="b" t="t" l="l"/>
              <a:pathLst>
                <a:path h="731520" w="2682240">
                  <a:moveTo>
                    <a:pt x="0" y="0"/>
                  </a:moveTo>
                  <a:lnTo>
                    <a:pt x="2682240" y="0"/>
                  </a:lnTo>
                  <a:lnTo>
                    <a:pt x="2682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1445" r="0" b="-21445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268224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SQL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8164830" y="4827270"/>
            <a:ext cx="2598420" cy="586740"/>
            <a:chOff x="0" y="0"/>
            <a:chExt cx="3464560" cy="78232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464560" cy="782320"/>
            </a:xfrm>
            <a:custGeom>
              <a:avLst/>
              <a:gdLst/>
              <a:ahLst/>
              <a:cxnLst/>
              <a:rect r="r" b="b" t="t" l="l"/>
              <a:pathLst>
                <a:path h="782320" w="3464560">
                  <a:moveTo>
                    <a:pt x="0" y="156464"/>
                  </a:moveTo>
                  <a:cubicBezTo>
                    <a:pt x="0" y="70104"/>
                    <a:pt x="70104" y="0"/>
                    <a:pt x="156464" y="0"/>
                  </a:cubicBezTo>
                  <a:lnTo>
                    <a:pt x="3308096" y="0"/>
                  </a:lnTo>
                  <a:cubicBezTo>
                    <a:pt x="3394456" y="0"/>
                    <a:pt x="3464560" y="70104"/>
                    <a:pt x="3464560" y="156464"/>
                  </a:cubicBezTo>
                  <a:lnTo>
                    <a:pt x="3464560" y="625856"/>
                  </a:lnTo>
                  <a:cubicBezTo>
                    <a:pt x="3464560" y="712216"/>
                    <a:pt x="3394456" y="782320"/>
                    <a:pt x="3308096" y="782320"/>
                  </a:cubicBezTo>
                  <a:lnTo>
                    <a:pt x="156464" y="782320"/>
                  </a:lnTo>
                  <a:cubicBezTo>
                    <a:pt x="70104" y="782320"/>
                    <a:pt x="0" y="712216"/>
                    <a:pt x="0" y="625856"/>
                  </a:cubicBezTo>
                  <a:close/>
                </a:path>
              </a:pathLst>
            </a:custGeom>
            <a:solidFill>
              <a:srgbClr val="E3F2EA"/>
            </a:solidFill>
            <a:ln w="38100" cap="sq">
              <a:solidFill>
                <a:srgbClr val="1F8A5B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0" y="-28575"/>
              <a:ext cx="3464560" cy="8108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  <a:r>
                <a:rPr lang="en-US" sz="1400" b="true">
                  <a:solidFill>
                    <a:srgbClr val="1F8A5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DEMONSTRATED (STRONG)</a:t>
              </a:r>
            </a:p>
          </p:txBody>
        </p:sp>
      </p:grpSp>
      <p:sp>
        <p:nvSpPr>
          <p:cNvPr name="TextBox 83" id="83"/>
          <p:cNvSpPr txBox="true"/>
          <p:nvPr/>
        </p:nvSpPr>
        <p:spPr>
          <a:xfrm rot="0">
            <a:off x="8183880" y="5448300"/>
            <a:ext cx="2560320" cy="358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6B4A3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Evidence coverage 58%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8183880" y="5852160"/>
            <a:ext cx="2560320" cy="274320"/>
            <a:chOff x="0" y="0"/>
            <a:chExt cx="3413760" cy="36576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3413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413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230880" y="0"/>
                  </a:lnTo>
                  <a:cubicBezTo>
                    <a:pt x="3331845" y="0"/>
                    <a:pt x="3413760" y="81915"/>
                    <a:pt x="3413760" y="182880"/>
                  </a:cubicBezTo>
                  <a:cubicBezTo>
                    <a:pt x="3413760" y="283845"/>
                    <a:pt x="3331845" y="365760"/>
                    <a:pt x="3230880" y="365760"/>
                  </a:cubicBezTo>
                  <a:lnTo>
                    <a:pt x="182880" y="365760"/>
                  </a:ln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D9C3A5"/>
            </a:solid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8183880" y="5852160"/>
            <a:ext cx="1484986" cy="274320"/>
            <a:chOff x="0" y="0"/>
            <a:chExt cx="1979981" cy="36576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979930" cy="365760"/>
            </a:xfrm>
            <a:custGeom>
              <a:avLst/>
              <a:gdLst/>
              <a:ahLst/>
              <a:cxnLst/>
              <a:rect r="r" b="b" t="t" l="l"/>
              <a:pathLst>
                <a:path h="365760" w="197993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1797050" y="0"/>
                  </a:lnTo>
                  <a:cubicBezTo>
                    <a:pt x="1898015" y="0"/>
                    <a:pt x="1979930" y="81915"/>
                    <a:pt x="1979930" y="182880"/>
                  </a:cubicBezTo>
                  <a:cubicBezTo>
                    <a:pt x="1979930" y="283845"/>
                    <a:pt x="1898015" y="365760"/>
                    <a:pt x="1797050" y="365760"/>
                  </a:cubicBezTo>
                  <a:lnTo>
                    <a:pt x="182880" y="365760"/>
                  </a:ln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1F8A5B"/>
            </a:solidFill>
          </p:spPr>
        </p:sp>
      </p:grpSp>
      <p:sp>
        <p:nvSpPr>
          <p:cNvPr name="AutoShape 88" id="88"/>
          <p:cNvSpPr/>
          <p:nvPr/>
        </p:nvSpPr>
        <p:spPr>
          <a:xfrm rot="10762200">
            <a:off x="2586885" y="7136320"/>
            <a:ext cx="3467310" cy="0"/>
          </a:xfrm>
          <a:prstGeom prst="line">
            <a:avLst/>
          </a:prstGeom>
          <a:ln cap="rnd" w="28575">
            <a:solidFill>
              <a:srgbClr val="FFD54A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89" id="89"/>
          <p:cNvSpPr/>
          <p:nvPr/>
        </p:nvSpPr>
        <p:spPr>
          <a:xfrm rot="37800">
            <a:off x="6015885" y="7136320"/>
            <a:ext cx="3467310" cy="0"/>
          </a:xfrm>
          <a:prstGeom prst="line">
            <a:avLst/>
          </a:prstGeom>
          <a:ln cap="rnd" w="28575">
            <a:solidFill>
              <a:srgbClr val="FFD54A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90" id="90"/>
          <p:cNvGrpSpPr/>
          <p:nvPr/>
        </p:nvGrpSpPr>
        <p:grpSpPr>
          <a:xfrm rot="0">
            <a:off x="3566160" y="6903720"/>
            <a:ext cx="4937760" cy="457200"/>
            <a:chOff x="0" y="0"/>
            <a:chExt cx="6583680" cy="60960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6583680" cy="609600"/>
            </a:xfrm>
            <a:custGeom>
              <a:avLst/>
              <a:gdLst/>
              <a:ahLst/>
              <a:cxnLst/>
              <a:rect r="r" b="b" t="t" l="l"/>
              <a:pathLst>
                <a:path h="609600" w="658368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278880" y="0"/>
                  </a:lnTo>
                  <a:cubicBezTo>
                    <a:pt x="6447155" y="0"/>
                    <a:pt x="6583680" y="136525"/>
                    <a:pt x="6583680" y="304800"/>
                  </a:cubicBezTo>
                  <a:cubicBezTo>
                    <a:pt x="6583680" y="473075"/>
                    <a:pt x="6447155" y="609600"/>
                    <a:pt x="6278880" y="609600"/>
                  </a:cubicBezTo>
                  <a:lnTo>
                    <a:pt x="304800" y="609600"/>
                  </a:lnTo>
                  <a:cubicBezTo>
                    <a:pt x="136525" y="609600"/>
                    <a:pt x="0" y="473075"/>
                    <a:pt x="0" y="304800"/>
                  </a:cubicBezTo>
                  <a:close/>
                </a:path>
              </a:pathLst>
            </a:custGeom>
            <a:solidFill>
              <a:srgbClr val="FFD54A"/>
            </a:solid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38100"/>
              <a:ext cx="658368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 BETWEEN = OUR SUCCESS METRIC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11597002" y="3001642"/>
            <a:ext cx="5883907" cy="1449067"/>
            <a:chOff x="0" y="0"/>
            <a:chExt cx="7845209" cy="1932089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7845172" cy="1932051"/>
            </a:xfrm>
            <a:custGeom>
              <a:avLst/>
              <a:gdLst/>
              <a:ahLst/>
              <a:cxnLst/>
              <a:rect r="r" b="b" t="t" l="l"/>
              <a:pathLst>
                <a:path h="1932051" w="7845172">
                  <a:moveTo>
                    <a:pt x="0" y="186944"/>
                  </a:moveTo>
                  <a:cubicBezTo>
                    <a:pt x="0" y="83693"/>
                    <a:pt x="83693" y="0"/>
                    <a:pt x="186944" y="0"/>
                  </a:cubicBezTo>
                  <a:lnTo>
                    <a:pt x="7658227" y="0"/>
                  </a:lnTo>
                  <a:cubicBezTo>
                    <a:pt x="7761478" y="0"/>
                    <a:pt x="7845172" y="83693"/>
                    <a:pt x="7845172" y="186944"/>
                  </a:cubicBezTo>
                  <a:lnTo>
                    <a:pt x="7845172" y="1745107"/>
                  </a:lnTo>
                  <a:cubicBezTo>
                    <a:pt x="7845172" y="1848358"/>
                    <a:pt x="7761478" y="1932051"/>
                    <a:pt x="7658227" y="1932051"/>
                  </a:cubicBezTo>
                  <a:lnTo>
                    <a:pt x="186944" y="1932051"/>
                  </a:lnTo>
                  <a:cubicBezTo>
                    <a:pt x="83693" y="1932051"/>
                    <a:pt x="0" y="1848358"/>
                    <a:pt x="0" y="174510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95" id="95"/>
          <p:cNvGrpSpPr/>
          <p:nvPr/>
        </p:nvGrpSpPr>
        <p:grpSpPr>
          <a:xfrm rot="0">
            <a:off x="11822430" y="3254502"/>
            <a:ext cx="952500" cy="952500"/>
            <a:chOff x="0" y="0"/>
            <a:chExt cx="1270000" cy="127000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127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270000">
                  <a:moveTo>
                    <a:pt x="0" y="635000"/>
                  </a:moveTo>
                  <a:cubicBezTo>
                    <a:pt x="0" y="284353"/>
                    <a:pt x="284353" y="0"/>
                    <a:pt x="635000" y="0"/>
                  </a:cubicBezTo>
                  <a:cubicBezTo>
                    <a:pt x="985647" y="0"/>
                    <a:pt x="1270000" y="284353"/>
                    <a:pt x="1270000" y="635000"/>
                  </a:cubicBezTo>
                  <a:cubicBezTo>
                    <a:pt x="1270000" y="985647"/>
                    <a:pt x="985647" y="1270000"/>
                    <a:pt x="635000" y="1270000"/>
                  </a:cubicBezTo>
                  <a:cubicBezTo>
                    <a:pt x="284353" y="1270000"/>
                    <a:pt x="0" y="985647"/>
                    <a:pt x="0" y="63500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2079224" y="3511296"/>
            <a:ext cx="438912" cy="438912"/>
            <a:chOff x="0" y="0"/>
            <a:chExt cx="585216" cy="585216"/>
          </a:xfrm>
        </p:grpSpPr>
        <p:sp>
          <p:nvSpPr>
            <p:cNvPr name="Freeform 98" id="98" descr="FaUserGraduate_y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984480" y="3108960"/>
            <a:ext cx="4389120" cy="384048"/>
            <a:chOff x="0" y="0"/>
            <a:chExt cx="5852160" cy="512064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5852160" cy="512064"/>
            </a:xfrm>
            <a:custGeom>
              <a:avLst/>
              <a:gdLst/>
              <a:ahLst/>
              <a:cxnLst/>
              <a:rect r="r" b="b" t="t" l="l"/>
              <a:pathLst>
                <a:path h="512064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72686" r="0" b="-172686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38100"/>
              <a:ext cx="585216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73201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Students</a:t>
              </a:r>
            </a:p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12984480" y="3520440"/>
            <a:ext cx="4389120" cy="365760"/>
            <a:chOff x="0" y="0"/>
            <a:chExt cx="5852160" cy="487680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5852160" cy="487680"/>
            </a:xfrm>
            <a:custGeom>
              <a:avLst/>
              <a:gdLst/>
              <a:ahLst/>
              <a:cxnLst/>
              <a:rect r="r" b="b" t="t" l="l"/>
              <a:pathLst>
                <a:path h="48768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38100"/>
              <a:ext cx="5852160" cy="525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See exactly what to commit next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984480" y="3886200"/>
            <a:ext cx="4389120" cy="365760"/>
            <a:chOff x="0" y="0"/>
            <a:chExt cx="5852160" cy="48768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852160" cy="487680"/>
            </a:xfrm>
            <a:custGeom>
              <a:avLst/>
              <a:gdLst/>
              <a:ahLst/>
              <a:cxnLst/>
              <a:rect r="r" b="b" t="t" l="l"/>
              <a:pathLst>
                <a:path h="48768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28575"/>
              <a:ext cx="585216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i="true">
                  <a:solidFill>
                    <a:srgbClr val="6B4A32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Before/after diff shows each gap closing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1597002" y="4556122"/>
            <a:ext cx="5883907" cy="1449067"/>
            <a:chOff x="0" y="0"/>
            <a:chExt cx="7845209" cy="1932089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7845172" cy="1932051"/>
            </a:xfrm>
            <a:custGeom>
              <a:avLst/>
              <a:gdLst/>
              <a:ahLst/>
              <a:cxnLst/>
              <a:rect r="r" b="b" t="t" l="l"/>
              <a:pathLst>
                <a:path h="1932051" w="7845172">
                  <a:moveTo>
                    <a:pt x="0" y="186944"/>
                  </a:moveTo>
                  <a:cubicBezTo>
                    <a:pt x="0" y="83693"/>
                    <a:pt x="83693" y="0"/>
                    <a:pt x="186944" y="0"/>
                  </a:cubicBezTo>
                  <a:lnTo>
                    <a:pt x="7658227" y="0"/>
                  </a:lnTo>
                  <a:cubicBezTo>
                    <a:pt x="7761478" y="0"/>
                    <a:pt x="7845172" y="83693"/>
                    <a:pt x="7845172" y="186944"/>
                  </a:cubicBezTo>
                  <a:lnTo>
                    <a:pt x="7845172" y="1745107"/>
                  </a:lnTo>
                  <a:cubicBezTo>
                    <a:pt x="7845172" y="1848358"/>
                    <a:pt x="7761478" y="1932051"/>
                    <a:pt x="7658227" y="1932051"/>
                  </a:cubicBezTo>
                  <a:lnTo>
                    <a:pt x="186944" y="1932051"/>
                  </a:lnTo>
                  <a:cubicBezTo>
                    <a:pt x="83693" y="1932051"/>
                    <a:pt x="0" y="1848358"/>
                    <a:pt x="0" y="174510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110" id="110"/>
          <p:cNvGrpSpPr/>
          <p:nvPr/>
        </p:nvGrpSpPr>
        <p:grpSpPr>
          <a:xfrm rot="0">
            <a:off x="11822430" y="4808982"/>
            <a:ext cx="952500" cy="952500"/>
            <a:chOff x="0" y="0"/>
            <a:chExt cx="1270000" cy="1270000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127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270000">
                  <a:moveTo>
                    <a:pt x="0" y="635000"/>
                  </a:moveTo>
                  <a:cubicBezTo>
                    <a:pt x="0" y="284353"/>
                    <a:pt x="284353" y="0"/>
                    <a:pt x="635000" y="0"/>
                  </a:cubicBezTo>
                  <a:cubicBezTo>
                    <a:pt x="985647" y="0"/>
                    <a:pt x="1270000" y="284353"/>
                    <a:pt x="1270000" y="635000"/>
                  </a:cubicBezTo>
                  <a:cubicBezTo>
                    <a:pt x="1270000" y="985647"/>
                    <a:pt x="985647" y="1270000"/>
                    <a:pt x="635000" y="1270000"/>
                  </a:cubicBezTo>
                  <a:cubicBezTo>
                    <a:pt x="284353" y="1270000"/>
                    <a:pt x="0" y="985647"/>
                    <a:pt x="0" y="63500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12" id="112"/>
          <p:cNvGrpSpPr/>
          <p:nvPr/>
        </p:nvGrpSpPr>
        <p:grpSpPr>
          <a:xfrm rot="0">
            <a:off x="12079224" y="5065776"/>
            <a:ext cx="438912" cy="438912"/>
            <a:chOff x="0" y="0"/>
            <a:chExt cx="585216" cy="585216"/>
          </a:xfrm>
        </p:grpSpPr>
        <p:sp>
          <p:nvSpPr>
            <p:cNvPr name="Freeform 113" id="113" descr="FaBuilding_y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2984480" y="4663440"/>
            <a:ext cx="4389120" cy="384048"/>
            <a:chOff x="0" y="0"/>
            <a:chExt cx="5852160" cy="512064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5852160" cy="512064"/>
            </a:xfrm>
            <a:custGeom>
              <a:avLst/>
              <a:gdLst/>
              <a:ahLst/>
              <a:cxnLst/>
              <a:rect r="r" b="b" t="t" l="l"/>
              <a:pathLst>
                <a:path h="512064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72686" r="0" b="-172686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-38100"/>
              <a:ext cx="585216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73201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Placement cells</a:t>
              </a: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12984480" y="5074920"/>
            <a:ext cx="4389120" cy="365760"/>
            <a:chOff x="0" y="0"/>
            <a:chExt cx="5852160" cy="487680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5852160" cy="487680"/>
            </a:xfrm>
            <a:custGeom>
              <a:avLst/>
              <a:gdLst/>
              <a:ahLst/>
              <a:cxnLst/>
              <a:rect r="r" b="b" t="t" l="l"/>
              <a:pathLst>
                <a:path h="48768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38100"/>
              <a:ext cx="5852160" cy="525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Verified skills, not keyword resumes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2984480" y="5440680"/>
            <a:ext cx="4389120" cy="365760"/>
            <a:chOff x="0" y="0"/>
            <a:chExt cx="5852160" cy="487680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0" cy="487680"/>
            </a:xfrm>
            <a:custGeom>
              <a:avLst/>
              <a:gdLst/>
              <a:ahLst/>
              <a:cxnLst/>
              <a:rect r="r" b="b" t="t" l="l"/>
              <a:pathLst>
                <a:path h="48768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585216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i="true">
                  <a:solidFill>
                    <a:srgbClr val="6B4A32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Provenance signals, tamper-evident receipts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1597002" y="6110602"/>
            <a:ext cx="5883907" cy="1449067"/>
            <a:chOff x="0" y="0"/>
            <a:chExt cx="7845209" cy="1932089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7845172" cy="1932051"/>
            </a:xfrm>
            <a:custGeom>
              <a:avLst/>
              <a:gdLst/>
              <a:ahLst/>
              <a:cxnLst/>
              <a:rect r="r" b="b" t="t" l="l"/>
              <a:pathLst>
                <a:path h="1932051" w="7845172">
                  <a:moveTo>
                    <a:pt x="0" y="186944"/>
                  </a:moveTo>
                  <a:cubicBezTo>
                    <a:pt x="0" y="83693"/>
                    <a:pt x="83693" y="0"/>
                    <a:pt x="186944" y="0"/>
                  </a:cubicBezTo>
                  <a:lnTo>
                    <a:pt x="7658227" y="0"/>
                  </a:lnTo>
                  <a:cubicBezTo>
                    <a:pt x="7761478" y="0"/>
                    <a:pt x="7845172" y="83693"/>
                    <a:pt x="7845172" y="186944"/>
                  </a:cubicBezTo>
                  <a:lnTo>
                    <a:pt x="7845172" y="1745107"/>
                  </a:lnTo>
                  <a:cubicBezTo>
                    <a:pt x="7845172" y="1848358"/>
                    <a:pt x="7761478" y="1932051"/>
                    <a:pt x="7658227" y="1932051"/>
                  </a:cubicBezTo>
                  <a:lnTo>
                    <a:pt x="186944" y="1932051"/>
                  </a:lnTo>
                  <a:cubicBezTo>
                    <a:pt x="83693" y="1932051"/>
                    <a:pt x="0" y="1848358"/>
                    <a:pt x="0" y="174510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732017"/>
              </a:solidFill>
              <a:prstDash val="solid"/>
              <a:miter/>
            </a:ln>
          </p:spPr>
        </p:sp>
      </p:grpSp>
      <p:grpSp>
        <p:nvGrpSpPr>
          <p:cNvPr name="Group 125" id="125"/>
          <p:cNvGrpSpPr/>
          <p:nvPr/>
        </p:nvGrpSpPr>
        <p:grpSpPr>
          <a:xfrm rot="0">
            <a:off x="11822430" y="6363462"/>
            <a:ext cx="952500" cy="952500"/>
            <a:chOff x="0" y="0"/>
            <a:chExt cx="1270000" cy="1270000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127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270000">
                  <a:moveTo>
                    <a:pt x="0" y="635000"/>
                  </a:moveTo>
                  <a:cubicBezTo>
                    <a:pt x="0" y="284353"/>
                    <a:pt x="284353" y="0"/>
                    <a:pt x="635000" y="0"/>
                  </a:cubicBezTo>
                  <a:cubicBezTo>
                    <a:pt x="985647" y="0"/>
                    <a:pt x="1270000" y="284353"/>
                    <a:pt x="1270000" y="635000"/>
                  </a:cubicBezTo>
                  <a:cubicBezTo>
                    <a:pt x="1270000" y="985647"/>
                    <a:pt x="985647" y="1270000"/>
                    <a:pt x="635000" y="1270000"/>
                  </a:cubicBezTo>
                  <a:cubicBezTo>
                    <a:pt x="284353" y="1270000"/>
                    <a:pt x="0" y="985647"/>
                    <a:pt x="0" y="635000"/>
                  </a:cubicBezTo>
                  <a:close/>
                </a:path>
              </a:pathLst>
            </a:custGeom>
            <a:solidFill>
              <a:srgbClr val="732017"/>
            </a:solidFill>
            <a:ln w="3810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127" id="127"/>
          <p:cNvGrpSpPr/>
          <p:nvPr/>
        </p:nvGrpSpPr>
        <p:grpSpPr>
          <a:xfrm rot="0">
            <a:off x="12079224" y="6620256"/>
            <a:ext cx="438912" cy="438912"/>
            <a:chOff x="0" y="0"/>
            <a:chExt cx="585216" cy="585216"/>
          </a:xfrm>
        </p:grpSpPr>
        <p:sp>
          <p:nvSpPr>
            <p:cNvPr name="Freeform 128" id="128" descr="FaChalkboardTeacher_y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984480" y="6217920"/>
            <a:ext cx="4389120" cy="384048"/>
            <a:chOff x="0" y="0"/>
            <a:chExt cx="5852160" cy="512064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0" cy="512064"/>
            </a:xfrm>
            <a:custGeom>
              <a:avLst/>
              <a:gdLst/>
              <a:ahLst/>
              <a:cxnLst/>
              <a:rect r="r" b="b" t="t" l="l"/>
              <a:pathLst>
                <a:path h="512064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72686" r="0" b="-172686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0" cy="5501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73201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Mentors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984480" y="6629400"/>
            <a:ext cx="4389120" cy="365760"/>
            <a:chOff x="0" y="0"/>
            <a:chExt cx="5852160" cy="48768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852160" cy="487680"/>
            </a:xfrm>
            <a:custGeom>
              <a:avLst/>
              <a:gdLst/>
              <a:ahLst/>
              <a:cxnLst/>
              <a:rect r="r" b="b" t="t" l="l"/>
              <a:pathLst>
                <a:path h="48768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852160" cy="5257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Coach the gaps that are proven real</a:t>
              </a:r>
            </a:p>
          </p:txBody>
        </p:sp>
      </p:grpSp>
      <p:grpSp>
        <p:nvGrpSpPr>
          <p:cNvPr name="Group 135" id="135"/>
          <p:cNvGrpSpPr/>
          <p:nvPr/>
        </p:nvGrpSpPr>
        <p:grpSpPr>
          <a:xfrm rot="0">
            <a:off x="12984480" y="6995160"/>
            <a:ext cx="4389120" cy="365760"/>
            <a:chOff x="0" y="0"/>
            <a:chExt cx="5852160" cy="487680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5852160" cy="487680"/>
            </a:xfrm>
            <a:custGeom>
              <a:avLst/>
              <a:gdLst/>
              <a:ahLst/>
              <a:cxnLst/>
              <a:rect r="r" b="b" t="t" l="l"/>
              <a:pathLst>
                <a:path h="487680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37" id="137"/>
            <p:cNvSpPr txBox="true"/>
            <p:nvPr/>
          </p:nvSpPr>
          <p:spPr>
            <a:xfrm>
              <a:off x="0" y="-28575"/>
              <a:ext cx="585216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i="true">
                  <a:solidFill>
                    <a:srgbClr val="6B4A32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Absence receipts list files and rules checked</a:t>
              </a:r>
            </a:p>
          </p:txBody>
        </p:sp>
      </p:grpSp>
      <p:sp>
        <p:nvSpPr>
          <p:cNvPr name="TextBox 138" id="138"/>
          <p:cNvSpPr txBox="true"/>
          <p:nvPr/>
        </p:nvSpPr>
        <p:spPr>
          <a:xfrm rot="0">
            <a:off x="822960" y="7688580"/>
            <a:ext cx="16459200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732017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DESIGNED TO MEET EVERY PROBLEM-STATEMENT RULE</a:t>
            </a:r>
          </a:p>
        </p:txBody>
      </p:sp>
      <p:grpSp>
        <p:nvGrpSpPr>
          <p:cNvPr name="Group 139" id="139"/>
          <p:cNvGrpSpPr/>
          <p:nvPr/>
        </p:nvGrpSpPr>
        <p:grpSpPr>
          <a:xfrm rot="0">
            <a:off x="813435" y="8174355"/>
            <a:ext cx="2670810" cy="1116330"/>
            <a:chOff x="0" y="0"/>
            <a:chExt cx="3561080" cy="1488440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561080" cy="1488440"/>
            </a:xfrm>
            <a:custGeom>
              <a:avLst/>
              <a:gdLst/>
              <a:ahLst/>
              <a:cxnLst/>
              <a:rect r="r" b="b" t="t" l="l"/>
              <a:pathLst>
                <a:path h="1488440" w="3561080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3412236" y="0"/>
                  </a:lnTo>
                  <a:cubicBezTo>
                    <a:pt x="3494405" y="0"/>
                    <a:pt x="3561080" y="66675"/>
                    <a:pt x="3561080" y="148844"/>
                  </a:cubicBezTo>
                  <a:lnTo>
                    <a:pt x="3561080" y="1339596"/>
                  </a:lnTo>
                  <a:cubicBezTo>
                    <a:pt x="3561080" y="1421765"/>
                    <a:pt x="3494405" y="1488440"/>
                    <a:pt x="341223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C3A5"/>
              </a:solidFill>
              <a:prstDash val="solid"/>
              <a:miter/>
            </a:ln>
          </p:spPr>
        </p:sp>
      </p:grpSp>
      <p:grpSp>
        <p:nvGrpSpPr>
          <p:cNvPr name="Group 141" id="141"/>
          <p:cNvGrpSpPr/>
          <p:nvPr/>
        </p:nvGrpSpPr>
        <p:grpSpPr>
          <a:xfrm rot="0">
            <a:off x="978408" y="8567928"/>
            <a:ext cx="384048" cy="384048"/>
            <a:chOff x="0" y="0"/>
            <a:chExt cx="512064" cy="512064"/>
          </a:xfrm>
        </p:grpSpPr>
        <p:sp>
          <p:nvSpPr>
            <p:cNvPr name="Freeform 142" id="142" descr="FaCheckCircle_g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463040" y="8183880"/>
            <a:ext cx="1920240" cy="1097280"/>
            <a:chOff x="0" y="0"/>
            <a:chExt cx="2560320" cy="1463040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25603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3316" t="0" r="-23316" b="0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-38100"/>
              <a:ext cx="256032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 posting, source link kept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3611499" y="8174355"/>
            <a:ext cx="2670810" cy="1116330"/>
            <a:chOff x="0" y="0"/>
            <a:chExt cx="3561080" cy="1488440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561080" cy="1488440"/>
            </a:xfrm>
            <a:custGeom>
              <a:avLst/>
              <a:gdLst/>
              <a:ahLst/>
              <a:cxnLst/>
              <a:rect r="r" b="b" t="t" l="l"/>
              <a:pathLst>
                <a:path h="1488440" w="3561080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3412236" y="0"/>
                  </a:lnTo>
                  <a:cubicBezTo>
                    <a:pt x="3494405" y="0"/>
                    <a:pt x="3561080" y="66675"/>
                    <a:pt x="3561080" y="148844"/>
                  </a:cubicBezTo>
                  <a:lnTo>
                    <a:pt x="3561080" y="1339596"/>
                  </a:lnTo>
                  <a:cubicBezTo>
                    <a:pt x="3561080" y="1421765"/>
                    <a:pt x="3494405" y="1488440"/>
                    <a:pt x="341223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C3A5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3776472" y="8567928"/>
            <a:ext cx="384048" cy="384048"/>
            <a:chOff x="0" y="0"/>
            <a:chExt cx="512064" cy="512064"/>
          </a:xfrm>
        </p:grpSpPr>
        <p:sp>
          <p:nvSpPr>
            <p:cNvPr name="Freeform 149" id="149" descr="FaCheckCircle_g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4261104" y="8183880"/>
            <a:ext cx="1920240" cy="1097280"/>
            <a:chOff x="0" y="0"/>
            <a:chExt cx="2560320" cy="1463040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25603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3316" t="0" r="-23316" b="0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256032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 GitHub integration</a:t>
              </a:r>
            </a:p>
          </p:txBody>
        </p:sp>
      </p:grpSp>
      <p:grpSp>
        <p:nvGrpSpPr>
          <p:cNvPr name="Group 153" id="153"/>
          <p:cNvGrpSpPr/>
          <p:nvPr/>
        </p:nvGrpSpPr>
        <p:grpSpPr>
          <a:xfrm rot="0">
            <a:off x="6409563" y="8174355"/>
            <a:ext cx="2670810" cy="1116330"/>
            <a:chOff x="0" y="0"/>
            <a:chExt cx="3561080" cy="1488440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3561080" cy="1488440"/>
            </a:xfrm>
            <a:custGeom>
              <a:avLst/>
              <a:gdLst/>
              <a:ahLst/>
              <a:cxnLst/>
              <a:rect r="r" b="b" t="t" l="l"/>
              <a:pathLst>
                <a:path h="1488440" w="3561080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3412236" y="0"/>
                  </a:lnTo>
                  <a:cubicBezTo>
                    <a:pt x="3494405" y="0"/>
                    <a:pt x="3561080" y="66675"/>
                    <a:pt x="3561080" y="148844"/>
                  </a:cubicBezTo>
                  <a:lnTo>
                    <a:pt x="3561080" y="1339596"/>
                  </a:lnTo>
                  <a:cubicBezTo>
                    <a:pt x="3561080" y="1421765"/>
                    <a:pt x="3494405" y="1488440"/>
                    <a:pt x="341223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C3A5"/>
              </a:solidFill>
              <a:prstDash val="solid"/>
              <a:miter/>
            </a:ln>
          </p:spPr>
        </p:sp>
      </p:grpSp>
      <p:grpSp>
        <p:nvGrpSpPr>
          <p:cNvPr name="Group 155" id="155"/>
          <p:cNvGrpSpPr/>
          <p:nvPr/>
        </p:nvGrpSpPr>
        <p:grpSpPr>
          <a:xfrm rot="0">
            <a:off x="6574536" y="8567928"/>
            <a:ext cx="384048" cy="384048"/>
            <a:chOff x="0" y="0"/>
            <a:chExt cx="512064" cy="512064"/>
          </a:xfrm>
        </p:grpSpPr>
        <p:sp>
          <p:nvSpPr>
            <p:cNvPr name="Freeform 156" id="156" descr="FaCheckCircle_g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57" id="157"/>
          <p:cNvGrpSpPr/>
          <p:nvPr/>
        </p:nvGrpSpPr>
        <p:grpSpPr>
          <a:xfrm rot="0">
            <a:off x="7059168" y="8183880"/>
            <a:ext cx="1920240" cy="1097280"/>
            <a:chOff x="0" y="0"/>
            <a:chExt cx="2560320" cy="1463040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25603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3316" t="0" r="-23316" b="0"/>
              </a:stretch>
            </a:blipFill>
          </p:spPr>
        </p:sp>
        <p:sp>
          <p:nvSpPr>
            <p:cNvPr name="TextBox 159" id="159"/>
            <p:cNvSpPr txBox="true"/>
            <p:nvPr/>
          </p:nvSpPr>
          <p:spPr>
            <a:xfrm>
              <a:off x="0" y="-38100"/>
              <a:ext cx="256032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Auto-detect: webhook + polling</a:t>
              </a:r>
            </a:p>
          </p:txBody>
        </p:sp>
      </p:grpSp>
      <p:grpSp>
        <p:nvGrpSpPr>
          <p:cNvPr name="Group 160" id="160"/>
          <p:cNvGrpSpPr/>
          <p:nvPr/>
        </p:nvGrpSpPr>
        <p:grpSpPr>
          <a:xfrm rot="0">
            <a:off x="9207627" y="8174355"/>
            <a:ext cx="2670810" cy="1116330"/>
            <a:chOff x="0" y="0"/>
            <a:chExt cx="3561080" cy="1488440"/>
          </a:xfrm>
        </p:grpSpPr>
        <p:sp>
          <p:nvSpPr>
            <p:cNvPr name="Freeform 161" id="161"/>
            <p:cNvSpPr/>
            <p:nvPr/>
          </p:nvSpPr>
          <p:spPr>
            <a:xfrm flipH="false" flipV="false" rot="0">
              <a:off x="0" y="0"/>
              <a:ext cx="3561080" cy="1488440"/>
            </a:xfrm>
            <a:custGeom>
              <a:avLst/>
              <a:gdLst/>
              <a:ahLst/>
              <a:cxnLst/>
              <a:rect r="r" b="b" t="t" l="l"/>
              <a:pathLst>
                <a:path h="1488440" w="3561080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3412236" y="0"/>
                  </a:lnTo>
                  <a:cubicBezTo>
                    <a:pt x="3494405" y="0"/>
                    <a:pt x="3561080" y="66675"/>
                    <a:pt x="3561080" y="148844"/>
                  </a:cubicBezTo>
                  <a:lnTo>
                    <a:pt x="3561080" y="1339596"/>
                  </a:lnTo>
                  <a:cubicBezTo>
                    <a:pt x="3561080" y="1421765"/>
                    <a:pt x="3494405" y="1488440"/>
                    <a:pt x="341223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C3A5"/>
              </a:solidFill>
              <a:prstDash val="solid"/>
              <a:miter/>
            </a:ln>
          </p:spPr>
        </p:sp>
      </p:grpSp>
      <p:grpSp>
        <p:nvGrpSpPr>
          <p:cNvPr name="Group 162" id="162"/>
          <p:cNvGrpSpPr/>
          <p:nvPr/>
        </p:nvGrpSpPr>
        <p:grpSpPr>
          <a:xfrm rot="0">
            <a:off x="9372600" y="8567928"/>
            <a:ext cx="384048" cy="384048"/>
            <a:chOff x="0" y="0"/>
            <a:chExt cx="512064" cy="512064"/>
          </a:xfrm>
        </p:grpSpPr>
        <p:sp>
          <p:nvSpPr>
            <p:cNvPr name="Freeform 163" id="163" descr="FaCheckCircle_g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64" id="164"/>
          <p:cNvGrpSpPr/>
          <p:nvPr/>
        </p:nvGrpSpPr>
        <p:grpSpPr>
          <a:xfrm rot="0">
            <a:off x="9857232" y="8183880"/>
            <a:ext cx="1920240" cy="1097280"/>
            <a:chOff x="0" y="0"/>
            <a:chExt cx="2560320" cy="1463040"/>
          </a:xfrm>
        </p:grpSpPr>
        <p:sp>
          <p:nvSpPr>
            <p:cNvPr name="Freeform 165" id="165"/>
            <p:cNvSpPr/>
            <p:nvPr/>
          </p:nvSpPr>
          <p:spPr>
            <a:xfrm flipH="false" flipV="false" rot="0">
              <a:off x="0" y="0"/>
              <a:ext cx="25603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3316" t="0" r="-23316" b="0"/>
              </a:stretch>
            </a:blipFill>
          </p:spPr>
        </p:sp>
        <p:sp>
          <p:nvSpPr>
            <p:cNvPr name="TextBox 166" id="166"/>
            <p:cNvSpPr txBox="true"/>
            <p:nvPr/>
          </p:nvSpPr>
          <p:spPr>
            <a:xfrm>
              <a:off x="0" y="-38100"/>
              <a:ext cx="256032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Every claim traceable to code</a:t>
              </a:r>
            </a:p>
          </p:txBody>
        </p:sp>
      </p:grpSp>
      <p:grpSp>
        <p:nvGrpSpPr>
          <p:cNvPr name="Group 167" id="167"/>
          <p:cNvGrpSpPr/>
          <p:nvPr/>
        </p:nvGrpSpPr>
        <p:grpSpPr>
          <a:xfrm rot="0">
            <a:off x="12005691" y="8174355"/>
            <a:ext cx="2670810" cy="1116330"/>
            <a:chOff x="0" y="0"/>
            <a:chExt cx="3561080" cy="1488440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0" y="0"/>
              <a:ext cx="3561080" cy="1488440"/>
            </a:xfrm>
            <a:custGeom>
              <a:avLst/>
              <a:gdLst/>
              <a:ahLst/>
              <a:cxnLst/>
              <a:rect r="r" b="b" t="t" l="l"/>
              <a:pathLst>
                <a:path h="1488440" w="3561080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3412236" y="0"/>
                  </a:lnTo>
                  <a:cubicBezTo>
                    <a:pt x="3494405" y="0"/>
                    <a:pt x="3561080" y="66675"/>
                    <a:pt x="3561080" y="148844"/>
                  </a:cubicBezTo>
                  <a:lnTo>
                    <a:pt x="3561080" y="1339596"/>
                  </a:lnTo>
                  <a:cubicBezTo>
                    <a:pt x="3561080" y="1421765"/>
                    <a:pt x="3494405" y="1488440"/>
                    <a:pt x="341223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C3A5"/>
              </a:solidFill>
              <a:prstDash val="solid"/>
              <a:miter/>
            </a:ln>
          </p:spPr>
        </p:sp>
      </p:grpSp>
      <p:grpSp>
        <p:nvGrpSpPr>
          <p:cNvPr name="Group 169" id="169"/>
          <p:cNvGrpSpPr/>
          <p:nvPr/>
        </p:nvGrpSpPr>
        <p:grpSpPr>
          <a:xfrm rot="0">
            <a:off x="12170664" y="8567928"/>
            <a:ext cx="384048" cy="384048"/>
            <a:chOff x="0" y="0"/>
            <a:chExt cx="512064" cy="512064"/>
          </a:xfrm>
        </p:grpSpPr>
        <p:sp>
          <p:nvSpPr>
            <p:cNvPr name="Freeform 170" id="170" descr="FaCheckCircle_g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71" id="171"/>
          <p:cNvGrpSpPr/>
          <p:nvPr/>
        </p:nvGrpSpPr>
        <p:grpSpPr>
          <a:xfrm rot="0">
            <a:off x="12655296" y="8183880"/>
            <a:ext cx="1920240" cy="1097280"/>
            <a:chOff x="0" y="0"/>
            <a:chExt cx="2560320" cy="1463040"/>
          </a:xfrm>
        </p:grpSpPr>
        <p:sp>
          <p:nvSpPr>
            <p:cNvPr name="Freeform 172" id="172"/>
            <p:cNvSpPr/>
            <p:nvPr/>
          </p:nvSpPr>
          <p:spPr>
            <a:xfrm flipH="false" flipV="false" rot="0">
              <a:off x="0" y="0"/>
              <a:ext cx="25603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3316" t="0" r="-23316" b="0"/>
              </a:stretch>
            </a:blipFill>
          </p:spPr>
        </p:sp>
        <p:sp>
          <p:nvSpPr>
            <p:cNvPr name="TextBox 173" id="173"/>
            <p:cNvSpPr txBox="true"/>
            <p:nvPr/>
          </p:nvSpPr>
          <p:spPr>
            <a:xfrm>
              <a:off x="0" y="-38100"/>
              <a:ext cx="256032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Missing signal is never a guess</a:t>
              </a:r>
            </a:p>
          </p:txBody>
        </p:sp>
      </p:grpSp>
      <p:grpSp>
        <p:nvGrpSpPr>
          <p:cNvPr name="Group 174" id="174"/>
          <p:cNvGrpSpPr/>
          <p:nvPr/>
        </p:nvGrpSpPr>
        <p:grpSpPr>
          <a:xfrm rot="0">
            <a:off x="14803755" y="8174355"/>
            <a:ext cx="2670810" cy="1116330"/>
            <a:chOff x="0" y="0"/>
            <a:chExt cx="3561080" cy="1488440"/>
          </a:xfrm>
        </p:grpSpPr>
        <p:sp>
          <p:nvSpPr>
            <p:cNvPr name="Freeform 175" id="175"/>
            <p:cNvSpPr/>
            <p:nvPr/>
          </p:nvSpPr>
          <p:spPr>
            <a:xfrm flipH="false" flipV="false" rot="0">
              <a:off x="0" y="0"/>
              <a:ext cx="3561080" cy="1488440"/>
            </a:xfrm>
            <a:custGeom>
              <a:avLst/>
              <a:gdLst/>
              <a:ahLst/>
              <a:cxnLst/>
              <a:rect r="r" b="b" t="t" l="l"/>
              <a:pathLst>
                <a:path h="1488440" w="3561080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3412236" y="0"/>
                  </a:lnTo>
                  <a:cubicBezTo>
                    <a:pt x="3494405" y="0"/>
                    <a:pt x="3561080" y="66675"/>
                    <a:pt x="3561080" y="148844"/>
                  </a:cubicBezTo>
                  <a:lnTo>
                    <a:pt x="3561080" y="1339596"/>
                  </a:lnTo>
                  <a:cubicBezTo>
                    <a:pt x="3561080" y="1421765"/>
                    <a:pt x="3494405" y="1488440"/>
                    <a:pt x="341223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C3A5"/>
              </a:solidFill>
              <a:prstDash val="solid"/>
              <a:miter/>
            </a:ln>
          </p:spPr>
        </p:sp>
      </p:grpSp>
      <p:grpSp>
        <p:nvGrpSpPr>
          <p:cNvPr name="Group 176" id="176"/>
          <p:cNvGrpSpPr/>
          <p:nvPr/>
        </p:nvGrpSpPr>
        <p:grpSpPr>
          <a:xfrm rot="0">
            <a:off x="14968728" y="8567928"/>
            <a:ext cx="384048" cy="384048"/>
            <a:chOff x="0" y="0"/>
            <a:chExt cx="512064" cy="512064"/>
          </a:xfrm>
        </p:grpSpPr>
        <p:sp>
          <p:nvSpPr>
            <p:cNvPr name="Freeform 177" id="177" descr="FaCheckCircle_g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78" id="178"/>
          <p:cNvGrpSpPr/>
          <p:nvPr/>
        </p:nvGrpSpPr>
        <p:grpSpPr>
          <a:xfrm rot="0">
            <a:off x="15453360" y="8183880"/>
            <a:ext cx="1920240" cy="1097280"/>
            <a:chOff x="0" y="0"/>
            <a:chExt cx="2560320" cy="1463040"/>
          </a:xfrm>
        </p:grpSpPr>
        <p:sp>
          <p:nvSpPr>
            <p:cNvPr name="Freeform 179" id="179"/>
            <p:cNvSpPr/>
            <p:nvPr/>
          </p:nvSpPr>
          <p:spPr>
            <a:xfrm flipH="false" flipV="false" rot="0">
              <a:off x="0" y="0"/>
              <a:ext cx="25603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3316" t="0" r="-23316" b="0"/>
              </a:stretch>
            </a:blipFill>
          </p:spPr>
        </p:sp>
        <p:sp>
          <p:nvSpPr>
            <p:cNvPr name="TextBox 180" id="180"/>
            <p:cNvSpPr txBox="true"/>
            <p:nvPr/>
          </p:nvSpPr>
          <p:spPr>
            <a:xfrm>
              <a:off x="0" y="-38100"/>
              <a:ext cx="256032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Recommendations kept separate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24384000" y="13716000"/>
                  </a:moveTo>
                  <a:lnTo>
                    <a:pt x="0" y="13716000"/>
                  </a:lnTo>
                  <a:lnTo>
                    <a:pt x="0" y="0"/>
                  </a:lnTo>
                  <a:lnTo>
                    <a:pt x="24384000" y="0"/>
                  </a:lnTo>
                  <a:lnTo>
                    <a:pt x="24384000" y="13716000"/>
                  </a:lnTo>
                  <a:close/>
                </a:path>
              </a:pathLst>
            </a:custGeom>
            <a:solidFill>
              <a:srgbClr val="F4DFC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6772" y="9892865"/>
            <a:ext cx="18281647" cy="394335"/>
            <a:chOff x="0" y="0"/>
            <a:chExt cx="24375529" cy="5257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4983" cy="525526"/>
            </a:xfrm>
            <a:custGeom>
              <a:avLst/>
              <a:gdLst/>
              <a:ahLst/>
              <a:cxnLst/>
              <a:rect r="r" b="b" t="t" l="l"/>
              <a:pathLst>
                <a:path h="525526" w="24374983">
                  <a:moveTo>
                    <a:pt x="24374983" y="525526"/>
                  </a:moveTo>
                  <a:lnTo>
                    <a:pt x="0" y="525526"/>
                  </a:lnTo>
                  <a:lnTo>
                    <a:pt x="0" y="0"/>
                  </a:lnTo>
                  <a:lnTo>
                    <a:pt x="24374983" y="0"/>
                  </a:lnTo>
                  <a:lnTo>
                    <a:pt x="24374983" y="525526"/>
                  </a:lnTo>
                  <a:close/>
                </a:path>
              </a:pathLst>
            </a:custGeom>
            <a:solidFill>
              <a:srgbClr val="371704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772" y="0"/>
            <a:ext cx="18281228" cy="9892865"/>
            <a:chOff x="0" y="0"/>
            <a:chExt cx="24374970" cy="131904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74983" cy="13190474"/>
            </a:xfrm>
            <a:custGeom>
              <a:avLst/>
              <a:gdLst/>
              <a:ahLst/>
              <a:cxnLst/>
              <a:rect r="r" b="b" t="t" l="l"/>
              <a:pathLst>
                <a:path h="13190474" w="24374983">
                  <a:moveTo>
                    <a:pt x="0" y="0"/>
                  </a:moveTo>
                  <a:lnTo>
                    <a:pt x="24374983" y="0"/>
                  </a:lnTo>
                  <a:lnTo>
                    <a:pt x="24374983" y="13190474"/>
                  </a:lnTo>
                  <a:lnTo>
                    <a:pt x="0" y="13190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6" r="0" b="-96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0" y="18393"/>
            <a:ext cx="18288010" cy="1524733"/>
            <a:chOff x="0" y="0"/>
            <a:chExt cx="24384013" cy="203297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2033016"/>
            </a:xfrm>
            <a:custGeom>
              <a:avLst/>
              <a:gdLst/>
              <a:ahLst/>
              <a:cxnLst/>
              <a:rect r="r" b="b" t="t" l="l"/>
              <a:pathLst>
                <a:path h="203301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033016"/>
                  </a:lnTo>
                  <a:lnTo>
                    <a:pt x="0" y="2033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4" t="0" r="-24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514798" y="9696993"/>
            <a:ext cx="1274464" cy="388620"/>
            <a:chOff x="0" y="0"/>
            <a:chExt cx="1699285" cy="51816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99260" cy="518160"/>
            </a:xfrm>
            <a:custGeom>
              <a:avLst/>
              <a:gdLst/>
              <a:ahLst/>
              <a:cxnLst/>
              <a:rect r="r" b="b" t="t" l="l"/>
              <a:pathLst>
                <a:path h="518160" w="1699260">
                  <a:moveTo>
                    <a:pt x="0" y="0"/>
                  </a:moveTo>
                  <a:lnTo>
                    <a:pt x="1699260" y="0"/>
                  </a:lnTo>
                  <a:lnTo>
                    <a:pt x="1699260" y="518160"/>
                  </a:lnTo>
                  <a:lnTo>
                    <a:pt x="0" y="518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357" r="-1" b="-3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088285" y="141732"/>
            <a:ext cx="3648056" cy="1219200"/>
            <a:chOff x="0" y="0"/>
            <a:chExt cx="4864075" cy="1625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8641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4864100">
                  <a:moveTo>
                    <a:pt x="0" y="0"/>
                  </a:moveTo>
                  <a:lnTo>
                    <a:pt x="4864100" y="0"/>
                  </a:lnTo>
                  <a:lnTo>
                    <a:pt x="48641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59" r="0" b="-258"/>
              </a:stretch>
            </a:blipFill>
          </p:spPr>
        </p:sp>
      </p:grpSp>
      <p:sp>
        <p:nvSpPr>
          <p:cNvPr name="TextBox 16" id="16" descr="$PPTXTitle"/>
          <p:cNvSpPr txBox="true"/>
          <p:nvPr/>
        </p:nvSpPr>
        <p:spPr>
          <a:xfrm rot="0">
            <a:off x="4883641" y="445008"/>
            <a:ext cx="8520708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373">
                <a:solidFill>
                  <a:srgbClr val="FFFF00"/>
                </a:solidFill>
                <a:latin typeface="Doulos"/>
                <a:ea typeface="Doulos"/>
                <a:cs typeface="Doulos"/>
                <a:sym typeface="Doulos"/>
              </a:rPr>
              <a:t>FUTURE SCOPE &amp; CHALLENGES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352016" y="9985877"/>
            <a:ext cx="396240" cy="288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b="true" sz="2150" spc="34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22960" y="1664208"/>
            <a:ext cx="16642080" cy="868680"/>
            <a:chOff x="0" y="0"/>
            <a:chExt cx="22189440" cy="1158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189439" cy="1158240"/>
            </a:xfrm>
            <a:custGeom>
              <a:avLst/>
              <a:gdLst/>
              <a:ahLst/>
              <a:cxnLst/>
              <a:rect r="r" b="b" t="t" l="l"/>
              <a:pathLst>
                <a:path h="115824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23292" r="0" b="-32329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189440" cy="1158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spc="-33">
                  <a:solidFill>
                    <a:srgbClr val="732017"/>
                  </a:solidFill>
                  <a:latin typeface="Doulos"/>
                  <a:ea typeface="Doulos"/>
                  <a:cs typeface="Doulos"/>
                  <a:sym typeface="Doulos"/>
                </a:rPr>
                <a:t>Limits said first. Roadmap next.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2606040"/>
            <a:ext cx="4937760" cy="475488"/>
            <a:chOff x="0" y="0"/>
            <a:chExt cx="6583680" cy="63398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583680" cy="633984"/>
            </a:xfrm>
            <a:custGeom>
              <a:avLst/>
              <a:gdLst/>
              <a:ahLst/>
              <a:cxnLst/>
              <a:rect r="r" b="b" t="t" l="l"/>
              <a:pathLst>
                <a:path h="633984" w="6583680">
                  <a:moveTo>
                    <a:pt x="0" y="316992"/>
                  </a:moveTo>
                  <a:cubicBezTo>
                    <a:pt x="0" y="141859"/>
                    <a:pt x="141859" y="0"/>
                    <a:pt x="316992" y="0"/>
                  </a:cubicBezTo>
                  <a:lnTo>
                    <a:pt x="6266688" y="0"/>
                  </a:lnTo>
                  <a:cubicBezTo>
                    <a:pt x="6441821" y="0"/>
                    <a:pt x="6583680" y="141859"/>
                    <a:pt x="6583680" y="316992"/>
                  </a:cubicBezTo>
                  <a:cubicBezTo>
                    <a:pt x="6583680" y="492125"/>
                    <a:pt x="6441821" y="633984"/>
                    <a:pt x="6266688" y="633984"/>
                  </a:cubicBezTo>
                  <a:lnTo>
                    <a:pt x="316992" y="633984"/>
                  </a:lnTo>
                  <a:cubicBezTo>
                    <a:pt x="141859" y="633984"/>
                    <a:pt x="0" y="492125"/>
                    <a:pt x="0" y="316992"/>
                  </a:cubicBezTo>
                  <a:close/>
                </a:path>
              </a:pathLst>
            </a:custGeom>
            <a:solidFill>
              <a:srgbClr val="9A6512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6583680" cy="6720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· said first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07082" y="3230242"/>
            <a:ext cx="8261347" cy="836419"/>
            <a:chOff x="0" y="0"/>
            <a:chExt cx="11015129" cy="111522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1015218" cy="1115314"/>
            </a:xfrm>
            <a:custGeom>
              <a:avLst/>
              <a:gdLst/>
              <a:ahLst/>
              <a:cxnLst/>
              <a:rect r="r" b="b" t="t" l="l"/>
              <a:pathLst>
                <a:path h="1115314" w="11015218">
                  <a:moveTo>
                    <a:pt x="0" y="190119"/>
                  </a:moveTo>
                  <a:cubicBezTo>
                    <a:pt x="0" y="85090"/>
                    <a:pt x="85090" y="0"/>
                    <a:pt x="190119" y="0"/>
                  </a:cubicBezTo>
                  <a:lnTo>
                    <a:pt x="10825099" y="0"/>
                  </a:lnTo>
                  <a:cubicBezTo>
                    <a:pt x="10930128" y="0"/>
                    <a:pt x="11015218" y="85090"/>
                    <a:pt x="11015218" y="190119"/>
                  </a:cubicBezTo>
                  <a:lnTo>
                    <a:pt x="11015218" y="925195"/>
                  </a:lnTo>
                  <a:cubicBezTo>
                    <a:pt x="11015218" y="1030224"/>
                    <a:pt x="10930128" y="1115314"/>
                    <a:pt x="10825099" y="1115314"/>
                  </a:cubicBezTo>
                  <a:lnTo>
                    <a:pt x="190119" y="1115314"/>
                  </a:lnTo>
                  <a:cubicBezTo>
                    <a:pt x="85090" y="1115187"/>
                    <a:pt x="0" y="1030097"/>
                    <a:pt x="0" y="925195"/>
                  </a:cubicBezTo>
                  <a:close/>
                </a:path>
              </a:pathLst>
            </a:custGeom>
            <a:solidFill>
              <a:srgbClr val="F8ECD3"/>
            </a:solidFill>
            <a:ln w="31750" cap="sq">
              <a:solidFill>
                <a:srgbClr val="9A651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051560" y="3419856"/>
            <a:ext cx="457200" cy="457200"/>
            <a:chOff x="0" y="0"/>
            <a:chExt cx="609600" cy="609600"/>
          </a:xfrm>
        </p:grpSpPr>
        <p:sp>
          <p:nvSpPr>
            <p:cNvPr name="Freeform 27" id="27" descr="FaExclamationTriangle_a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828800" y="3282696"/>
            <a:ext cx="7132320" cy="402336"/>
            <a:chOff x="0" y="0"/>
            <a:chExt cx="9509760" cy="53644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509760" cy="536448"/>
            </a:xfrm>
            <a:custGeom>
              <a:avLst/>
              <a:gdLst/>
              <a:ahLst/>
              <a:cxnLst/>
              <a:rect r="r" b="b" t="t" l="l"/>
              <a:pathLst>
                <a:path h="536448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95416" r="0" b="-29541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950976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detector families, 2 ecosystems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828800" y="3675888"/>
            <a:ext cx="7132320" cy="329184"/>
            <a:chOff x="0" y="0"/>
            <a:chExt cx="9509760" cy="43891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509760" cy="438912"/>
            </a:xfrm>
            <a:custGeom>
              <a:avLst/>
              <a:gdLst/>
              <a:ahLst/>
              <a:cxnLst/>
              <a:rect r="r" b="b" t="t" l="l"/>
              <a:pathLst>
                <a:path h="438912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950976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6B4A3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detector in this version → Unclear. Python and JS/TS only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07082" y="4126354"/>
            <a:ext cx="8261347" cy="836419"/>
            <a:chOff x="0" y="0"/>
            <a:chExt cx="11015129" cy="1115225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015218" cy="1115314"/>
            </a:xfrm>
            <a:custGeom>
              <a:avLst/>
              <a:gdLst/>
              <a:ahLst/>
              <a:cxnLst/>
              <a:rect r="r" b="b" t="t" l="l"/>
              <a:pathLst>
                <a:path h="1115314" w="11015218">
                  <a:moveTo>
                    <a:pt x="0" y="190119"/>
                  </a:moveTo>
                  <a:cubicBezTo>
                    <a:pt x="0" y="85090"/>
                    <a:pt x="85090" y="0"/>
                    <a:pt x="190119" y="0"/>
                  </a:cubicBezTo>
                  <a:lnTo>
                    <a:pt x="10825099" y="0"/>
                  </a:lnTo>
                  <a:cubicBezTo>
                    <a:pt x="10930128" y="0"/>
                    <a:pt x="11015218" y="85090"/>
                    <a:pt x="11015218" y="190119"/>
                  </a:cubicBezTo>
                  <a:lnTo>
                    <a:pt x="11015218" y="925195"/>
                  </a:lnTo>
                  <a:cubicBezTo>
                    <a:pt x="11015218" y="1030224"/>
                    <a:pt x="10930128" y="1115314"/>
                    <a:pt x="10825099" y="1115314"/>
                  </a:cubicBezTo>
                  <a:lnTo>
                    <a:pt x="190119" y="1115314"/>
                  </a:lnTo>
                  <a:cubicBezTo>
                    <a:pt x="85090" y="1115187"/>
                    <a:pt x="0" y="1030097"/>
                    <a:pt x="0" y="925195"/>
                  </a:cubicBezTo>
                  <a:close/>
                </a:path>
              </a:pathLst>
            </a:custGeom>
            <a:solidFill>
              <a:srgbClr val="F8ECD3"/>
            </a:solidFill>
            <a:ln w="31750" cap="sq">
              <a:solidFill>
                <a:srgbClr val="9A651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051560" y="4315968"/>
            <a:ext cx="457200" cy="457200"/>
            <a:chOff x="0" y="0"/>
            <a:chExt cx="609600" cy="609600"/>
          </a:xfrm>
        </p:grpSpPr>
        <p:sp>
          <p:nvSpPr>
            <p:cNvPr name="Freeform 37" id="37" descr="FaExclamationTriangle_a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828800" y="4178808"/>
            <a:ext cx="7132320" cy="402336"/>
            <a:chOff x="0" y="0"/>
            <a:chExt cx="9509760" cy="53644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509760" cy="536448"/>
            </a:xfrm>
            <a:custGeom>
              <a:avLst/>
              <a:gdLst/>
              <a:ahLst/>
              <a:cxnLst/>
              <a:rect r="r" b="b" t="t" l="l"/>
              <a:pathLst>
                <a:path h="536448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95416" r="0" b="-295416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950976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Evidence of use, not proficiency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828800" y="4572000"/>
            <a:ext cx="7132320" cy="329184"/>
            <a:chOff x="0" y="0"/>
            <a:chExt cx="9509760" cy="43891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509760" cy="438912"/>
            </a:xfrm>
            <a:custGeom>
              <a:avLst/>
              <a:gdLst/>
              <a:ahLst/>
              <a:cxnLst/>
              <a:rect r="r" b="b" t="t" l="l"/>
              <a:pathLst>
                <a:path h="438912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950976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6B4A3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Static analysis can’t show skill level or authorship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07082" y="5022466"/>
            <a:ext cx="8261347" cy="836419"/>
            <a:chOff x="0" y="0"/>
            <a:chExt cx="11015129" cy="111522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015218" cy="1115314"/>
            </a:xfrm>
            <a:custGeom>
              <a:avLst/>
              <a:gdLst/>
              <a:ahLst/>
              <a:cxnLst/>
              <a:rect r="r" b="b" t="t" l="l"/>
              <a:pathLst>
                <a:path h="1115314" w="11015218">
                  <a:moveTo>
                    <a:pt x="0" y="190119"/>
                  </a:moveTo>
                  <a:cubicBezTo>
                    <a:pt x="0" y="85090"/>
                    <a:pt x="85090" y="0"/>
                    <a:pt x="190119" y="0"/>
                  </a:cubicBezTo>
                  <a:lnTo>
                    <a:pt x="10825099" y="0"/>
                  </a:lnTo>
                  <a:cubicBezTo>
                    <a:pt x="10930128" y="0"/>
                    <a:pt x="11015218" y="85090"/>
                    <a:pt x="11015218" y="190119"/>
                  </a:cubicBezTo>
                  <a:lnTo>
                    <a:pt x="11015218" y="925195"/>
                  </a:lnTo>
                  <a:cubicBezTo>
                    <a:pt x="11015218" y="1030224"/>
                    <a:pt x="10930128" y="1115314"/>
                    <a:pt x="10825099" y="1115314"/>
                  </a:cubicBezTo>
                  <a:lnTo>
                    <a:pt x="190119" y="1115314"/>
                  </a:lnTo>
                  <a:cubicBezTo>
                    <a:pt x="85090" y="1115187"/>
                    <a:pt x="0" y="1030097"/>
                    <a:pt x="0" y="925195"/>
                  </a:cubicBezTo>
                  <a:close/>
                </a:path>
              </a:pathLst>
            </a:custGeom>
            <a:solidFill>
              <a:srgbClr val="F8ECD3"/>
            </a:solidFill>
            <a:ln w="31750" cap="sq">
              <a:solidFill>
                <a:srgbClr val="9A6512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1051560" y="5212080"/>
            <a:ext cx="457200" cy="457200"/>
            <a:chOff x="0" y="0"/>
            <a:chExt cx="609600" cy="609600"/>
          </a:xfrm>
        </p:grpSpPr>
        <p:sp>
          <p:nvSpPr>
            <p:cNvPr name="Freeform 47" id="47" descr="FaExclamationTriangle_a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828800" y="5074920"/>
            <a:ext cx="7132320" cy="402336"/>
            <a:chOff x="0" y="0"/>
            <a:chExt cx="9509760" cy="53644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9509760" cy="536448"/>
            </a:xfrm>
            <a:custGeom>
              <a:avLst/>
              <a:gdLst/>
              <a:ahLst/>
              <a:cxnLst/>
              <a:rect r="r" b="b" t="t" l="l"/>
              <a:pathLst>
                <a:path h="536448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95416" r="0" b="-295416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47625"/>
              <a:ext cx="950976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Heuristics can miss unusual code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828800" y="5468112"/>
            <a:ext cx="7132320" cy="329184"/>
            <a:chOff x="0" y="0"/>
            <a:chExt cx="9509760" cy="43891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9509760" cy="438912"/>
            </a:xfrm>
            <a:custGeom>
              <a:avLst/>
              <a:gdLst/>
              <a:ahLst/>
              <a:cxnLst/>
              <a:rect r="r" b="b" t="t" l="l"/>
              <a:pathLst>
                <a:path h="438912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950976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6B4A3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Thin signals → Unclear; “this evidence is wrong” button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807082" y="5918578"/>
            <a:ext cx="8261347" cy="836419"/>
            <a:chOff x="0" y="0"/>
            <a:chExt cx="11015129" cy="1115225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1015218" cy="1115314"/>
            </a:xfrm>
            <a:custGeom>
              <a:avLst/>
              <a:gdLst/>
              <a:ahLst/>
              <a:cxnLst/>
              <a:rect r="r" b="b" t="t" l="l"/>
              <a:pathLst>
                <a:path h="1115314" w="11015218">
                  <a:moveTo>
                    <a:pt x="0" y="190119"/>
                  </a:moveTo>
                  <a:cubicBezTo>
                    <a:pt x="0" y="85090"/>
                    <a:pt x="85090" y="0"/>
                    <a:pt x="190119" y="0"/>
                  </a:cubicBezTo>
                  <a:lnTo>
                    <a:pt x="10825099" y="0"/>
                  </a:lnTo>
                  <a:cubicBezTo>
                    <a:pt x="10930128" y="0"/>
                    <a:pt x="11015218" y="85090"/>
                    <a:pt x="11015218" y="190119"/>
                  </a:cubicBezTo>
                  <a:lnTo>
                    <a:pt x="11015218" y="925195"/>
                  </a:lnTo>
                  <a:cubicBezTo>
                    <a:pt x="11015218" y="1030224"/>
                    <a:pt x="10930128" y="1115314"/>
                    <a:pt x="10825099" y="1115314"/>
                  </a:cubicBezTo>
                  <a:lnTo>
                    <a:pt x="190119" y="1115314"/>
                  </a:lnTo>
                  <a:cubicBezTo>
                    <a:pt x="85090" y="1115187"/>
                    <a:pt x="0" y="1030097"/>
                    <a:pt x="0" y="925195"/>
                  </a:cubicBezTo>
                  <a:close/>
                </a:path>
              </a:pathLst>
            </a:custGeom>
            <a:solidFill>
              <a:srgbClr val="F8ECD3"/>
            </a:solidFill>
            <a:ln w="31750" cap="sq">
              <a:solidFill>
                <a:srgbClr val="9A6512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1051560" y="6108192"/>
            <a:ext cx="457200" cy="457200"/>
            <a:chOff x="0" y="0"/>
            <a:chExt cx="609600" cy="609600"/>
          </a:xfrm>
        </p:grpSpPr>
        <p:sp>
          <p:nvSpPr>
            <p:cNvPr name="Freeform 57" id="57" descr="FaExclamationTriangle_a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828800" y="5971032"/>
            <a:ext cx="7132320" cy="402336"/>
            <a:chOff x="0" y="0"/>
            <a:chExt cx="9509760" cy="536448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9509760" cy="536448"/>
            </a:xfrm>
            <a:custGeom>
              <a:avLst/>
              <a:gdLst/>
              <a:ahLst/>
              <a:cxnLst/>
              <a:rect r="r" b="b" t="t" l="l"/>
              <a:pathLst>
                <a:path h="536448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95416" r="0" b="-295416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47625"/>
              <a:ext cx="950976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Rate limits &amp; private repos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828800" y="6364224"/>
            <a:ext cx="7132320" cy="329184"/>
            <a:chOff x="0" y="0"/>
            <a:chExt cx="9509760" cy="43891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9509760" cy="438912"/>
            </a:xfrm>
            <a:custGeom>
              <a:avLst/>
              <a:gdLst/>
              <a:ahLst/>
              <a:cxnLst/>
              <a:rect r="r" b="b" t="t" l="l"/>
              <a:pathLst>
                <a:path h="438912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950976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6B4A3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Marked Unclear; banner names what was skipped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807082" y="6814690"/>
            <a:ext cx="8261347" cy="836419"/>
            <a:chOff x="0" y="0"/>
            <a:chExt cx="11015129" cy="1115225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1015218" cy="1115314"/>
            </a:xfrm>
            <a:custGeom>
              <a:avLst/>
              <a:gdLst/>
              <a:ahLst/>
              <a:cxnLst/>
              <a:rect r="r" b="b" t="t" l="l"/>
              <a:pathLst>
                <a:path h="1115314" w="11015218">
                  <a:moveTo>
                    <a:pt x="0" y="190119"/>
                  </a:moveTo>
                  <a:cubicBezTo>
                    <a:pt x="0" y="85090"/>
                    <a:pt x="85090" y="0"/>
                    <a:pt x="190119" y="0"/>
                  </a:cubicBezTo>
                  <a:lnTo>
                    <a:pt x="10825099" y="0"/>
                  </a:lnTo>
                  <a:cubicBezTo>
                    <a:pt x="10930128" y="0"/>
                    <a:pt x="11015218" y="85090"/>
                    <a:pt x="11015218" y="190119"/>
                  </a:cubicBezTo>
                  <a:lnTo>
                    <a:pt x="11015218" y="925195"/>
                  </a:lnTo>
                  <a:cubicBezTo>
                    <a:pt x="11015218" y="1030224"/>
                    <a:pt x="10930128" y="1115314"/>
                    <a:pt x="10825099" y="1115314"/>
                  </a:cubicBezTo>
                  <a:lnTo>
                    <a:pt x="190119" y="1115314"/>
                  </a:lnTo>
                  <a:cubicBezTo>
                    <a:pt x="85090" y="1115187"/>
                    <a:pt x="0" y="1030097"/>
                    <a:pt x="0" y="925195"/>
                  </a:cubicBezTo>
                  <a:close/>
                </a:path>
              </a:pathLst>
            </a:custGeom>
            <a:solidFill>
              <a:srgbClr val="F8ECD3"/>
            </a:solidFill>
            <a:ln w="31750" cap="sq">
              <a:solidFill>
                <a:srgbClr val="9A651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1051560" y="7004304"/>
            <a:ext cx="457200" cy="457200"/>
            <a:chOff x="0" y="0"/>
            <a:chExt cx="609600" cy="609600"/>
          </a:xfrm>
        </p:grpSpPr>
        <p:sp>
          <p:nvSpPr>
            <p:cNvPr name="Freeform 67" id="67" descr="FaExclamationTriangle_a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828800" y="6867144"/>
            <a:ext cx="7132320" cy="402336"/>
            <a:chOff x="0" y="0"/>
            <a:chExt cx="9509760" cy="536448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9509760" cy="536448"/>
            </a:xfrm>
            <a:custGeom>
              <a:avLst/>
              <a:gdLst/>
              <a:ahLst/>
              <a:cxnLst/>
              <a:rect r="r" b="b" t="t" l="l"/>
              <a:pathLst>
                <a:path h="536448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95416" r="0" b="-295416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47625"/>
              <a:ext cx="950976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Small benchmark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828800" y="7260336"/>
            <a:ext cx="7132320" cy="329184"/>
            <a:chOff x="0" y="0"/>
            <a:chExt cx="9509760" cy="43891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9509760" cy="438912"/>
            </a:xfrm>
            <a:custGeom>
              <a:avLst/>
              <a:gdLst/>
              <a:ahLst/>
              <a:cxnLst/>
              <a:rect r="r" b="b" t="t" l="l"/>
              <a:pathLst>
                <a:path h="438912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950976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6B4A3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Shown with n and 95% Wilson interval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807082" y="7710802"/>
            <a:ext cx="8261347" cy="836419"/>
            <a:chOff x="0" y="0"/>
            <a:chExt cx="11015129" cy="1115225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1015218" cy="1115314"/>
            </a:xfrm>
            <a:custGeom>
              <a:avLst/>
              <a:gdLst/>
              <a:ahLst/>
              <a:cxnLst/>
              <a:rect r="r" b="b" t="t" l="l"/>
              <a:pathLst>
                <a:path h="1115314" w="11015218">
                  <a:moveTo>
                    <a:pt x="0" y="190119"/>
                  </a:moveTo>
                  <a:cubicBezTo>
                    <a:pt x="0" y="85090"/>
                    <a:pt x="85090" y="0"/>
                    <a:pt x="190119" y="0"/>
                  </a:cubicBezTo>
                  <a:lnTo>
                    <a:pt x="10825099" y="0"/>
                  </a:lnTo>
                  <a:cubicBezTo>
                    <a:pt x="10930128" y="0"/>
                    <a:pt x="11015218" y="85090"/>
                    <a:pt x="11015218" y="190119"/>
                  </a:cubicBezTo>
                  <a:lnTo>
                    <a:pt x="11015218" y="925195"/>
                  </a:lnTo>
                  <a:cubicBezTo>
                    <a:pt x="11015218" y="1030224"/>
                    <a:pt x="10930128" y="1115314"/>
                    <a:pt x="10825099" y="1115314"/>
                  </a:cubicBezTo>
                  <a:lnTo>
                    <a:pt x="190119" y="1115314"/>
                  </a:lnTo>
                  <a:cubicBezTo>
                    <a:pt x="85090" y="1115187"/>
                    <a:pt x="0" y="1030097"/>
                    <a:pt x="0" y="925195"/>
                  </a:cubicBezTo>
                  <a:close/>
                </a:path>
              </a:pathLst>
            </a:custGeom>
            <a:solidFill>
              <a:srgbClr val="F8ECD3"/>
            </a:solidFill>
            <a:ln w="31750" cap="sq">
              <a:solidFill>
                <a:srgbClr val="9A6512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051560" y="7900416"/>
            <a:ext cx="457200" cy="457200"/>
            <a:chOff x="0" y="0"/>
            <a:chExt cx="609600" cy="609600"/>
          </a:xfrm>
        </p:grpSpPr>
        <p:sp>
          <p:nvSpPr>
            <p:cNvPr name="Freeform 77" id="77" descr="FaExclamationTriangle_a.png"/>
            <p:cNvSpPr/>
            <p:nvPr/>
          </p:nvSpPr>
          <p:spPr>
            <a:xfrm flipH="false" flipV="false" rot="0">
              <a:off x="0" y="0"/>
              <a:ext cx="609600" cy="609600"/>
            </a:xfrm>
            <a:custGeom>
              <a:avLst/>
              <a:gdLst/>
              <a:ahLst/>
              <a:cxnLst/>
              <a:rect r="r" b="b" t="t" l="l"/>
              <a:pathLst>
                <a:path h="60960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828800" y="7763256"/>
            <a:ext cx="7132320" cy="402336"/>
            <a:chOff x="0" y="0"/>
            <a:chExt cx="9509760" cy="536448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9509760" cy="536448"/>
            </a:xfrm>
            <a:custGeom>
              <a:avLst/>
              <a:gdLst/>
              <a:ahLst/>
              <a:cxnLst/>
              <a:rect r="r" b="b" t="t" l="l"/>
              <a:pathLst>
                <a:path h="536448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95416" r="0" b="-295416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950976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60"/>
                </a:lnSpc>
              </a:pPr>
              <a:r>
                <a:rPr lang="en-US" sz="23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Provenance is a signal, not proof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828800" y="8156448"/>
            <a:ext cx="7132320" cy="329184"/>
            <a:chOff x="0" y="0"/>
            <a:chExt cx="9509760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9509760" cy="438912"/>
            </a:xfrm>
            <a:custGeom>
              <a:avLst/>
              <a:gdLst/>
              <a:ahLst/>
              <a:cxnLst/>
              <a:rect r="r" b="b" t="t" l="l"/>
              <a:pathLst>
                <a:path h="438912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950976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99"/>
                </a:lnSpc>
              </a:pPr>
              <a:r>
                <a:rPr lang="en-US" sz="1749">
                  <a:solidFill>
                    <a:srgbClr val="6B4A3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Large uploads flag review, never accusation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9493882" y="2773042"/>
            <a:ext cx="7987027" cy="5792467"/>
            <a:chOff x="0" y="0"/>
            <a:chExt cx="10649369" cy="7723289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0649331" cy="7723251"/>
            </a:xfrm>
            <a:custGeom>
              <a:avLst/>
              <a:gdLst/>
              <a:ahLst/>
              <a:cxnLst/>
              <a:rect r="r" b="b" t="t" l="l"/>
              <a:pathLst>
                <a:path h="7723251" w="10649331">
                  <a:moveTo>
                    <a:pt x="0" y="245110"/>
                  </a:moveTo>
                  <a:cubicBezTo>
                    <a:pt x="0" y="109728"/>
                    <a:pt x="109728" y="0"/>
                    <a:pt x="245110" y="0"/>
                  </a:cubicBezTo>
                  <a:lnTo>
                    <a:pt x="10404221" y="0"/>
                  </a:lnTo>
                  <a:cubicBezTo>
                    <a:pt x="10539602" y="0"/>
                    <a:pt x="10649331" y="109728"/>
                    <a:pt x="10649331" y="245110"/>
                  </a:cubicBezTo>
                  <a:lnTo>
                    <a:pt x="10649331" y="7478141"/>
                  </a:lnTo>
                  <a:cubicBezTo>
                    <a:pt x="10649331" y="7613523"/>
                    <a:pt x="10539602" y="7723251"/>
                    <a:pt x="10404221" y="7723251"/>
                  </a:cubicBezTo>
                  <a:lnTo>
                    <a:pt x="245110" y="7723251"/>
                  </a:lnTo>
                  <a:cubicBezTo>
                    <a:pt x="109728" y="7723251"/>
                    <a:pt x="0" y="7613523"/>
                    <a:pt x="0" y="7478141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32010">
                    <a:alpha val="100000"/>
                  </a:srgbClr>
                </a:gs>
                <a:gs pos="100000">
                  <a:srgbClr val="24100A">
                    <a:alpha val="100000"/>
                  </a:srgbClr>
                </a:gs>
              </a:gsLst>
              <a:lin ang="16200000"/>
            </a:gradFill>
            <a:ln w="31750" cap="sq">
              <a:solidFill>
                <a:srgbClr val="C9A24A"/>
              </a:solidFill>
              <a:prstDash val="solid"/>
              <a:miter/>
            </a:ln>
          </p:spPr>
        </p:sp>
      </p:grpSp>
      <p:grpSp>
        <p:nvGrpSpPr>
          <p:cNvPr name="Group 86" id="86"/>
          <p:cNvGrpSpPr/>
          <p:nvPr/>
        </p:nvGrpSpPr>
        <p:grpSpPr>
          <a:xfrm rot="0">
            <a:off x="9875520" y="2560320"/>
            <a:ext cx="5486400" cy="475488"/>
            <a:chOff x="0" y="0"/>
            <a:chExt cx="7315200" cy="63398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7315200" cy="633984"/>
            </a:xfrm>
            <a:custGeom>
              <a:avLst/>
              <a:gdLst/>
              <a:ahLst/>
              <a:cxnLst/>
              <a:rect r="r" b="b" t="t" l="l"/>
              <a:pathLst>
                <a:path h="633984" w="7315200">
                  <a:moveTo>
                    <a:pt x="0" y="316992"/>
                  </a:moveTo>
                  <a:cubicBezTo>
                    <a:pt x="0" y="141859"/>
                    <a:pt x="141859" y="0"/>
                    <a:pt x="316992" y="0"/>
                  </a:cubicBezTo>
                  <a:lnTo>
                    <a:pt x="6998208" y="0"/>
                  </a:lnTo>
                  <a:cubicBezTo>
                    <a:pt x="7173341" y="0"/>
                    <a:pt x="7315200" y="141859"/>
                    <a:pt x="7315200" y="316992"/>
                  </a:cubicBezTo>
                  <a:cubicBezTo>
                    <a:pt x="7315200" y="492125"/>
                    <a:pt x="7173341" y="633984"/>
                    <a:pt x="6998208" y="633984"/>
                  </a:cubicBezTo>
                  <a:lnTo>
                    <a:pt x="316992" y="633984"/>
                  </a:lnTo>
                  <a:cubicBezTo>
                    <a:pt x="141859" y="633984"/>
                    <a:pt x="0" y="492125"/>
                    <a:pt x="0" y="316992"/>
                  </a:cubicBezTo>
                  <a:close/>
                </a:path>
              </a:pathLst>
            </a:custGeom>
            <a:solidFill>
              <a:srgbClr val="C9A24A"/>
            </a:solid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38100"/>
              <a:ext cx="7315200" cy="6720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37170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ROADMAP · beyond the core build</a:t>
              </a:r>
            </a:p>
          </p:txBody>
        </p:sp>
      </p:grpSp>
      <p:sp>
        <p:nvSpPr>
          <p:cNvPr name="AutoShape 89" id="89"/>
          <p:cNvSpPr/>
          <p:nvPr/>
        </p:nvSpPr>
        <p:spPr>
          <a:xfrm rot="5358060">
            <a:off x="8478364" y="5695950"/>
            <a:ext cx="4165911" cy="0"/>
          </a:xfrm>
          <a:prstGeom prst="line">
            <a:avLst/>
          </a:prstGeom>
          <a:ln cap="rnd" w="38100">
            <a:solidFill>
              <a:srgbClr val="C9A24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0" id="90"/>
          <p:cNvGrpSpPr/>
          <p:nvPr/>
        </p:nvGrpSpPr>
        <p:grpSpPr>
          <a:xfrm rot="0">
            <a:off x="10241280" y="3273552"/>
            <a:ext cx="640080" cy="640080"/>
            <a:chOff x="0" y="0"/>
            <a:chExt cx="853440" cy="85344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426720"/>
                  </a:moveTo>
                  <a:cubicBezTo>
                    <a:pt x="0" y="191008"/>
                    <a:pt x="191008" y="0"/>
                    <a:pt x="426720" y="0"/>
                  </a:cubicBezTo>
                  <a:cubicBezTo>
                    <a:pt x="662432" y="0"/>
                    <a:pt x="853440" y="191008"/>
                    <a:pt x="853440" y="426720"/>
                  </a:cubicBezTo>
                  <a:cubicBezTo>
                    <a:pt x="853440" y="662432"/>
                    <a:pt x="662432" y="853440"/>
                    <a:pt x="426720" y="853440"/>
                  </a:cubicBezTo>
                  <a:cubicBezTo>
                    <a:pt x="191008" y="853440"/>
                    <a:pt x="0" y="662432"/>
                    <a:pt x="0" y="426720"/>
                  </a:cubicBezTo>
                  <a:close/>
                </a:path>
              </a:pathLst>
            </a:custGeom>
            <a:solidFill>
              <a:srgbClr val="FFD54A"/>
            </a:solid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0369296" y="3401568"/>
            <a:ext cx="384048" cy="384048"/>
            <a:chOff x="0" y="0"/>
            <a:chExt cx="512064" cy="512064"/>
          </a:xfrm>
        </p:grpSpPr>
        <p:sp>
          <p:nvSpPr>
            <p:cNvPr name="Freeform 93" id="93" descr="FaUsers_b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94" id="94"/>
          <p:cNvGrpSpPr/>
          <p:nvPr/>
        </p:nvGrpSpPr>
        <p:grpSpPr>
          <a:xfrm rot="0">
            <a:off x="11201400" y="3218688"/>
            <a:ext cx="6126480" cy="402336"/>
            <a:chOff x="0" y="0"/>
            <a:chExt cx="8168640" cy="53644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168640" cy="536448"/>
            </a:xfrm>
            <a:custGeom>
              <a:avLst/>
              <a:gdLst/>
              <a:ahLst/>
              <a:cxnLst/>
              <a:rect r="r" b="b" t="t" l="l"/>
              <a:pathLst>
                <a:path h="536448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46703" r="0" b="-246703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47625"/>
              <a:ext cx="816864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Multi-job comparison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1201400" y="3621024"/>
            <a:ext cx="6126480" cy="329184"/>
            <a:chOff x="0" y="0"/>
            <a:chExt cx="8168640" cy="43891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8168640" cy="438912"/>
            </a:xfrm>
            <a:custGeom>
              <a:avLst/>
              <a:gdLst/>
              <a:ahLst/>
              <a:cxnLst/>
              <a:rect r="r" b="b" t="t" l="l"/>
              <a:pathLst>
                <a:path h="438912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12638" r="0" b="-312638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38100"/>
              <a:ext cx="816864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E8CDA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Cut from this build; roadmap only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10241280" y="4142232"/>
            <a:ext cx="640080" cy="640080"/>
            <a:chOff x="0" y="0"/>
            <a:chExt cx="853440" cy="85344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426720"/>
                  </a:moveTo>
                  <a:cubicBezTo>
                    <a:pt x="0" y="191008"/>
                    <a:pt x="191008" y="0"/>
                    <a:pt x="426720" y="0"/>
                  </a:cubicBezTo>
                  <a:cubicBezTo>
                    <a:pt x="662432" y="0"/>
                    <a:pt x="853440" y="191008"/>
                    <a:pt x="853440" y="426720"/>
                  </a:cubicBezTo>
                  <a:cubicBezTo>
                    <a:pt x="853440" y="662432"/>
                    <a:pt x="662432" y="853440"/>
                    <a:pt x="426720" y="853440"/>
                  </a:cubicBezTo>
                  <a:cubicBezTo>
                    <a:pt x="191008" y="853440"/>
                    <a:pt x="0" y="662432"/>
                    <a:pt x="0" y="426720"/>
                  </a:cubicBezTo>
                  <a:close/>
                </a:path>
              </a:pathLst>
            </a:custGeom>
            <a:solidFill>
              <a:srgbClr val="FFD54A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10369296" y="4270248"/>
            <a:ext cx="384048" cy="384048"/>
            <a:chOff x="0" y="0"/>
            <a:chExt cx="512064" cy="512064"/>
          </a:xfrm>
        </p:grpSpPr>
        <p:sp>
          <p:nvSpPr>
            <p:cNvPr name="Freeform 103" id="103" descr="FaFileContract_b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11201400" y="4087368"/>
            <a:ext cx="6126480" cy="402336"/>
            <a:chOff x="0" y="0"/>
            <a:chExt cx="8168640" cy="536448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8168640" cy="536448"/>
            </a:xfrm>
            <a:custGeom>
              <a:avLst/>
              <a:gdLst/>
              <a:ahLst/>
              <a:cxnLst/>
              <a:rect r="r" b="b" t="t" l="l"/>
              <a:pathLst>
                <a:path h="536448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46703" r="0" b="-246703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47625"/>
              <a:ext cx="816864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Resume bullets from verified proof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11201400" y="4489704"/>
            <a:ext cx="6126480" cy="329184"/>
            <a:chOff x="0" y="0"/>
            <a:chExt cx="8168640" cy="438912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168640" cy="438912"/>
            </a:xfrm>
            <a:custGeom>
              <a:avLst/>
              <a:gdLst/>
              <a:ahLst/>
              <a:cxnLst/>
              <a:rect r="r" b="b" t="t" l="l"/>
              <a:pathLst>
                <a:path h="438912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12638" r="0" b="-312638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-38100"/>
              <a:ext cx="816864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E8CDA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Cut from this build; roadmap only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10241280" y="5010912"/>
            <a:ext cx="640080" cy="640080"/>
            <a:chOff x="0" y="0"/>
            <a:chExt cx="853440" cy="853440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426720"/>
                  </a:moveTo>
                  <a:cubicBezTo>
                    <a:pt x="0" y="191008"/>
                    <a:pt x="191008" y="0"/>
                    <a:pt x="426720" y="0"/>
                  </a:cubicBezTo>
                  <a:cubicBezTo>
                    <a:pt x="662432" y="0"/>
                    <a:pt x="853440" y="191008"/>
                    <a:pt x="853440" y="426720"/>
                  </a:cubicBezTo>
                  <a:cubicBezTo>
                    <a:pt x="853440" y="662432"/>
                    <a:pt x="662432" y="853440"/>
                    <a:pt x="426720" y="853440"/>
                  </a:cubicBezTo>
                  <a:cubicBezTo>
                    <a:pt x="191008" y="853440"/>
                    <a:pt x="0" y="662432"/>
                    <a:pt x="0" y="426720"/>
                  </a:cubicBezTo>
                  <a:close/>
                </a:path>
              </a:pathLst>
            </a:custGeom>
            <a:solidFill>
              <a:srgbClr val="FFD54A"/>
            </a:solid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0369296" y="5138928"/>
            <a:ext cx="384048" cy="384048"/>
            <a:chOff x="0" y="0"/>
            <a:chExt cx="512064" cy="512064"/>
          </a:xfrm>
        </p:grpSpPr>
        <p:sp>
          <p:nvSpPr>
            <p:cNvPr name="Freeform 113" id="113" descr="FaCodeBranch_b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1201400" y="4956048"/>
            <a:ext cx="6126480" cy="402336"/>
            <a:chOff x="0" y="0"/>
            <a:chExt cx="8168640" cy="5364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8168640" cy="536448"/>
            </a:xfrm>
            <a:custGeom>
              <a:avLst/>
              <a:gdLst/>
              <a:ahLst/>
              <a:cxnLst/>
              <a:rect r="r" b="b" t="t" l="l"/>
              <a:pathLst>
                <a:path h="536448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46703" r="0" b="-246703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-47625"/>
              <a:ext cx="816864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 impact preview</a:t>
              </a: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11201400" y="5358384"/>
            <a:ext cx="6126480" cy="329184"/>
            <a:chOff x="0" y="0"/>
            <a:chExt cx="8168640" cy="438912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8168640" cy="438912"/>
            </a:xfrm>
            <a:custGeom>
              <a:avLst/>
              <a:gdLst/>
              <a:ahLst/>
              <a:cxnLst/>
              <a:rect r="r" b="b" t="t" l="l"/>
              <a:pathLst>
                <a:path h="438912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12638" r="0" b="-3126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38100"/>
              <a:ext cx="816864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E8CDA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Cut from this build; roadmap only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0241280" y="5879592"/>
            <a:ext cx="640080" cy="640080"/>
            <a:chOff x="0" y="0"/>
            <a:chExt cx="853440" cy="853440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426720"/>
                  </a:moveTo>
                  <a:cubicBezTo>
                    <a:pt x="0" y="191008"/>
                    <a:pt x="191008" y="0"/>
                    <a:pt x="426720" y="0"/>
                  </a:cubicBezTo>
                  <a:cubicBezTo>
                    <a:pt x="662432" y="0"/>
                    <a:pt x="853440" y="191008"/>
                    <a:pt x="853440" y="426720"/>
                  </a:cubicBezTo>
                  <a:cubicBezTo>
                    <a:pt x="853440" y="662432"/>
                    <a:pt x="662432" y="853440"/>
                    <a:pt x="426720" y="853440"/>
                  </a:cubicBezTo>
                  <a:cubicBezTo>
                    <a:pt x="191008" y="853440"/>
                    <a:pt x="0" y="662432"/>
                    <a:pt x="0" y="426720"/>
                  </a:cubicBezTo>
                  <a:close/>
                </a:path>
              </a:pathLst>
            </a:custGeom>
            <a:solidFill>
              <a:srgbClr val="FFD54A"/>
            </a:solid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10369296" y="6007608"/>
            <a:ext cx="384048" cy="384048"/>
            <a:chOff x="0" y="0"/>
            <a:chExt cx="512064" cy="512064"/>
          </a:xfrm>
        </p:grpSpPr>
        <p:sp>
          <p:nvSpPr>
            <p:cNvPr name="Freeform 123" id="123" descr="FaNetworkWired_b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1201400" y="5824728"/>
            <a:ext cx="6126480" cy="402336"/>
            <a:chOff x="0" y="0"/>
            <a:chExt cx="8168640" cy="5364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8168640" cy="536448"/>
            </a:xfrm>
            <a:custGeom>
              <a:avLst/>
              <a:gdLst/>
              <a:ahLst/>
              <a:cxnLst/>
              <a:rect r="r" b="b" t="t" l="l"/>
              <a:pathLst>
                <a:path h="536448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46703" r="0" b="-246703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47625"/>
              <a:ext cx="816864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MCP server (agents read-only)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11201400" y="6227064"/>
            <a:ext cx="6126480" cy="329184"/>
            <a:chOff x="0" y="0"/>
            <a:chExt cx="8168640" cy="438912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8168640" cy="438912"/>
            </a:xfrm>
            <a:custGeom>
              <a:avLst/>
              <a:gdLst/>
              <a:ahLst/>
              <a:cxnLst/>
              <a:rect r="r" b="b" t="t" l="l"/>
              <a:pathLst>
                <a:path h="438912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12638" r="0" b="-312638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38100"/>
              <a:ext cx="816864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E8CDA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Tools: get_gaps, get_evidence, verify_receipt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0241280" y="6748272"/>
            <a:ext cx="640080" cy="640080"/>
            <a:chOff x="0" y="0"/>
            <a:chExt cx="853440" cy="853440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426720"/>
                  </a:moveTo>
                  <a:cubicBezTo>
                    <a:pt x="0" y="191008"/>
                    <a:pt x="191008" y="0"/>
                    <a:pt x="426720" y="0"/>
                  </a:cubicBezTo>
                  <a:cubicBezTo>
                    <a:pt x="662432" y="0"/>
                    <a:pt x="853440" y="191008"/>
                    <a:pt x="853440" y="426720"/>
                  </a:cubicBezTo>
                  <a:cubicBezTo>
                    <a:pt x="853440" y="662432"/>
                    <a:pt x="662432" y="853440"/>
                    <a:pt x="426720" y="853440"/>
                  </a:cubicBezTo>
                  <a:cubicBezTo>
                    <a:pt x="191008" y="853440"/>
                    <a:pt x="0" y="662432"/>
                    <a:pt x="0" y="426720"/>
                  </a:cubicBezTo>
                  <a:close/>
                </a:path>
              </a:pathLst>
            </a:custGeom>
            <a:solidFill>
              <a:srgbClr val="FFD54A"/>
            </a:solidFill>
          </p:spPr>
        </p:sp>
      </p:grpSp>
      <p:grpSp>
        <p:nvGrpSpPr>
          <p:cNvPr name="Group 132" id="132"/>
          <p:cNvGrpSpPr/>
          <p:nvPr/>
        </p:nvGrpSpPr>
        <p:grpSpPr>
          <a:xfrm rot="0">
            <a:off x="10369296" y="6876288"/>
            <a:ext cx="384048" cy="384048"/>
            <a:chOff x="0" y="0"/>
            <a:chExt cx="512064" cy="512064"/>
          </a:xfrm>
        </p:grpSpPr>
        <p:sp>
          <p:nvSpPr>
            <p:cNvPr name="Freeform 133" id="133" descr="FaCertificate_b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34" id="134"/>
          <p:cNvGrpSpPr/>
          <p:nvPr/>
        </p:nvGrpSpPr>
        <p:grpSpPr>
          <a:xfrm rot="0">
            <a:off x="11201400" y="6693408"/>
            <a:ext cx="6126480" cy="402336"/>
            <a:chOff x="0" y="0"/>
            <a:chExt cx="8168640" cy="53644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8168640" cy="536448"/>
            </a:xfrm>
            <a:custGeom>
              <a:avLst/>
              <a:gdLst/>
              <a:ahLst/>
              <a:cxnLst/>
              <a:rect r="r" b="b" t="t" l="l"/>
              <a:pathLst>
                <a:path h="536448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46703" r="0" b="-24670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47625"/>
              <a:ext cx="816864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Public ledger + offline verify CLI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1201400" y="7095744"/>
            <a:ext cx="6126480" cy="329184"/>
            <a:chOff x="0" y="0"/>
            <a:chExt cx="8168640" cy="438912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8168640" cy="438912"/>
            </a:xfrm>
            <a:custGeom>
              <a:avLst/>
              <a:gdLst/>
              <a:ahLst/>
              <a:cxnLst/>
              <a:rect r="r" b="b" t="t" l="l"/>
              <a:pathLst>
                <a:path h="438912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12638" r="0" b="-312638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38100"/>
              <a:ext cx="816864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E8CDA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Receipts show integrity, not authorship</a:t>
              </a: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10241280" y="7616952"/>
            <a:ext cx="640080" cy="640080"/>
            <a:chOff x="0" y="0"/>
            <a:chExt cx="853440" cy="853440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853440" cy="853440"/>
            </a:xfrm>
            <a:custGeom>
              <a:avLst/>
              <a:gdLst/>
              <a:ahLst/>
              <a:cxnLst/>
              <a:rect r="r" b="b" t="t" l="l"/>
              <a:pathLst>
                <a:path h="853440" w="853440">
                  <a:moveTo>
                    <a:pt x="0" y="426720"/>
                  </a:moveTo>
                  <a:cubicBezTo>
                    <a:pt x="0" y="191008"/>
                    <a:pt x="191008" y="0"/>
                    <a:pt x="426720" y="0"/>
                  </a:cubicBezTo>
                  <a:cubicBezTo>
                    <a:pt x="662432" y="0"/>
                    <a:pt x="853440" y="191008"/>
                    <a:pt x="853440" y="426720"/>
                  </a:cubicBezTo>
                  <a:cubicBezTo>
                    <a:pt x="853440" y="662432"/>
                    <a:pt x="662432" y="853440"/>
                    <a:pt x="426720" y="853440"/>
                  </a:cubicBezTo>
                  <a:cubicBezTo>
                    <a:pt x="191008" y="853440"/>
                    <a:pt x="0" y="662432"/>
                    <a:pt x="0" y="426720"/>
                  </a:cubicBezTo>
                  <a:close/>
                </a:path>
              </a:pathLst>
            </a:custGeom>
            <a:solidFill>
              <a:srgbClr val="FFD54A"/>
            </a:solidFill>
          </p:spPr>
        </p:sp>
      </p:grpSp>
      <p:grpSp>
        <p:nvGrpSpPr>
          <p:cNvPr name="Group 142" id="142"/>
          <p:cNvGrpSpPr/>
          <p:nvPr/>
        </p:nvGrpSpPr>
        <p:grpSpPr>
          <a:xfrm rot="0">
            <a:off x="10369296" y="7744968"/>
            <a:ext cx="384048" cy="384048"/>
            <a:chOff x="0" y="0"/>
            <a:chExt cx="512064" cy="512064"/>
          </a:xfrm>
        </p:grpSpPr>
        <p:sp>
          <p:nvSpPr>
            <p:cNvPr name="Freeform 143" id="143" descr="FaCode_b.png"/>
            <p:cNvSpPr/>
            <p:nvPr/>
          </p:nvSpPr>
          <p:spPr>
            <a:xfrm flipH="false" flipV="false" rot="0">
              <a:off x="0" y="0"/>
              <a:ext cx="512064" cy="512064"/>
            </a:xfrm>
            <a:custGeom>
              <a:avLst/>
              <a:gdLst/>
              <a:ahLst/>
              <a:cxnLst/>
              <a:rect r="r" b="b" t="t" l="l"/>
              <a:pathLst>
                <a:path h="512064" w="512064">
                  <a:moveTo>
                    <a:pt x="0" y="0"/>
                  </a:moveTo>
                  <a:lnTo>
                    <a:pt x="512064" y="0"/>
                  </a:lnTo>
                  <a:lnTo>
                    <a:pt x="512064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144" id="144"/>
          <p:cNvGrpSpPr/>
          <p:nvPr/>
        </p:nvGrpSpPr>
        <p:grpSpPr>
          <a:xfrm rot="0">
            <a:off x="11201400" y="7562088"/>
            <a:ext cx="6126480" cy="402336"/>
            <a:chOff x="0" y="0"/>
            <a:chExt cx="8168640" cy="53644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8168640" cy="536448"/>
            </a:xfrm>
            <a:custGeom>
              <a:avLst/>
              <a:gdLst/>
              <a:ahLst/>
              <a:cxnLst/>
              <a:rect r="r" b="b" t="t" l="l"/>
              <a:pathLst>
                <a:path h="536448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536448"/>
                  </a:lnTo>
                  <a:lnTo>
                    <a:pt x="0" y="536448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46703" r="0" b="-246703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47625"/>
              <a:ext cx="8168640" cy="5840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9"/>
                </a:lnSpc>
              </a:pPr>
              <a:r>
                <a:rPr lang="en-US" sz="2199" b="true">
                  <a:solidFill>
                    <a:srgbClr val="FFF4E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More languages and detectors</a:t>
              </a:r>
            </a:p>
          </p:txBody>
        </p:sp>
      </p:grpSp>
      <p:grpSp>
        <p:nvGrpSpPr>
          <p:cNvPr name="Group 147" id="147"/>
          <p:cNvGrpSpPr/>
          <p:nvPr/>
        </p:nvGrpSpPr>
        <p:grpSpPr>
          <a:xfrm rot="0">
            <a:off x="11201400" y="7964424"/>
            <a:ext cx="6126480" cy="329184"/>
            <a:chOff x="0" y="0"/>
            <a:chExt cx="8168640" cy="438912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8168640" cy="438912"/>
            </a:xfrm>
            <a:custGeom>
              <a:avLst/>
              <a:gdLst/>
              <a:ahLst/>
              <a:cxnLst/>
              <a:rect r="r" b="b" t="t" l="l"/>
              <a:pathLst>
                <a:path h="438912" w="8168640">
                  <a:moveTo>
                    <a:pt x="0" y="0"/>
                  </a:moveTo>
                  <a:lnTo>
                    <a:pt x="8168640" y="0"/>
                  </a:lnTo>
                  <a:lnTo>
                    <a:pt x="816864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12638" r="0" b="-312638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8168640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>
                  <a:solidFill>
                    <a:srgbClr val="E8CDA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Today: Python, JS/TS and 4 skill families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807082" y="8808082"/>
            <a:ext cx="16673827" cy="744979"/>
            <a:chOff x="0" y="0"/>
            <a:chExt cx="22231769" cy="993305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22231731" cy="993140"/>
            </a:xfrm>
            <a:custGeom>
              <a:avLst/>
              <a:gdLst/>
              <a:ahLst/>
              <a:cxnLst/>
              <a:rect r="r" b="b" t="t" l="l"/>
              <a:pathLst>
                <a:path h="993140" w="22231731">
                  <a:moveTo>
                    <a:pt x="0" y="254635"/>
                  </a:moveTo>
                  <a:cubicBezTo>
                    <a:pt x="0" y="114046"/>
                    <a:pt x="114046" y="0"/>
                    <a:pt x="254635" y="0"/>
                  </a:cubicBezTo>
                  <a:lnTo>
                    <a:pt x="21977096" y="0"/>
                  </a:lnTo>
                  <a:cubicBezTo>
                    <a:pt x="22117811" y="0"/>
                    <a:pt x="22231731" y="114046"/>
                    <a:pt x="22231731" y="254635"/>
                  </a:cubicBezTo>
                  <a:lnTo>
                    <a:pt x="22231731" y="738505"/>
                  </a:lnTo>
                  <a:cubicBezTo>
                    <a:pt x="22231731" y="879221"/>
                    <a:pt x="22117686" y="993140"/>
                    <a:pt x="21977096" y="993140"/>
                  </a:cubicBezTo>
                  <a:lnTo>
                    <a:pt x="254635" y="993140"/>
                  </a:lnTo>
                  <a:cubicBezTo>
                    <a:pt x="114046" y="993267"/>
                    <a:pt x="0" y="879221"/>
                    <a:pt x="0" y="73863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32010">
                    <a:alpha val="100000"/>
                  </a:srgbClr>
                </a:gs>
                <a:gs pos="100000">
                  <a:srgbClr val="24100A">
                    <a:alpha val="100000"/>
                  </a:srgbClr>
                </a:gs>
              </a:gsLst>
              <a:lin ang="16200000"/>
            </a:gradFill>
            <a:ln w="31750" cap="sq">
              <a:solidFill>
                <a:srgbClr val="C9A24A"/>
              </a:solidFill>
              <a:prstDash val="solid"/>
              <a:miter/>
            </a:ln>
          </p:spPr>
        </p:sp>
        <p:sp>
          <p:nvSpPr>
            <p:cNvPr name="TextBox 152" id="152"/>
            <p:cNvSpPr txBox="true"/>
            <p:nvPr/>
          </p:nvSpPr>
          <p:spPr>
            <a:xfrm>
              <a:off x="0" y="-47625"/>
              <a:ext cx="22231769" cy="10409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9"/>
                </a:lnSpc>
              </a:pPr>
              <a:r>
                <a:rPr lang="en-US" sz="2499" b="true">
                  <a:solidFill>
                    <a:srgbClr val="FFD5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 never claim more than the code proves — and we tell you what to commit next.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DAHYPDaeM-4</dc:identifier>
  <dcterms:modified xsi:type="dcterms:W3CDTF">2011-08-01T06:04:30Z</dcterms:modified>
  <cp:revision>1</cp:revision>
  <dc:title>ProofStack ppt</dc:title>
</cp:coreProperties>
</file>