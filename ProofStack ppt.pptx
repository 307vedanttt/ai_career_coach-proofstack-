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entury Gothic Paneuropean" charset="1" panose="020B0502020202020204"/>
      <p:regular r:id="rId11"/>
    </p:embeddedFont>
    <p:embeddedFont>
      <p:font typeface="Doulos" charset="1" panose="02000500070000020004"/>
      <p:regular r:id="rId12"/>
    </p:embeddedFont>
    <p:embeddedFont>
      <p:font typeface="TT Ramillas Bold" charset="1" panose="020E0000080000020004"/>
      <p:regular r:id="rId13"/>
    </p:embeddedFont>
    <p:embeddedFont>
      <p:font typeface="TT Ramillas" charset="1" panose="020E0000080000020004"/>
      <p:regular r:id="rId14"/>
    </p:embeddedFont>
    <p:embeddedFont>
      <p:font typeface="Calibri (MS) Bold" charset="1" panose="020F0702030404030204"/>
      <p:regular r:id="rId15"/>
    </p:embeddedFont>
    <p:embeddedFont>
      <p:font typeface="Calibri (MS) Italics" charset="1" panose="020F05020202040A0204"/>
      <p:regular r:id="rId16"/>
    </p:embeddedFont>
    <p:embeddedFont>
      <p:font typeface="Consolas" charset="1" panose="020B060902020403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jpe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8.png"/><Relationship Id="rId7" Type="http://schemas.openxmlformats.org/officeDocument/2006/relationships/image" Target="../media/image11.jpe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jpeg"/><Relationship Id="rId8" Type="http://schemas.openxmlformats.org/officeDocument/2006/relationships/image" Target="../media/image13.png"/><Relationship Id="rId9" Type="http://schemas.openxmlformats.org/officeDocument/2006/relationships/image" Target="../media/image2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jpe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85468" y="5017018"/>
            <a:ext cx="8515988" cy="38100"/>
            <a:chOff x="0" y="0"/>
            <a:chExt cx="11354651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53927" cy="50546"/>
            </a:xfrm>
            <a:custGeom>
              <a:avLst/>
              <a:gdLst/>
              <a:ahLst/>
              <a:cxnLst/>
              <a:rect r="r" b="b" t="t" l="l"/>
              <a:pathLst>
                <a:path h="50546" w="11353927">
                  <a:moveTo>
                    <a:pt x="11353927" y="25527"/>
                  </a:moveTo>
                  <a:lnTo>
                    <a:pt x="5471414" y="50546"/>
                  </a:lnTo>
                  <a:lnTo>
                    <a:pt x="0" y="25527"/>
                  </a:lnTo>
                  <a:lnTo>
                    <a:pt x="6017387" y="0"/>
                  </a:lnTo>
                  <a:lnTo>
                    <a:pt x="11353927" y="25527"/>
                  </a:lnTo>
                  <a:close/>
                </a:path>
              </a:pathLst>
            </a:custGeom>
            <a:solidFill>
              <a:srgbClr val="FFC1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93744" y="2944625"/>
            <a:ext cx="7300417" cy="294637"/>
            <a:chOff x="0" y="0"/>
            <a:chExt cx="9733890" cy="392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33915" cy="392811"/>
            </a:xfrm>
            <a:custGeom>
              <a:avLst/>
              <a:gdLst/>
              <a:ahLst/>
              <a:cxnLst/>
              <a:rect r="r" b="b" t="t" l="l"/>
              <a:pathLst>
                <a:path h="392811" w="9733915">
                  <a:moveTo>
                    <a:pt x="0" y="0"/>
                  </a:moveTo>
                  <a:lnTo>
                    <a:pt x="9733915" y="0"/>
                  </a:lnTo>
                  <a:lnTo>
                    <a:pt x="9733915" y="392811"/>
                  </a:lnTo>
                  <a:lnTo>
                    <a:pt x="0" y="392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5" r="0" b="-1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3744" y="8338566"/>
            <a:ext cx="7300417" cy="294637"/>
            <a:chOff x="0" y="0"/>
            <a:chExt cx="9733890" cy="3928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33915" cy="392811"/>
            </a:xfrm>
            <a:custGeom>
              <a:avLst/>
              <a:gdLst/>
              <a:ahLst/>
              <a:cxnLst/>
              <a:rect r="r" b="b" t="t" l="l"/>
              <a:pathLst>
                <a:path h="392811" w="9733915">
                  <a:moveTo>
                    <a:pt x="0" y="0"/>
                  </a:moveTo>
                  <a:lnTo>
                    <a:pt x="9733915" y="0"/>
                  </a:lnTo>
                  <a:lnTo>
                    <a:pt x="9733915" y="392811"/>
                  </a:lnTo>
                  <a:lnTo>
                    <a:pt x="0" y="392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5" r="0" b="-14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499612" y="2415911"/>
            <a:ext cx="5288918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1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BATTLE WITH INFINITE POSSIBILITIES</a:t>
            </a:r>
          </a:p>
        </p:txBody>
      </p:sp>
      <p:sp>
        <p:nvSpPr>
          <p:cNvPr name="TextBox 11" id="11" descr="$PPTXTitle"/>
          <p:cNvSpPr txBox="true"/>
          <p:nvPr/>
        </p:nvSpPr>
        <p:spPr>
          <a:xfrm rot="0">
            <a:off x="4484129" y="3030017"/>
            <a:ext cx="9318665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9200" spc="1357">
                <a:solidFill>
                  <a:srgbClr val="732017"/>
                </a:solidFill>
                <a:latin typeface="Doulos"/>
                <a:ea typeface="Doulos"/>
                <a:cs typeface="Doulos"/>
                <a:sym typeface="Doulos"/>
              </a:rPr>
              <a:t>PROOFSTACK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40480" y="4430192"/>
            <a:ext cx="1115568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1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COACH THAT PREDICTS WHAT YOUR NEXT COMMIT WILL PROVE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91840" y="5715619"/>
            <a:ext cx="365760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450" spc="-31">
                <a:solidFill>
                  <a:srgbClr val="732017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TEAM NAME</a:t>
            </a:r>
          </a:p>
          <a:p>
            <a:pPr algn="l">
              <a:lnSpc>
                <a:spcPts val="2639"/>
              </a:lnSpc>
            </a:pPr>
            <a:r>
              <a:rPr lang="en-US" sz="2199" spc="-10">
                <a:solidFill>
                  <a:srgbClr val="371704"/>
                </a:solidFill>
                <a:latin typeface="TT Ramillas"/>
                <a:ea typeface="TT Ramillas"/>
                <a:cs typeface="TT Ramillas"/>
                <a:sym typeface="TT Ramillas"/>
              </a:rPr>
              <a:t>Paradox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9520" y="5715619"/>
            <a:ext cx="402336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450" spc="-21">
                <a:solidFill>
                  <a:srgbClr val="732017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TEAM MEMBERS</a:t>
            </a:r>
          </a:p>
          <a:p>
            <a:pPr algn="l">
              <a:lnSpc>
                <a:spcPts val="2639"/>
              </a:lnSpc>
            </a:pPr>
            <a:r>
              <a:rPr lang="en-US" sz="2199" spc="-10">
                <a:solidFill>
                  <a:srgbClr val="371704"/>
                </a:solidFill>
                <a:latin typeface="TT Ramillas"/>
                <a:ea typeface="TT Ramillas"/>
                <a:cs typeface="TT Ramillas"/>
                <a:sym typeface="TT Ramillas"/>
              </a:rPr>
              <a:t>Om Bhosale</a:t>
            </a:r>
          </a:p>
          <a:p>
            <a:pPr algn="l">
              <a:lnSpc>
                <a:spcPts val="2639"/>
              </a:lnSpc>
            </a:pPr>
            <a:r>
              <a:rPr lang="en-US" sz="2199" spc="-10">
                <a:solidFill>
                  <a:srgbClr val="371704"/>
                </a:solidFill>
                <a:latin typeface="TT Ramillas"/>
                <a:ea typeface="TT Ramillas"/>
                <a:cs typeface="TT Ramillas"/>
                <a:sym typeface="TT Ramillas"/>
              </a:rPr>
              <a:t>Vedant Patake</a:t>
            </a:r>
          </a:p>
          <a:p>
            <a:pPr algn="l">
              <a:lnSpc>
                <a:spcPts val="2639"/>
              </a:lnSpc>
            </a:pPr>
            <a:r>
              <a:rPr lang="en-US" sz="2199" spc="-10">
                <a:solidFill>
                  <a:srgbClr val="371704"/>
                </a:solidFill>
                <a:latin typeface="TT Ramillas"/>
                <a:ea typeface="TT Ramillas"/>
                <a:cs typeface="TT Ramillas"/>
                <a:sym typeface="TT Ramillas"/>
              </a:rPr>
              <a:t>Sameeksha Tarale</a:t>
            </a:r>
          </a:p>
          <a:p>
            <a:pPr algn="l">
              <a:lnSpc>
                <a:spcPts val="2639"/>
              </a:lnSpc>
            </a:pPr>
            <a:r>
              <a:rPr lang="en-US" sz="2199" spc="-10">
                <a:solidFill>
                  <a:srgbClr val="371704"/>
                </a:solidFill>
                <a:latin typeface="TT Ramillas"/>
                <a:ea typeface="TT Ramillas"/>
                <a:cs typeface="TT Ramillas"/>
                <a:sym typeface="TT Ramillas"/>
              </a:rPr>
              <a:t>Ketaki Sarode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18720" y="5715619"/>
            <a:ext cx="4114800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450" spc="-21">
                <a:solidFill>
                  <a:srgbClr val="732017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INSTITUTION</a:t>
            </a:r>
          </a:p>
          <a:p>
            <a:pPr algn="l">
              <a:lnSpc>
                <a:spcPts val="2639"/>
              </a:lnSpc>
            </a:pPr>
            <a:r>
              <a:rPr lang="en-US" sz="2199" spc="-10">
                <a:solidFill>
                  <a:srgbClr val="371704"/>
                </a:solidFill>
                <a:latin typeface="TT Ramillas"/>
                <a:ea typeface="TT Ramillas"/>
                <a:cs typeface="TT Ramillas"/>
                <a:sym typeface="TT Ramillas"/>
              </a:rPr>
              <a:t>NMIET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40480" y="5184267"/>
            <a:ext cx="111556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spc="-9">
                <a:solidFill>
                  <a:srgbClr val="732017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AI CAREER COACH  ·  AGENTIC AI TRACK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26" y="0"/>
            <a:ext cx="18185768" cy="10287000"/>
            <a:chOff x="0" y="0"/>
            <a:chExt cx="2424769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4760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247602">
                  <a:moveTo>
                    <a:pt x="0" y="13716000"/>
                  </a:moveTo>
                  <a:lnTo>
                    <a:pt x="24247602" y="13716000"/>
                  </a:lnTo>
                  <a:lnTo>
                    <a:pt x="24247602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57626" cy="10287000"/>
            <a:chOff x="0" y="0"/>
            <a:chExt cx="76835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3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835">
                  <a:moveTo>
                    <a:pt x="0" y="0"/>
                  </a:moveTo>
                  <a:lnTo>
                    <a:pt x="76835" y="0"/>
                  </a:lnTo>
                  <a:lnTo>
                    <a:pt x="7683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17" r="0" b="-417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8243318" y="0"/>
            <a:ext cx="44682" cy="10287000"/>
            <a:chOff x="0" y="0"/>
            <a:chExt cx="59576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56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9563">
                  <a:moveTo>
                    <a:pt x="0" y="0"/>
                  </a:moveTo>
                  <a:lnTo>
                    <a:pt x="59563" y="0"/>
                  </a:lnTo>
                  <a:lnTo>
                    <a:pt x="5956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24" r="-21" b="-2124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6772" y="0"/>
            <a:ext cx="18281228" cy="9892865"/>
            <a:chOff x="0" y="0"/>
            <a:chExt cx="24374970" cy="131904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4983" cy="13190474"/>
            </a:xfrm>
            <a:custGeom>
              <a:avLst/>
              <a:gdLst/>
              <a:ahLst/>
              <a:cxnLst/>
              <a:rect r="r" b="b" t="t" l="l"/>
              <a:pathLst>
                <a:path h="13190474" w="24374983">
                  <a:moveTo>
                    <a:pt x="0" y="0"/>
                  </a:moveTo>
                  <a:lnTo>
                    <a:pt x="24374983" y="0"/>
                  </a:lnTo>
                  <a:lnTo>
                    <a:pt x="24374983" y="13190474"/>
                  </a:lnTo>
                  <a:lnTo>
                    <a:pt x="0" y="13190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6" r="0" b="-96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18393"/>
            <a:ext cx="18288010" cy="1524733"/>
            <a:chOff x="0" y="0"/>
            <a:chExt cx="24384013" cy="20329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2033016"/>
            </a:xfrm>
            <a:custGeom>
              <a:avLst/>
              <a:gdLst/>
              <a:ahLst/>
              <a:cxnLst/>
              <a:rect r="r" b="b" t="t" l="l"/>
              <a:pathLst>
                <a:path h="20330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3016"/>
                  </a:lnTo>
                  <a:lnTo>
                    <a:pt x="0" y="2033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" t="0" r="-24" b="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88285" y="141732"/>
            <a:ext cx="3648056" cy="1219200"/>
            <a:chOff x="0" y="0"/>
            <a:chExt cx="4864075" cy="1625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641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4864100">
                  <a:moveTo>
                    <a:pt x="0" y="0"/>
                  </a:moveTo>
                  <a:lnTo>
                    <a:pt x="4864100" y="0"/>
                  </a:lnTo>
                  <a:lnTo>
                    <a:pt x="48641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9" r="0" b="-258"/>
              </a:stretch>
            </a:blipFill>
          </p:spPr>
          <p:txBody>
            <a:bodyPr/>
            <a:p/>
          </p:txBody>
        </p:sp>
      </p:grpSp>
      <p:sp>
        <p:nvSpPr>
          <p:cNvPr name="TextBox 14" id="14" descr="$PPTXTitle"/>
          <p:cNvSpPr txBox="true"/>
          <p:nvPr/>
        </p:nvSpPr>
        <p:spPr>
          <a:xfrm rot="0">
            <a:off x="4888980" y="464058"/>
            <a:ext cx="843688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spc="367">
                <a:solidFill>
                  <a:srgbClr val="FFFF00"/>
                </a:solidFill>
                <a:latin typeface="Doulos"/>
                <a:ea typeface="Doulos"/>
                <a:cs typeface="Doulos"/>
                <a:sym typeface="Doulos"/>
              </a:rPr>
              <a:t>IDEA / SOLUTION / PROTOTYPE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9823190"/>
            <a:ext cx="18288000" cy="347462"/>
            <a:chOff x="0" y="0"/>
            <a:chExt cx="24384000" cy="463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463296"/>
            </a:xfrm>
            <a:custGeom>
              <a:avLst/>
              <a:gdLst/>
              <a:ahLst/>
              <a:cxnLst/>
              <a:rect r="r" b="b" t="t" l="l"/>
              <a:pathLst>
                <a:path h="46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3296"/>
                  </a:lnTo>
                  <a:lnTo>
                    <a:pt x="0" y="46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0" r="0" b="-24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72" y="9892865"/>
            <a:ext cx="18281647" cy="394335"/>
            <a:chOff x="0" y="0"/>
            <a:chExt cx="24375529" cy="525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74983" cy="525526"/>
            </a:xfrm>
            <a:custGeom>
              <a:avLst/>
              <a:gdLst/>
              <a:ahLst/>
              <a:cxnLst/>
              <a:rect r="r" b="b" t="t" l="l"/>
              <a:pathLst>
                <a:path h="525526" w="24374983">
                  <a:moveTo>
                    <a:pt x="24374983" y="525526"/>
                  </a:moveTo>
                  <a:lnTo>
                    <a:pt x="0" y="525526"/>
                  </a:lnTo>
                  <a:lnTo>
                    <a:pt x="0" y="0"/>
                  </a:lnTo>
                  <a:lnTo>
                    <a:pt x="24374983" y="0"/>
                  </a:lnTo>
                  <a:lnTo>
                    <a:pt x="24374983" y="525526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14798" y="9696993"/>
            <a:ext cx="1274464" cy="388620"/>
            <a:chOff x="0" y="0"/>
            <a:chExt cx="1699285" cy="518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99260" cy="518160"/>
            </a:xfrm>
            <a:custGeom>
              <a:avLst/>
              <a:gdLst/>
              <a:ahLst/>
              <a:cxnLst/>
              <a:rect r="r" b="b" t="t" l="l"/>
              <a:pathLst>
                <a:path h="518160" w="1699260">
                  <a:moveTo>
                    <a:pt x="0" y="0"/>
                  </a:moveTo>
                  <a:lnTo>
                    <a:pt x="1699260" y="0"/>
                  </a:lnTo>
                  <a:lnTo>
                    <a:pt x="1699260" y="518160"/>
                  </a:lnTo>
                  <a:lnTo>
                    <a:pt x="0" y="51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57" r="-1" b="-360"/>
              </a:stretch>
            </a:blipFill>
          </p:spPr>
          <p:txBody>
            <a:bodyPr/>
            <a:p/>
          </p:txBody>
        </p:sp>
      </p:grpSp>
      <p:sp>
        <p:nvSpPr>
          <p:cNvPr name="TextBox 21" id="21"/>
          <p:cNvSpPr txBox="true"/>
          <p:nvPr/>
        </p:nvSpPr>
        <p:spPr>
          <a:xfrm rot="0">
            <a:off x="975227" y="10010537"/>
            <a:ext cx="1284608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599" spc="1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PROOFSTACK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52016" y="9985877"/>
            <a:ext cx="396240" cy="28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150" spc="3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22960" y="1664208"/>
            <a:ext cx="16642080" cy="868680"/>
            <a:chOff x="0" y="0"/>
            <a:chExt cx="22189440" cy="1158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89439" cy="1158240"/>
            </a:xfrm>
            <a:custGeom>
              <a:avLst/>
              <a:gdLst/>
              <a:ahLst/>
              <a:cxnLst/>
              <a:rect r="r" b="b" t="t" l="l"/>
              <a:pathLst>
                <a:path h="11582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3292" r="0" b="-323292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218944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33">
                  <a:solidFill>
                    <a:srgbClr val="732017"/>
                  </a:solidFill>
                  <a:latin typeface="Doulos"/>
                  <a:ea typeface="Doulos"/>
                  <a:cs typeface="Doulos"/>
                  <a:sym typeface="Doulos"/>
                </a:rPr>
                <a:t>A coach that predicts your next commit, then checks 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2395728"/>
            <a:ext cx="16642080" cy="457200"/>
            <a:chOff x="0" y="0"/>
            <a:chExt cx="2218944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89439" cy="609600"/>
            </a:xfrm>
            <a:custGeom>
              <a:avLst/>
              <a:gdLst/>
              <a:ahLst/>
              <a:cxnLst/>
              <a:rect r="r" b="b" t="t" l="l"/>
              <a:pathLst>
                <a:path h="6096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59255" r="0" b="-65925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2189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t>Resume says what you claim. Repo proves what you did. ProofStack forensically audits both.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22960" y="2906268"/>
            <a:ext cx="32918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7320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RESUME CLAIMS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17920" y="2906268"/>
            <a:ext cx="69494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7320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THE CODE PROVES</a:t>
            </a:r>
            <a:r>
              <a:rPr lang="en-US" sz="1899" i="true">
                <a:solidFill>
                  <a:srgbClr val="6B4A3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  illustrative</a:t>
            </a:r>
          </a:p>
        </p:txBody>
      </p:sp>
      <p:sp>
        <p:nvSpPr>
          <p:cNvPr name="AutoShape 31" id="31"/>
          <p:cNvSpPr/>
          <p:nvPr/>
        </p:nvSpPr>
        <p:spPr>
          <a:xfrm rot="61139">
            <a:off x="4095579" y="3908488"/>
            <a:ext cx="2141563" cy="0"/>
          </a:xfrm>
          <a:prstGeom prst="line">
            <a:avLst/>
          </a:prstGeom>
          <a:ln cap="rnd" w="28575">
            <a:solidFill>
              <a:srgbClr val="D9C3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2" id="32"/>
          <p:cNvSpPr/>
          <p:nvPr/>
        </p:nvSpPr>
        <p:spPr>
          <a:xfrm rot="61139">
            <a:off x="4095579" y="5005768"/>
            <a:ext cx="2141563" cy="0"/>
          </a:xfrm>
          <a:prstGeom prst="line">
            <a:avLst/>
          </a:prstGeom>
          <a:ln cap="rnd" w="28575">
            <a:solidFill>
              <a:srgbClr val="D9C3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3" id="33"/>
          <p:cNvSpPr/>
          <p:nvPr/>
        </p:nvSpPr>
        <p:spPr>
          <a:xfrm rot="61139">
            <a:off x="4095579" y="6103048"/>
            <a:ext cx="2141563" cy="0"/>
          </a:xfrm>
          <a:prstGeom prst="line">
            <a:avLst/>
          </a:prstGeom>
          <a:ln cap="rnd" w="28575">
            <a:solidFill>
              <a:srgbClr val="D9C3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4" id="34"/>
          <p:cNvSpPr/>
          <p:nvPr/>
        </p:nvSpPr>
        <p:spPr>
          <a:xfrm rot="61139">
            <a:off x="4095579" y="7200329"/>
            <a:ext cx="2141563" cy="0"/>
          </a:xfrm>
          <a:prstGeom prst="line">
            <a:avLst/>
          </a:prstGeom>
          <a:ln cap="rnd" w="28575">
            <a:solidFill>
              <a:srgbClr val="D9C3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5" id="35"/>
          <p:cNvGrpSpPr/>
          <p:nvPr/>
        </p:nvGrpSpPr>
        <p:grpSpPr>
          <a:xfrm rot="0">
            <a:off x="4507230" y="4936998"/>
            <a:ext cx="1409700" cy="1409700"/>
            <a:chOff x="0" y="0"/>
            <a:chExt cx="1879600" cy="187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79600" cy="1879600"/>
            </a:xfrm>
            <a:custGeom>
              <a:avLst/>
              <a:gdLst/>
              <a:ahLst/>
              <a:cxnLst/>
              <a:rect r="r" b="b" t="t" l="l"/>
              <a:pathLst>
                <a:path h="1879600" w="1879600">
                  <a:moveTo>
                    <a:pt x="0" y="939800"/>
                  </a:moveTo>
                  <a:cubicBezTo>
                    <a:pt x="0" y="420751"/>
                    <a:pt x="420751" y="0"/>
                    <a:pt x="939800" y="0"/>
                  </a:cubicBezTo>
                  <a:cubicBezTo>
                    <a:pt x="1458849" y="0"/>
                    <a:pt x="1879600" y="420751"/>
                    <a:pt x="1879600" y="939800"/>
                  </a:cubicBezTo>
                  <a:cubicBezTo>
                    <a:pt x="1879600" y="1458849"/>
                    <a:pt x="1458849" y="1879600"/>
                    <a:pt x="939800" y="1879600"/>
                  </a:cubicBezTo>
                  <a:cubicBezTo>
                    <a:pt x="420751" y="1879600"/>
                    <a:pt x="0" y="1458849"/>
                    <a:pt x="0" y="93980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4882896" y="5312664"/>
            <a:ext cx="658368" cy="658368"/>
            <a:chOff x="0" y="0"/>
            <a:chExt cx="877824" cy="877824"/>
          </a:xfrm>
        </p:grpSpPr>
        <p:sp>
          <p:nvSpPr>
            <p:cNvPr name="Freeform 38" id="38" descr="FaSearch_y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0263" y="3416303"/>
            <a:ext cx="3317243" cy="1012955"/>
            <a:chOff x="0" y="0"/>
            <a:chExt cx="4422991" cy="13506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230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4423029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4235450" y="0"/>
                  </a:lnTo>
                  <a:cubicBezTo>
                    <a:pt x="4339082" y="0"/>
                    <a:pt x="4423029" y="83947"/>
                    <a:pt x="4423029" y="187579"/>
                  </a:cubicBezTo>
                  <a:lnTo>
                    <a:pt x="4423029" y="1163066"/>
                  </a:lnTo>
                  <a:cubicBezTo>
                    <a:pt x="4423029" y="1266698"/>
                    <a:pt x="4339082" y="1350645"/>
                    <a:pt x="4235450" y="1350645"/>
                  </a:cubicBezTo>
                  <a:lnTo>
                    <a:pt x="187579" y="1350645"/>
                  </a:lnTo>
                  <a:cubicBezTo>
                    <a:pt x="83947" y="1350645"/>
                    <a:pt x="0" y="1266571"/>
                    <a:pt x="0" y="116306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1560" y="3675888"/>
            <a:ext cx="502920" cy="502920"/>
            <a:chOff x="0" y="0"/>
            <a:chExt cx="670560" cy="670560"/>
          </a:xfrm>
        </p:grpSpPr>
        <p:sp>
          <p:nvSpPr>
            <p:cNvPr name="Freeform 42" id="42" descr="FaDatabase_m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83080" y="3429000"/>
            <a:ext cx="1554480" cy="987552"/>
            <a:chOff x="0" y="0"/>
            <a:chExt cx="207264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72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1510" t="0" r="-31510" b="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207264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429000" y="3694176"/>
            <a:ext cx="457200" cy="457200"/>
            <a:chOff x="0" y="0"/>
            <a:chExt cx="60960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5B49C0"/>
            </a:solid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?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198870" y="3409950"/>
            <a:ext cx="6987540" cy="1025652"/>
            <a:chOff x="0" y="0"/>
            <a:chExt cx="9316720" cy="13675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16720" cy="1367536"/>
            </a:xfrm>
            <a:custGeom>
              <a:avLst/>
              <a:gdLst/>
              <a:ahLst/>
              <a:cxnLst/>
              <a:rect r="r" b="b" t="t" l="l"/>
              <a:pathLst>
                <a:path h="1367536" w="9316720">
                  <a:moveTo>
                    <a:pt x="0" y="189865"/>
                  </a:moveTo>
                  <a:cubicBezTo>
                    <a:pt x="0" y="85090"/>
                    <a:pt x="85090" y="0"/>
                    <a:pt x="189865" y="0"/>
                  </a:cubicBezTo>
                  <a:lnTo>
                    <a:pt x="9126855" y="0"/>
                  </a:lnTo>
                  <a:cubicBezTo>
                    <a:pt x="9231757" y="0"/>
                    <a:pt x="9316720" y="85090"/>
                    <a:pt x="9316720" y="189865"/>
                  </a:cubicBezTo>
                  <a:lnTo>
                    <a:pt x="9316720" y="1177671"/>
                  </a:lnTo>
                  <a:cubicBezTo>
                    <a:pt x="9316720" y="1282573"/>
                    <a:pt x="9231630" y="1367536"/>
                    <a:pt x="9126855" y="1367536"/>
                  </a:cubicBezTo>
                  <a:lnTo>
                    <a:pt x="189865" y="1367536"/>
                  </a:lnTo>
                  <a:cubicBezTo>
                    <a:pt x="85090" y="1367536"/>
                    <a:pt x="0" y="1282446"/>
                    <a:pt x="0" y="117767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637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6446520" y="3611880"/>
            <a:ext cx="457200" cy="457200"/>
            <a:chOff x="0" y="0"/>
            <a:chExt cx="609600" cy="609600"/>
          </a:xfrm>
        </p:grpSpPr>
        <p:sp>
          <p:nvSpPr>
            <p:cNvPr name="Freeform 52" id="52" descr="FaSearchMinus_s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32320" y="3520440"/>
            <a:ext cx="5852160" cy="457200"/>
            <a:chOff x="0" y="0"/>
            <a:chExt cx="780288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02880" cy="609600"/>
            </a:xfrm>
            <a:custGeom>
              <a:avLst/>
              <a:gdLst/>
              <a:ahLst/>
              <a:cxnLst/>
              <a:rect r="r" b="b" t="t" l="l"/>
              <a:pathLst>
                <a:path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9408" r="0" b="-199408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80288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56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 SHOWN IN SCOPE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132320" y="3977640"/>
            <a:ext cx="5852160" cy="365760"/>
            <a:chOff x="0" y="0"/>
            <a:chExt cx="7802880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02880" cy="487680"/>
            </a:xfrm>
            <a:custGeom>
              <a:avLst/>
              <a:gdLst/>
              <a:ahLst/>
              <a:cxnLst/>
              <a:rect r="r" b="b" t="t" l="l"/>
              <a:pathLst>
                <a:path h="4876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760" r="0" b="-26176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8028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6B4A32"/>
                  </a:solidFill>
                  <a:latin typeface="Consolas"/>
                  <a:ea typeface="Consolas"/>
                  <a:cs typeface="Consolas"/>
                  <a:sym typeface="Consolas"/>
                </a:rPr>
                <a:t>No SQL in 41 files · not proof of absence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0263" y="4513583"/>
            <a:ext cx="3317243" cy="1012955"/>
            <a:chOff x="0" y="0"/>
            <a:chExt cx="4422991" cy="135060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230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4423029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4235450" y="0"/>
                  </a:lnTo>
                  <a:cubicBezTo>
                    <a:pt x="4339082" y="0"/>
                    <a:pt x="4423029" y="83947"/>
                    <a:pt x="4423029" y="187579"/>
                  </a:cubicBezTo>
                  <a:lnTo>
                    <a:pt x="4423029" y="1163066"/>
                  </a:lnTo>
                  <a:cubicBezTo>
                    <a:pt x="4423029" y="1266698"/>
                    <a:pt x="4339082" y="1350645"/>
                    <a:pt x="4235450" y="1350645"/>
                  </a:cubicBezTo>
                  <a:lnTo>
                    <a:pt x="187579" y="1350645"/>
                  </a:lnTo>
                  <a:cubicBezTo>
                    <a:pt x="83947" y="1350645"/>
                    <a:pt x="0" y="1266571"/>
                    <a:pt x="0" y="116306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51560" y="4773168"/>
            <a:ext cx="502920" cy="502920"/>
            <a:chOff x="0" y="0"/>
            <a:chExt cx="670560" cy="670560"/>
          </a:xfrm>
        </p:grpSpPr>
        <p:sp>
          <p:nvSpPr>
            <p:cNvPr name="Freeform 62" id="62" descr="FaPlug_m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1783080" y="4526280"/>
            <a:ext cx="1554480" cy="987552"/>
            <a:chOff x="0" y="0"/>
            <a:chExt cx="2072640" cy="13167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72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1510" t="0" r="-31510" b="0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207264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429000" y="4791456"/>
            <a:ext cx="457200" cy="457200"/>
            <a:chOff x="0" y="0"/>
            <a:chExt cx="609600" cy="609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5B49C0"/>
            </a:solid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?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198870" y="4507230"/>
            <a:ext cx="6987540" cy="1025652"/>
            <a:chOff x="0" y="0"/>
            <a:chExt cx="9316720" cy="13675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316720" cy="1367536"/>
            </a:xfrm>
            <a:custGeom>
              <a:avLst/>
              <a:gdLst/>
              <a:ahLst/>
              <a:cxnLst/>
              <a:rect r="r" b="b" t="t" l="l"/>
              <a:pathLst>
                <a:path h="1367536" w="9316720">
                  <a:moveTo>
                    <a:pt x="0" y="189865"/>
                  </a:moveTo>
                  <a:cubicBezTo>
                    <a:pt x="0" y="85090"/>
                    <a:pt x="85090" y="0"/>
                    <a:pt x="189865" y="0"/>
                  </a:cubicBezTo>
                  <a:lnTo>
                    <a:pt x="9126855" y="0"/>
                  </a:lnTo>
                  <a:cubicBezTo>
                    <a:pt x="9231757" y="0"/>
                    <a:pt x="9316720" y="85090"/>
                    <a:pt x="9316720" y="189865"/>
                  </a:cubicBezTo>
                  <a:lnTo>
                    <a:pt x="9316720" y="1177671"/>
                  </a:lnTo>
                  <a:cubicBezTo>
                    <a:pt x="9316720" y="1282573"/>
                    <a:pt x="9231630" y="1367536"/>
                    <a:pt x="9126855" y="1367536"/>
                  </a:cubicBezTo>
                  <a:lnTo>
                    <a:pt x="189865" y="1367536"/>
                  </a:lnTo>
                  <a:cubicBezTo>
                    <a:pt x="85090" y="1367536"/>
                    <a:pt x="0" y="1282446"/>
                    <a:pt x="0" y="117767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F8A5B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6446520" y="4709160"/>
            <a:ext cx="457200" cy="457200"/>
            <a:chOff x="0" y="0"/>
            <a:chExt cx="609600" cy="609600"/>
          </a:xfrm>
        </p:grpSpPr>
        <p:sp>
          <p:nvSpPr>
            <p:cNvPr name="Freeform 72" id="72" descr="FaCheckDouble_g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7132320" y="4617720"/>
            <a:ext cx="5852160" cy="457200"/>
            <a:chOff x="0" y="0"/>
            <a:chExt cx="780288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802880" cy="609600"/>
            </a:xfrm>
            <a:custGeom>
              <a:avLst/>
              <a:gdLst/>
              <a:ahLst/>
              <a:cxnLst/>
              <a:rect r="r" b="b" t="t" l="l"/>
              <a:pathLst>
                <a:path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9408" r="0" b="-199408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780288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8A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DEMONSTRATED (STRONG)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132320" y="5074920"/>
            <a:ext cx="5852160" cy="365760"/>
            <a:chOff x="0" y="0"/>
            <a:chExt cx="7802880" cy="487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802880" cy="487680"/>
            </a:xfrm>
            <a:custGeom>
              <a:avLst/>
              <a:gdLst/>
              <a:ahLst/>
              <a:cxnLst/>
              <a:rect r="r" b="b" t="t" l="l"/>
              <a:pathLst>
                <a:path h="4876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760" r="0" b="-26176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8028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6B4A32"/>
                  </a:solidFill>
                  <a:latin typeface="Consolas"/>
                  <a:ea typeface="Consolas"/>
                  <a:cs typeface="Consolas"/>
                  <a:sym typeface="Consolas"/>
                </a:rPr>
                <a:t>api/routes.py · L12–30 · handler + test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10263" y="5610863"/>
            <a:ext cx="3317243" cy="1012955"/>
            <a:chOff x="0" y="0"/>
            <a:chExt cx="4422991" cy="135060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230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4423029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4235450" y="0"/>
                  </a:lnTo>
                  <a:cubicBezTo>
                    <a:pt x="4339082" y="0"/>
                    <a:pt x="4423029" y="83947"/>
                    <a:pt x="4423029" y="187579"/>
                  </a:cubicBezTo>
                  <a:lnTo>
                    <a:pt x="4423029" y="1163066"/>
                  </a:lnTo>
                  <a:cubicBezTo>
                    <a:pt x="4423029" y="1266698"/>
                    <a:pt x="4339082" y="1350645"/>
                    <a:pt x="4235450" y="1350645"/>
                  </a:cubicBezTo>
                  <a:lnTo>
                    <a:pt x="187579" y="1350645"/>
                  </a:lnTo>
                  <a:cubicBezTo>
                    <a:pt x="83947" y="1350645"/>
                    <a:pt x="0" y="1266571"/>
                    <a:pt x="0" y="116306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51560" y="5870448"/>
            <a:ext cx="502920" cy="502920"/>
            <a:chOff x="0" y="0"/>
            <a:chExt cx="670560" cy="670560"/>
          </a:xfrm>
        </p:grpSpPr>
        <p:sp>
          <p:nvSpPr>
            <p:cNvPr name="Freeform 82" id="82" descr="FaFlask_m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83080" y="5623560"/>
            <a:ext cx="1554480" cy="987552"/>
            <a:chOff x="0" y="0"/>
            <a:chExt cx="2072640" cy="13167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72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1510" t="0" r="-31510" b="0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207264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3429000" y="5888736"/>
            <a:ext cx="457200" cy="457200"/>
            <a:chOff x="0" y="0"/>
            <a:chExt cx="60960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5B49C0"/>
            </a:solid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?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198870" y="5604510"/>
            <a:ext cx="6987540" cy="1025652"/>
            <a:chOff x="0" y="0"/>
            <a:chExt cx="9316720" cy="136753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316720" cy="1367536"/>
            </a:xfrm>
            <a:custGeom>
              <a:avLst/>
              <a:gdLst/>
              <a:ahLst/>
              <a:cxnLst/>
              <a:rect r="r" b="b" t="t" l="l"/>
              <a:pathLst>
                <a:path h="1367536" w="9316720">
                  <a:moveTo>
                    <a:pt x="0" y="189865"/>
                  </a:moveTo>
                  <a:cubicBezTo>
                    <a:pt x="0" y="85090"/>
                    <a:pt x="85090" y="0"/>
                    <a:pt x="189865" y="0"/>
                  </a:cubicBezTo>
                  <a:lnTo>
                    <a:pt x="9126855" y="0"/>
                  </a:lnTo>
                  <a:cubicBezTo>
                    <a:pt x="9231757" y="0"/>
                    <a:pt x="9316720" y="85090"/>
                    <a:pt x="9316720" y="189865"/>
                  </a:cubicBezTo>
                  <a:lnTo>
                    <a:pt x="9316720" y="1177671"/>
                  </a:lnTo>
                  <a:cubicBezTo>
                    <a:pt x="9316720" y="1282573"/>
                    <a:pt x="9231630" y="1367536"/>
                    <a:pt x="9126855" y="1367536"/>
                  </a:cubicBezTo>
                  <a:lnTo>
                    <a:pt x="189865" y="1367536"/>
                  </a:lnTo>
                  <a:cubicBezTo>
                    <a:pt x="85090" y="1367536"/>
                    <a:pt x="0" y="1282446"/>
                    <a:pt x="0" y="117767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6446520" y="5806440"/>
            <a:ext cx="457200" cy="457200"/>
            <a:chOff x="0" y="0"/>
            <a:chExt cx="609600" cy="609600"/>
          </a:xfrm>
        </p:grpSpPr>
        <p:sp>
          <p:nvSpPr>
            <p:cNvPr name="Freeform 92" id="92" descr="FaCheck_a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7132320" y="5715000"/>
            <a:ext cx="5852160" cy="457200"/>
            <a:chOff x="0" y="0"/>
            <a:chExt cx="780288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02880" cy="609600"/>
            </a:xfrm>
            <a:custGeom>
              <a:avLst/>
              <a:gdLst/>
              <a:ahLst/>
              <a:cxnLst/>
              <a:rect r="r" b="b" t="t" l="l"/>
              <a:pathLst>
                <a:path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9408" r="0" b="-199408"/>
              </a:stretch>
            </a:blipFill>
          </p:spPr>
          <p:txBody>
            <a:bodyPr/>
            <a:p/>
          </p:txBody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780288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9A65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DEMONSTRATED (BASIC)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132320" y="6172200"/>
            <a:ext cx="5852160" cy="365760"/>
            <a:chOff x="0" y="0"/>
            <a:chExt cx="7802880" cy="4876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802880" cy="487680"/>
            </a:xfrm>
            <a:custGeom>
              <a:avLst/>
              <a:gdLst/>
              <a:ahLst/>
              <a:cxnLst/>
              <a:rect r="r" b="b" t="t" l="l"/>
              <a:pathLst>
                <a:path h="4876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760" r="0" b="-261760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8028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6B4A32"/>
                  </a:solidFill>
                  <a:latin typeface="Consolas"/>
                  <a:ea typeface="Consolas"/>
                  <a:cs typeface="Consolas"/>
                  <a:sym typeface="Consolas"/>
                </a:rPr>
                <a:t>tests/test_api.py · 1 signal type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10263" y="6708143"/>
            <a:ext cx="3317243" cy="1012955"/>
            <a:chOff x="0" y="0"/>
            <a:chExt cx="4422991" cy="135060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423029" cy="1350645"/>
            </a:xfrm>
            <a:custGeom>
              <a:avLst/>
              <a:gdLst/>
              <a:ahLst/>
              <a:cxnLst/>
              <a:rect r="r" b="b" t="t" l="l"/>
              <a:pathLst>
                <a:path h="1350645" w="4423029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4235450" y="0"/>
                  </a:lnTo>
                  <a:cubicBezTo>
                    <a:pt x="4339082" y="0"/>
                    <a:pt x="4423029" y="83947"/>
                    <a:pt x="4423029" y="187579"/>
                  </a:cubicBezTo>
                  <a:lnTo>
                    <a:pt x="4423029" y="1163066"/>
                  </a:lnTo>
                  <a:cubicBezTo>
                    <a:pt x="4423029" y="1266698"/>
                    <a:pt x="4339082" y="1350645"/>
                    <a:pt x="4235450" y="1350645"/>
                  </a:cubicBezTo>
                  <a:lnTo>
                    <a:pt x="187579" y="1350645"/>
                  </a:lnTo>
                  <a:cubicBezTo>
                    <a:pt x="83947" y="1350645"/>
                    <a:pt x="0" y="1266571"/>
                    <a:pt x="0" y="1163066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51560" y="6967728"/>
            <a:ext cx="502920" cy="502920"/>
            <a:chOff x="0" y="0"/>
            <a:chExt cx="670560" cy="670560"/>
          </a:xfrm>
        </p:grpSpPr>
        <p:sp>
          <p:nvSpPr>
            <p:cNvPr name="Freeform 102" id="102" descr="FaDocker_m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783080" y="6720840"/>
            <a:ext cx="1554480" cy="987552"/>
            <a:chOff x="0" y="0"/>
            <a:chExt cx="2072640" cy="131673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072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1510" t="0" r="-31510" b="0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207264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3429000" y="6986016"/>
            <a:ext cx="457200" cy="457200"/>
            <a:chOff x="0" y="0"/>
            <a:chExt cx="609600" cy="6096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5B49C0"/>
            </a:solidFill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?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198870" y="6701790"/>
            <a:ext cx="6987540" cy="1025652"/>
            <a:chOff x="0" y="0"/>
            <a:chExt cx="9316720" cy="136753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316720" cy="1367536"/>
            </a:xfrm>
            <a:custGeom>
              <a:avLst/>
              <a:gdLst/>
              <a:ahLst/>
              <a:cxnLst/>
              <a:rect r="r" b="b" t="t" l="l"/>
              <a:pathLst>
                <a:path h="1367536" w="9316720">
                  <a:moveTo>
                    <a:pt x="0" y="189865"/>
                  </a:moveTo>
                  <a:cubicBezTo>
                    <a:pt x="0" y="85090"/>
                    <a:pt x="85090" y="0"/>
                    <a:pt x="189865" y="0"/>
                  </a:cubicBezTo>
                  <a:lnTo>
                    <a:pt x="9126855" y="0"/>
                  </a:lnTo>
                  <a:cubicBezTo>
                    <a:pt x="9231757" y="0"/>
                    <a:pt x="9316720" y="85090"/>
                    <a:pt x="9316720" y="189865"/>
                  </a:cubicBezTo>
                  <a:lnTo>
                    <a:pt x="9316720" y="1177671"/>
                  </a:lnTo>
                  <a:cubicBezTo>
                    <a:pt x="9316720" y="1282573"/>
                    <a:pt x="9231630" y="1367536"/>
                    <a:pt x="9126855" y="1367536"/>
                  </a:cubicBezTo>
                  <a:lnTo>
                    <a:pt x="189865" y="1367536"/>
                  </a:lnTo>
                  <a:cubicBezTo>
                    <a:pt x="85090" y="1367536"/>
                    <a:pt x="0" y="1282446"/>
                    <a:pt x="0" y="117767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B49C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446520" y="6903720"/>
            <a:ext cx="457200" cy="457200"/>
            <a:chOff x="0" y="0"/>
            <a:chExt cx="609600" cy="609600"/>
          </a:xfrm>
        </p:grpSpPr>
        <p:sp>
          <p:nvSpPr>
            <p:cNvPr name="Freeform 112" id="112" descr="FaQuestion_v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132320" y="6812280"/>
            <a:ext cx="5852160" cy="457200"/>
            <a:chOff x="0" y="0"/>
            <a:chExt cx="7802880" cy="6096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802880" cy="609600"/>
            </a:xfrm>
            <a:custGeom>
              <a:avLst/>
              <a:gdLst/>
              <a:ahLst/>
              <a:cxnLst/>
              <a:rect r="r" b="b" t="t" l="l"/>
              <a:pathLst>
                <a:path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9408" r="0" b="-199408"/>
              </a:stretch>
            </a:blipFill>
          </p:spPr>
          <p:txBody>
            <a:bodyPr/>
            <a:p/>
          </p:txBody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780288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B49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UNCLEAR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132320" y="7269480"/>
            <a:ext cx="5852160" cy="365760"/>
            <a:chOff x="0" y="0"/>
            <a:chExt cx="7802880" cy="4876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802880" cy="487680"/>
            </a:xfrm>
            <a:custGeom>
              <a:avLst/>
              <a:gdLst/>
              <a:ahLst/>
              <a:cxnLst/>
              <a:rect r="r" b="b" t="t" l="l"/>
              <a:pathLst>
                <a:path h="4876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760" r="0" b="-261760"/>
              </a:stretch>
            </a:blipFill>
          </p:spPr>
          <p:txBody>
            <a:bodyPr/>
            <a:p/>
          </p:txBody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78028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t>Forensic XYZ Audit: 85% · Repo Quality Tests: Active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213080" y="3657600"/>
            <a:ext cx="384048" cy="457200"/>
            <a:chOff x="0" y="0"/>
            <a:chExt cx="512064" cy="6096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12064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">
                  <a:moveTo>
                    <a:pt x="0" y="152400"/>
                  </a:moveTo>
                  <a:lnTo>
                    <a:pt x="256032" y="152400"/>
                  </a:lnTo>
                  <a:lnTo>
                    <a:pt x="256032" y="0"/>
                  </a:lnTo>
                  <a:lnTo>
                    <a:pt x="512064" y="304800"/>
                  </a:lnTo>
                  <a:lnTo>
                    <a:pt x="256032" y="609600"/>
                  </a:lnTo>
                  <a:lnTo>
                    <a:pt x="256032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3602338" y="3406778"/>
            <a:ext cx="3884933" cy="4323845"/>
            <a:chOff x="0" y="0"/>
            <a:chExt cx="5179911" cy="576512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179822" cy="5765038"/>
            </a:xfrm>
            <a:custGeom>
              <a:avLst/>
              <a:gdLst/>
              <a:ahLst/>
              <a:cxnLst/>
              <a:rect r="r" b="b" t="t" l="l"/>
              <a:pathLst>
                <a:path h="5765038" w="5179822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4994910" y="0"/>
                  </a:lnTo>
                  <a:cubicBezTo>
                    <a:pt x="5097018" y="0"/>
                    <a:pt x="5179822" y="82804"/>
                    <a:pt x="5179822" y="184912"/>
                  </a:cubicBezTo>
                  <a:lnTo>
                    <a:pt x="5179822" y="5580126"/>
                  </a:lnTo>
                  <a:cubicBezTo>
                    <a:pt x="5179822" y="5682234"/>
                    <a:pt x="5097018" y="5765038"/>
                    <a:pt x="4994910" y="5765038"/>
                  </a:cubicBezTo>
                  <a:lnTo>
                    <a:pt x="184912" y="5765038"/>
                  </a:lnTo>
                  <a:cubicBezTo>
                    <a:pt x="82804" y="5765165"/>
                    <a:pt x="0" y="5682361"/>
                    <a:pt x="0" y="5580126"/>
                  </a:cubicBezTo>
                  <a:close/>
                </a:path>
              </a:pathLst>
            </a:custGeom>
            <a:solidFill>
              <a:srgbClr val="FFF9F0"/>
            </a:solidFill>
            <a:ln w="44450" cap="sq">
              <a:solidFill>
                <a:srgbClr val="732017"/>
              </a:solidFill>
              <a:prstDash val="dash"/>
              <a:miter/>
            </a:ln>
          </p:spPr>
          <p:txBody>
            <a:bodyPr/>
            <a:p/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898880" y="3200400"/>
            <a:ext cx="3291840" cy="457200"/>
            <a:chOff x="0" y="0"/>
            <a:chExt cx="4389120" cy="6096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084320" y="0"/>
                  </a:lnTo>
                  <a:cubicBezTo>
                    <a:pt x="4252595" y="0"/>
                    <a:pt x="4389120" y="136525"/>
                    <a:pt x="4389120" y="304800"/>
                  </a:cubicBezTo>
                  <a:cubicBezTo>
                    <a:pt x="4389120" y="473075"/>
                    <a:pt x="4252595" y="609600"/>
                    <a:pt x="408432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t>COMMIT CONTRACTS &amp; REPO-QUALITY TESTS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3898880" y="3840480"/>
            <a:ext cx="3291840" cy="1143000"/>
            <a:chOff x="0" y="0"/>
            <a:chExt cx="4389120" cy="15240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38912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116" r="0" b="-6116"/>
              </a:stretch>
            </a:blipFill>
          </p:spPr>
          <p:txBody>
            <a:bodyPr/>
            <a:p/>
          </p:txBody>
        </p:sp>
        <p:sp>
          <p:nvSpPr>
            <p:cNvPr name="TextBox 128" id="128"/>
            <p:cNvSpPr txBox="true"/>
            <p:nvPr/>
          </p:nvSpPr>
          <p:spPr>
            <a:xfrm>
              <a:off x="0" y="-47625"/>
              <a:ext cx="4389120" cy="1571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If your next commit adds a tested query on a route…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879830" y="5055870"/>
            <a:ext cx="3329940" cy="678180"/>
            <a:chOff x="0" y="0"/>
            <a:chExt cx="4439920" cy="9042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439920" cy="904240"/>
            </a:xfrm>
            <a:custGeom>
              <a:avLst/>
              <a:gdLst/>
              <a:ahLst/>
              <a:cxnLst/>
              <a:rect r="r" b="b" t="t" l="l"/>
              <a:pathLst>
                <a:path h="904240" w="4439920">
                  <a:moveTo>
                    <a:pt x="0" y="155067"/>
                  </a:moveTo>
                  <a:cubicBezTo>
                    <a:pt x="0" y="69342"/>
                    <a:pt x="69342" y="0"/>
                    <a:pt x="155067" y="0"/>
                  </a:cubicBezTo>
                  <a:lnTo>
                    <a:pt x="4284853" y="0"/>
                  </a:lnTo>
                  <a:cubicBezTo>
                    <a:pt x="4370451" y="0"/>
                    <a:pt x="4439920" y="69342"/>
                    <a:pt x="4439920" y="155067"/>
                  </a:cubicBezTo>
                  <a:lnTo>
                    <a:pt x="4439920" y="749173"/>
                  </a:lnTo>
                  <a:cubicBezTo>
                    <a:pt x="4439920" y="834771"/>
                    <a:pt x="4370578" y="904240"/>
                    <a:pt x="4284853" y="904240"/>
                  </a:cubicBezTo>
                  <a:lnTo>
                    <a:pt x="155067" y="904240"/>
                  </a:lnTo>
                  <a:cubicBezTo>
                    <a:pt x="69342" y="904240"/>
                    <a:pt x="0" y="834898"/>
                    <a:pt x="0" y="749173"/>
                  </a:cubicBezTo>
                  <a:close/>
                </a:path>
              </a:pathLst>
            </a:custGeom>
            <a:solidFill>
              <a:srgbClr val="E8ECF1"/>
            </a:solidFill>
            <a:ln w="38100" cap="sq">
              <a:solidFill>
                <a:srgbClr val="556377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4439920" cy="9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56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 SHOWN IN SCOPE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5361920" y="5760720"/>
            <a:ext cx="365760" cy="301752"/>
            <a:chOff x="0" y="0"/>
            <a:chExt cx="487680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8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87680">
                  <a:moveTo>
                    <a:pt x="0" y="201168"/>
                  </a:moveTo>
                  <a:lnTo>
                    <a:pt x="121920" y="201168"/>
                  </a:lnTo>
                  <a:lnTo>
                    <a:pt x="121920" y="0"/>
                  </a:lnTo>
                  <a:lnTo>
                    <a:pt x="365760" y="0"/>
                  </a:lnTo>
                  <a:lnTo>
                    <a:pt x="365760" y="201168"/>
                  </a:lnTo>
                  <a:lnTo>
                    <a:pt x="487680" y="201168"/>
                  </a:lnTo>
                  <a:lnTo>
                    <a:pt x="243840" y="402336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879830" y="6107430"/>
            <a:ext cx="3329940" cy="678180"/>
            <a:chOff x="0" y="0"/>
            <a:chExt cx="4439920" cy="9042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439920" cy="904240"/>
            </a:xfrm>
            <a:custGeom>
              <a:avLst/>
              <a:gdLst/>
              <a:ahLst/>
              <a:cxnLst/>
              <a:rect r="r" b="b" t="t" l="l"/>
              <a:pathLst>
                <a:path h="904240" w="4439920">
                  <a:moveTo>
                    <a:pt x="0" y="155067"/>
                  </a:moveTo>
                  <a:cubicBezTo>
                    <a:pt x="0" y="69342"/>
                    <a:pt x="69342" y="0"/>
                    <a:pt x="155067" y="0"/>
                  </a:cubicBezTo>
                  <a:lnTo>
                    <a:pt x="4284853" y="0"/>
                  </a:lnTo>
                  <a:cubicBezTo>
                    <a:pt x="4370451" y="0"/>
                    <a:pt x="4439920" y="69342"/>
                    <a:pt x="4439920" y="155067"/>
                  </a:cubicBezTo>
                  <a:lnTo>
                    <a:pt x="4439920" y="749173"/>
                  </a:lnTo>
                  <a:cubicBezTo>
                    <a:pt x="4439920" y="834771"/>
                    <a:pt x="4370578" y="904240"/>
                    <a:pt x="4284853" y="904240"/>
                  </a:cubicBezTo>
                  <a:lnTo>
                    <a:pt x="155067" y="904240"/>
                  </a:lnTo>
                  <a:cubicBezTo>
                    <a:pt x="69342" y="904240"/>
                    <a:pt x="0" y="834898"/>
                    <a:pt x="0" y="749173"/>
                  </a:cubicBezTo>
                  <a:close/>
                </a:path>
              </a:pathLst>
            </a:custGeom>
            <a:solidFill>
              <a:srgbClr val="E3F2EA"/>
            </a:solidFill>
            <a:ln w="38100" cap="sq">
              <a:solidFill>
                <a:srgbClr val="1F8A5B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439920" cy="94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8A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DEMONSTRATED (STRONG)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879830" y="6838950"/>
            <a:ext cx="3329940" cy="449580"/>
            <a:chOff x="0" y="0"/>
            <a:chExt cx="4439920" cy="599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439920" cy="599440"/>
            </a:xfrm>
            <a:custGeom>
              <a:avLst/>
              <a:gdLst/>
              <a:ahLst/>
              <a:cxnLst/>
              <a:rect r="r" b="b" t="t" l="l"/>
              <a:pathLst>
                <a:path h="599440" w="4439920">
                  <a:moveTo>
                    <a:pt x="0" y="159893"/>
                  </a:moveTo>
                  <a:cubicBezTo>
                    <a:pt x="0" y="71628"/>
                    <a:pt x="71628" y="0"/>
                    <a:pt x="159893" y="0"/>
                  </a:cubicBezTo>
                  <a:lnTo>
                    <a:pt x="4280027" y="0"/>
                  </a:lnTo>
                  <a:cubicBezTo>
                    <a:pt x="4368292" y="0"/>
                    <a:pt x="4439920" y="71628"/>
                    <a:pt x="4439920" y="159893"/>
                  </a:cubicBezTo>
                  <a:lnTo>
                    <a:pt x="4439920" y="439547"/>
                  </a:lnTo>
                  <a:cubicBezTo>
                    <a:pt x="4439920" y="527812"/>
                    <a:pt x="4368292" y="599440"/>
                    <a:pt x="4280027" y="599440"/>
                  </a:cubicBezTo>
                  <a:lnTo>
                    <a:pt x="159893" y="599440"/>
                  </a:lnTo>
                  <a:cubicBezTo>
                    <a:pt x="71628" y="599440"/>
                    <a:pt x="0" y="527812"/>
                    <a:pt x="0" y="439547"/>
                  </a:cubicBezTo>
                  <a:close/>
                </a:path>
              </a:pathLst>
            </a:custGeom>
            <a:solidFill>
              <a:srgbClr val="FFF9F0"/>
            </a:solidFill>
            <a:ln w="38100" cap="sq">
              <a:solidFill>
                <a:srgbClr val="556377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4439920" cy="62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556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Must NOT change: Testing</a:t>
              </a:r>
            </a:p>
          </p:txBody>
        </p:sp>
      </p:grpSp>
      <p:sp>
        <p:nvSpPr>
          <p:cNvPr name="TextBox 140" id="140"/>
          <p:cNvSpPr txBox="true"/>
          <p:nvPr/>
        </p:nvSpPr>
        <p:spPr>
          <a:xfrm rot="0">
            <a:off x="13898880" y="7286625"/>
            <a:ext cx="329184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i="true">
                <a:solidFill>
                  <a:srgbClr val="6B4A3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Stays a Recommendation until it lands</a:t>
            </a:r>
          </a:p>
        </p:txBody>
      </p:sp>
      <p:grpSp>
        <p:nvGrpSpPr>
          <p:cNvPr name="Group 141" id="141"/>
          <p:cNvGrpSpPr/>
          <p:nvPr/>
        </p:nvGrpSpPr>
        <p:grpSpPr>
          <a:xfrm rot="0">
            <a:off x="807082" y="8259442"/>
            <a:ext cx="16673827" cy="1266187"/>
            <a:chOff x="0" y="0"/>
            <a:chExt cx="22231769" cy="1688249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2231731" cy="1688211"/>
            </a:xfrm>
            <a:custGeom>
              <a:avLst/>
              <a:gdLst/>
              <a:ahLst/>
              <a:cxnLst/>
              <a:rect r="r" b="b" t="t" l="l"/>
              <a:pathLst>
                <a:path h="1688211" w="22231731">
                  <a:moveTo>
                    <a:pt x="0" y="225044"/>
                  </a:moveTo>
                  <a:cubicBezTo>
                    <a:pt x="0" y="100838"/>
                    <a:pt x="100838" y="0"/>
                    <a:pt x="225044" y="0"/>
                  </a:cubicBezTo>
                  <a:lnTo>
                    <a:pt x="22006688" y="0"/>
                  </a:lnTo>
                  <a:cubicBezTo>
                    <a:pt x="22131021" y="0"/>
                    <a:pt x="22231731" y="100838"/>
                    <a:pt x="22231731" y="225044"/>
                  </a:cubicBezTo>
                  <a:lnTo>
                    <a:pt x="22231731" y="1463167"/>
                  </a:lnTo>
                  <a:cubicBezTo>
                    <a:pt x="22231731" y="1587500"/>
                    <a:pt x="22130894" y="1688211"/>
                    <a:pt x="22006688" y="1688211"/>
                  </a:cubicBezTo>
                  <a:lnTo>
                    <a:pt x="225044" y="1688211"/>
                  </a:lnTo>
                  <a:cubicBezTo>
                    <a:pt x="100838" y="1688211"/>
                    <a:pt x="0" y="1587500"/>
                    <a:pt x="0" y="146316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188720" y="8046720"/>
            <a:ext cx="7315200" cy="438912"/>
            <a:chOff x="0" y="0"/>
            <a:chExt cx="9753600" cy="58521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75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97536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9460992" y="0"/>
                  </a:lnTo>
                  <a:cubicBezTo>
                    <a:pt x="9622536" y="0"/>
                    <a:pt x="9753600" y="131064"/>
                    <a:pt x="9753600" y="292608"/>
                  </a:cubicBezTo>
                  <a:cubicBezTo>
                    <a:pt x="9753600" y="454152"/>
                    <a:pt x="9622536" y="585216"/>
                    <a:pt x="946099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C9A24A"/>
            </a:solidFill>
          </p:spPr>
          <p:txBody>
            <a:bodyPr/>
            <a:p/>
          </p:txBody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9753600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LOOP · RE-RUNS ON EVERY PUSH (WEBHOOK + POLLING FALLBACK)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69670" y="8622030"/>
            <a:ext cx="769620" cy="769620"/>
            <a:chOff x="0" y="0"/>
            <a:chExt cx="1026160" cy="10261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364285" y="8816645"/>
            <a:ext cx="380390" cy="380390"/>
            <a:chOff x="0" y="0"/>
            <a:chExt cx="507187" cy="507187"/>
          </a:xfrm>
        </p:grpSpPr>
        <p:sp>
          <p:nvSpPr>
            <p:cNvPr name="Freeform 149" id="149" descr="FaFileAlt_y.png"/>
            <p:cNvSpPr/>
            <p:nvPr/>
          </p:nvSpPr>
          <p:spPr>
            <a:xfrm flipH="false" flipV="false" rot="0">
              <a:off x="0" y="0"/>
              <a:ext cx="507238" cy="507238"/>
            </a:xfrm>
            <a:custGeom>
              <a:avLst/>
              <a:gdLst/>
              <a:ahLst/>
              <a:cxnLst/>
              <a:rect r="r" b="b" t="t" l="l"/>
              <a:pathLst>
                <a:path h="507238" w="507238">
                  <a:moveTo>
                    <a:pt x="0" y="0"/>
                  </a:moveTo>
                  <a:lnTo>
                    <a:pt x="507238" y="0"/>
                  </a:lnTo>
                  <a:lnTo>
                    <a:pt x="507238" y="507238"/>
                  </a:lnTo>
                  <a:lnTo>
                    <a:pt x="0" y="50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10" b="10"/>
              </a:stretch>
            </a:blipFill>
          </p:spPr>
          <p:txBody>
            <a:bodyPr/>
            <a:p/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2029968" y="8641080"/>
            <a:ext cx="1554480" cy="731520"/>
            <a:chOff x="0" y="0"/>
            <a:chExt cx="2072640" cy="97536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07264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2072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requirements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3621024" y="8906256"/>
            <a:ext cx="182880" cy="201168"/>
            <a:chOff x="0" y="0"/>
            <a:chExt cx="243840" cy="26822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43840" cy="268224"/>
            </a:xfrm>
            <a:custGeom>
              <a:avLst/>
              <a:gdLst/>
              <a:ahLst/>
              <a:cxnLst/>
              <a:rect r="r" b="b" t="t" l="l"/>
              <a:pathLst>
                <a:path h="268224" w="243840">
                  <a:moveTo>
                    <a:pt x="0" y="67056"/>
                  </a:moveTo>
                  <a:lnTo>
                    <a:pt x="121920" y="67056"/>
                  </a:lnTo>
                  <a:lnTo>
                    <a:pt x="121920" y="0"/>
                  </a:lnTo>
                  <a:lnTo>
                    <a:pt x="243840" y="134112"/>
                  </a:lnTo>
                  <a:lnTo>
                    <a:pt x="121920" y="268224"/>
                  </a:lnTo>
                  <a:lnTo>
                    <a:pt x="121920" y="201168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C9A24A"/>
            </a:solidFill>
          </p:spPr>
          <p:txBody>
            <a:bodyPr/>
            <a:p/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3867150" y="8622030"/>
            <a:ext cx="769620" cy="769620"/>
            <a:chOff x="0" y="0"/>
            <a:chExt cx="1026160" cy="10261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4061765" y="8816645"/>
            <a:ext cx="380390" cy="380390"/>
            <a:chOff x="0" y="0"/>
            <a:chExt cx="507187" cy="507187"/>
          </a:xfrm>
        </p:grpSpPr>
        <p:sp>
          <p:nvSpPr>
            <p:cNvPr name="Freeform 158" id="158" descr="FaGithub_y.png"/>
            <p:cNvSpPr/>
            <p:nvPr/>
          </p:nvSpPr>
          <p:spPr>
            <a:xfrm flipH="false" flipV="false" rot="0">
              <a:off x="0" y="0"/>
              <a:ext cx="507238" cy="507238"/>
            </a:xfrm>
            <a:custGeom>
              <a:avLst/>
              <a:gdLst/>
              <a:ahLst/>
              <a:cxnLst/>
              <a:rect r="r" b="b" t="t" l="l"/>
              <a:pathLst>
                <a:path h="507238" w="507238">
                  <a:moveTo>
                    <a:pt x="0" y="0"/>
                  </a:moveTo>
                  <a:lnTo>
                    <a:pt x="507238" y="0"/>
                  </a:lnTo>
                  <a:lnTo>
                    <a:pt x="507238" y="507238"/>
                  </a:lnTo>
                  <a:lnTo>
                    <a:pt x="0" y="50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10" b="10"/>
              </a:stretch>
            </a:blipFill>
          </p:spPr>
          <p:txBody>
            <a:bodyPr/>
            <a:p/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4727448" y="8641080"/>
            <a:ext cx="1554480" cy="731520"/>
            <a:chOff x="0" y="0"/>
            <a:chExt cx="2072640" cy="97536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07264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2072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 evidence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6318504" y="8906256"/>
            <a:ext cx="182880" cy="201168"/>
            <a:chOff x="0" y="0"/>
            <a:chExt cx="243840" cy="268224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43840" cy="268224"/>
            </a:xfrm>
            <a:custGeom>
              <a:avLst/>
              <a:gdLst/>
              <a:ahLst/>
              <a:cxnLst/>
              <a:rect r="r" b="b" t="t" l="l"/>
              <a:pathLst>
                <a:path h="268224" w="243840">
                  <a:moveTo>
                    <a:pt x="0" y="67056"/>
                  </a:moveTo>
                  <a:lnTo>
                    <a:pt x="121920" y="67056"/>
                  </a:lnTo>
                  <a:lnTo>
                    <a:pt x="121920" y="0"/>
                  </a:lnTo>
                  <a:lnTo>
                    <a:pt x="243840" y="134112"/>
                  </a:lnTo>
                  <a:lnTo>
                    <a:pt x="121920" y="268224"/>
                  </a:lnTo>
                  <a:lnTo>
                    <a:pt x="121920" y="201168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C9A24A"/>
            </a:solidFill>
          </p:spPr>
          <p:txBody>
            <a:bodyPr/>
            <a:p/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6564630" y="8622030"/>
            <a:ext cx="769620" cy="769620"/>
            <a:chOff x="0" y="0"/>
            <a:chExt cx="1026160" cy="102616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6759245" y="8816645"/>
            <a:ext cx="380390" cy="380390"/>
            <a:chOff x="0" y="0"/>
            <a:chExt cx="507187" cy="507187"/>
          </a:xfrm>
        </p:grpSpPr>
        <p:sp>
          <p:nvSpPr>
            <p:cNvPr name="Freeform 167" id="167" descr="FaSearch_y.png"/>
            <p:cNvSpPr/>
            <p:nvPr/>
          </p:nvSpPr>
          <p:spPr>
            <a:xfrm flipH="false" flipV="false" rot="0">
              <a:off x="0" y="0"/>
              <a:ext cx="507238" cy="507238"/>
            </a:xfrm>
            <a:custGeom>
              <a:avLst/>
              <a:gdLst/>
              <a:ahLst/>
              <a:cxnLst/>
              <a:rect r="r" b="b" t="t" l="l"/>
              <a:pathLst>
                <a:path h="507238" w="507238">
                  <a:moveTo>
                    <a:pt x="0" y="0"/>
                  </a:moveTo>
                  <a:lnTo>
                    <a:pt x="507238" y="0"/>
                  </a:lnTo>
                  <a:lnTo>
                    <a:pt x="507238" y="507238"/>
                  </a:lnTo>
                  <a:lnTo>
                    <a:pt x="0" y="50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10" b="10"/>
              </a:stretch>
            </a:blipFill>
          </p:spPr>
          <p:txBody>
            <a:bodyPr/>
            <a:p/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7424928" y="8641080"/>
            <a:ext cx="1554480" cy="731520"/>
            <a:chOff x="0" y="0"/>
            <a:chExt cx="2072640" cy="97536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07264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2072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 assessment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9015984" y="8906256"/>
            <a:ext cx="182880" cy="201168"/>
            <a:chOff x="0" y="0"/>
            <a:chExt cx="243840" cy="26822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43840" cy="268224"/>
            </a:xfrm>
            <a:custGeom>
              <a:avLst/>
              <a:gdLst/>
              <a:ahLst/>
              <a:cxnLst/>
              <a:rect r="r" b="b" t="t" l="l"/>
              <a:pathLst>
                <a:path h="268224" w="243840">
                  <a:moveTo>
                    <a:pt x="0" y="67056"/>
                  </a:moveTo>
                  <a:lnTo>
                    <a:pt x="121920" y="67056"/>
                  </a:lnTo>
                  <a:lnTo>
                    <a:pt x="121920" y="0"/>
                  </a:lnTo>
                  <a:lnTo>
                    <a:pt x="243840" y="134112"/>
                  </a:lnTo>
                  <a:lnTo>
                    <a:pt x="121920" y="268224"/>
                  </a:lnTo>
                  <a:lnTo>
                    <a:pt x="121920" y="201168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C9A24A"/>
            </a:solidFill>
          </p:spPr>
          <p:txBody>
            <a:bodyPr/>
            <a:p/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262110" y="8622030"/>
            <a:ext cx="769620" cy="769620"/>
            <a:chOff x="0" y="0"/>
            <a:chExt cx="1026160" cy="102616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9456725" y="8816645"/>
            <a:ext cx="380390" cy="380390"/>
            <a:chOff x="0" y="0"/>
            <a:chExt cx="507187" cy="507187"/>
          </a:xfrm>
        </p:grpSpPr>
        <p:sp>
          <p:nvSpPr>
            <p:cNvPr name="Freeform 176" id="176" descr="FaClipboardCheck_y.png"/>
            <p:cNvSpPr/>
            <p:nvPr/>
          </p:nvSpPr>
          <p:spPr>
            <a:xfrm flipH="false" flipV="false" rot="0">
              <a:off x="0" y="0"/>
              <a:ext cx="507238" cy="507238"/>
            </a:xfrm>
            <a:custGeom>
              <a:avLst/>
              <a:gdLst/>
              <a:ahLst/>
              <a:cxnLst/>
              <a:rect r="r" b="b" t="t" l="l"/>
              <a:pathLst>
                <a:path h="507238" w="507238">
                  <a:moveTo>
                    <a:pt x="0" y="0"/>
                  </a:moveTo>
                  <a:lnTo>
                    <a:pt x="507238" y="0"/>
                  </a:lnTo>
                  <a:lnTo>
                    <a:pt x="507238" y="507238"/>
                  </a:lnTo>
                  <a:lnTo>
                    <a:pt x="0" y="50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10" b="10"/>
              </a:stretch>
            </a:blipFill>
          </p:spPr>
          <p:txBody>
            <a:bodyPr/>
            <a:p/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0122408" y="8641080"/>
            <a:ext cx="1554480" cy="731520"/>
            <a:chOff x="0" y="0"/>
            <a:chExt cx="2072640" cy="97536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07264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2072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 Contract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1713464" y="8906256"/>
            <a:ext cx="182880" cy="201168"/>
            <a:chOff x="0" y="0"/>
            <a:chExt cx="243840" cy="26822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43840" cy="268224"/>
            </a:xfrm>
            <a:custGeom>
              <a:avLst/>
              <a:gdLst/>
              <a:ahLst/>
              <a:cxnLst/>
              <a:rect r="r" b="b" t="t" l="l"/>
              <a:pathLst>
                <a:path h="268224" w="243840">
                  <a:moveTo>
                    <a:pt x="0" y="67056"/>
                  </a:moveTo>
                  <a:lnTo>
                    <a:pt x="121920" y="67056"/>
                  </a:lnTo>
                  <a:lnTo>
                    <a:pt x="121920" y="0"/>
                  </a:lnTo>
                  <a:lnTo>
                    <a:pt x="243840" y="134112"/>
                  </a:lnTo>
                  <a:lnTo>
                    <a:pt x="121920" y="268224"/>
                  </a:lnTo>
                  <a:lnTo>
                    <a:pt x="121920" y="201168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C9A24A"/>
            </a:solidFill>
          </p:spPr>
          <p:txBody>
            <a:bodyPr/>
            <a:p/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1959590" y="8622030"/>
            <a:ext cx="769620" cy="769620"/>
            <a:chOff x="0" y="0"/>
            <a:chExt cx="1026160" cy="102616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2154205" y="8816645"/>
            <a:ext cx="380390" cy="380390"/>
            <a:chOff x="0" y="0"/>
            <a:chExt cx="507187" cy="507187"/>
          </a:xfrm>
        </p:grpSpPr>
        <p:sp>
          <p:nvSpPr>
            <p:cNvPr name="Freeform 185" id="185" descr="FaCodeBranch_y.png"/>
            <p:cNvSpPr/>
            <p:nvPr/>
          </p:nvSpPr>
          <p:spPr>
            <a:xfrm flipH="false" flipV="false" rot="0">
              <a:off x="0" y="0"/>
              <a:ext cx="507238" cy="507238"/>
            </a:xfrm>
            <a:custGeom>
              <a:avLst/>
              <a:gdLst/>
              <a:ahLst/>
              <a:cxnLst/>
              <a:rect r="r" b="b" t="t" l="l"/>
              <a:pathLst>
                <a:path h="507238" w="507238">
                  <a:moveTo>
                    <a:pt x="0" y="0"/>
                  </a:moveTo>
                  <a:lnTo>
                    <a:pt x="507238" y="0"/>
                  </a:lnTo>
                  <a:lnTo>
                    <a:pt x="507238" y="507238"/>
                  </a:lnTo>
                  <a:lnTo>
                    <a:pt x="0" y="50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10" b="10"/>
              </a:stretch>
            </a:blipFill>
          </p:spPr>
          <p:txBody>
            <a:bodyPr/>
            <a:p/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2819888" y="8641080"/>
            <a:ext cx="1554480" cy="731520"/>
            <a:chOff x="0" y="0"/>
            <a:chExt cx="2072640" cy="97536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07264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188" id="188"/>
            <p:cNvSpPr txBox="true"/>
            <p:nvPr/>
          </p:nvSpPr>
          <p:spPr>
            <a:xfrm>
              <a:off x="0" y="-38100"/>
              <a:ext cx="2072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 commit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4410944" y="8906256"/>
            <a:ext cx="182880" cy="201168"/>
            <a:chOff x="0" y="0"/>
            <a:chExt cx="243840" cy="268224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43840" cy="268224"/>
            </a:xfrm>
            <a:custGeom>
              <a:avLst/>
              <a:gdLst/>
              <a:ahLst/>
              <a:cxnLst/>
              <a:rect r="r" b="b" t="t" l="l"/>
              <a:pathLst>
                <a:path h="268224" w="243840">
                  <a:moveTo>
                    <a:pt x="0" y="67056"/>
                  </a:moveTo>
                  <a:lnTo>
                    <a:pt x="121920" y="67056"/>
                  </a:lnTo>
                  <a:lnTo>
                    <a:pt x="121920" y="0"/>
                  </a:lnTo>
                  <a:lnTo>
                    <a:pt x="243840" y="134112"/>
                  </a:lnTo>
                  <a:lnTo>
                    <a:pt x="121920" y="268224"/>
                  </a:lnTo>
                  <a:lnTo>
                    <a:pt x="121920" y="201168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C9A24A"/>
            </a:solidFill>
          </p:spPr>
          <p:txBody>
            <a:bodyPr/>
            <a:p/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4657070" y="8622030"/>
            <a:ext cx="769620" cy="769620"/>
            <a:chOff x="0" y="0"/>
            <a:chExt cx="1026160" cy="102616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026160" cy="1026160"/>
            </a:xfrm>
            <a:custGeom>
              <a:avLst/>
              <a:gdLst/>
              <a:ahLst/>
              <a:cxnLst/>
              <a:rect r="r" b="b" t="t" l="l"/>
              <a:pathLst>
                <a:path h="1026160" w="1026160">
                  <a:moveTo>
                    <a:pt x="0" y="513080"/>
                  </a:moveTo>
                  <a:cubicBezTo>
                    <a:pt x="0" y="229743"/>
                    <a:pt x="229743" y="0"/>
                    <a:pt x="513080" y="0"/>
                  </a:cubicBezTo>
                  <a:cubicBezTo>
                    <a:pt x="796417" y="0"/>
                    <a:pt x="1026160" y="229743"/>
                    <a:pt x="1026160" y="513080"/>
                  </a:cubicBezTo>
                  <a:cubicBezTo>
                    <a:pt x="1026160" y="796417"/>
                    <a:pt x="796417" y="1026160"/>
                    <a:pt x="513080" y="1026160"/>
                  </a:cubicBezTo>
                  <a:cubicBezTo>
                    <a:pt x="229743" y="1026160"/>
                    <a:pt x="0" y="796417"/>
                    <a:pt x="0" y="51308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4851685" y="8816645"/>
            <a:ext cx="380390" cy="380390"/>
            <a:chOff x="0" y="0"/>
            <a:chExt cx="507187" cy="507187"/>
          </a:xfrm>
        </p:grpSpPr>
        <p:sp>
          <p:nvSpPr>
            <p:cNvPr name="Freeform 194" id="194" descr="FaSyncAlt_y.png"/>
            <p:cNvSpPr/>
            <p:nvPr/>
          </p:nvSpPr>
          <p:spPr>
            <a:xfrm flipH="false" flipV="false" rot="0">
              <a:off x="0" y="0"/>
              <a:ext cx="507238" cy="507238"/>
            </a:xfrm>
            <a:custGeom>
              <a:avLst/>
              <a:gdLst/>
              <a:ahLst/>
              <a:cxnLst/>
              <a:rect r="r" b="b" t="t" l="l"/>
              <a:pathLst>
                <a:path h="507238" w="507238">
                  <a:moveTo>
                    <a:pt x="0" y="0"/>
                  </a:moveTo>
                  <a:lnTo>
                    <a:pt x="507238" y="0"/>
                  </a:lnTo>
                  <a:lnTo>
                    <a:pt x="507238" y="507238"/>
                  </a:lnTo>
                  <a:lnTo>
                    <a:pt x="0" y="50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10" b="10"/>
              </a:stretch>
            </a:blipFill>
          </p:spPr>
          <p:txBody>
            <a:bodyPr/>
            <a:p/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5517368" y="8641080"/>
            <a:ext cx="1554480" cy="731520"/>
            <a:chOff x="0" y="0"/>
            <a:chExt cx="2072640" cy="97536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07264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197" id="197"/>
            <p:cNvSpPr txBox="true"/>
            <p:nvPr/>
          </p:nvSpPr>
          <p:spPr>
            <a:xfrm>
              <a:off x="0" y="-38100"/>
              <a:ext cx="2072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Auto-reassess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68" y="0"/>
            <a:ext cx="18237832" cy="10287000"/>
            <a:chOff x="0" y="0"/>
            <a:chExt cx="24317109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1631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16310">
                  <a:moveTo>
                    <a:pt x="0" y="13716000"/>
                  </a:moveTo>
                  <a:lnTo>
                    <a:pt x="24316310" y="13716000"/>
                  </a:lnTo>
                  <a:lnTo>
                    <a:pt x="2431631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10" cy="10287000"/>
            <a:chOff x="0" y="0"/>
            <a:chExt cx="24384013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874482"/>
            <a:ext cx="18288000" cy="412747"/>
            <a:chOff x="0" y="0"/>
            <a:chExt cx="24384000" cy="550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550037"/>
            </a:xfrm>
            <a:custGeom>
              <a:avLst/>
              <a:gdLst/>
              <a:ahLst/>
              <a:cxnLst/>
              <a:rect r="r" b="b" t="t" l="l"/>
              <a:pathLst>
                <a:path h="550037" w="24383364">
                  <a:moveTo>
                    <a:pt x="24383364" y="0"/>
                  </a:moveTo>
                  <a:lnTo>
                    <a:pt x="24383364" y="550037"/>
                  </a:lnTo>
                  <a:lnTo>
                    <a:pt x="0" y="550037"/>
                  </a:lnTo>
                  <a:lnTo>
                    <a:pt x="0" y="0"/>
                  </a:lnTo>
                  <a:lnTo>
                    <a:pt x="24383364" y="0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9874482"/>
            <a:chOff x="0" y="0"/>
            <a:chExt cx="24384000" cy="131659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165962"/>
            </a:xfrm>
            <a:custGeom>
              <a:avLst/>
              <a:gdLst/>
              <a:ahLst/>
              <a:cxnLst/>
              <a:rect r="r" b="b" t="t" l="l"/>
              <a:pathLst>
                <a:path h="1316596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165962"/>
                  </a:lnTo>
                  <a:lnTo>
                    <a:pt x="0" y="13165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" r="0" b="-6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524724"/>
            <a:chOff x="0" y="0"/>
            <a:chExt cx="24384000" cy="20329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2033016"/>
            </a:xfrm>
            <a:custGeom>
              <a:avLst/>
              <a:gdLst/>
              <a:ahLst/>
              <a:cxnLst/>
              <a:rect r="r" b="b" t="t" l="l"/>
              <a:pathLst>
                <a:path h="20330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3016"/>
                  </a:lnTo>
                  <a:lnTo>
                    <a:pt x="0" y="2033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t="0" r="-23" b="2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08006" y="9678591"/>
            <a:ext cx="1274493" cy="388620"/>
            <a:chOff x="0" y="0"/>
            <a:chExt cx="1699324" cy="518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9260" cy="518160"/>
            </a:xfrm>
            <a:custGeom>
              <a:avLst/>
              <a:gdLst/>
              <a:ahLst/>
              <a:cxnLst/>
              <a:rect r="r" b="b" t="t" l="l"/>
              <a:pathLst>
                <a:path h="518160" w="1699260">
                  <a:moveTo>
                    <a:pt x="0" y="0"/>
                  </a:moveTo>
                  <a:lnTo>
                    <a:pt x="1699260" y="0"/>
                  </a:lnTo>
                  <a:lnTo>
                    <a:pt x="1699260" y="518160"/>
                  </a:lnTo>
                  <a:lnTo>
                    <a:pt x="0" y="51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1" r="-3" b="-171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081512" y="123330"/>
            <a:ext cx="3648056" cy="1219200"/>
            <a:chOff x="0" y="0"/>
            <a:chExt cx="4864075" cy="162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641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4864100">
                  <a:moveTo>
                    <a:pt x="0" y="0"/>
                  </a:moveTo>
                  <a:lnTo>
                    <a:pt x="4864100" y="0"/>
                  </a:lnTo>
                  <a:lnTo>
                    <a:pt x="48641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9" r="0" b="-258"/>
              </a:stretch>
            </a:blipFill>
          </p:spPr>
          <p:txBody>
            <a:bodyPr/>
            <a:p/>
          </p:txBody>
        </p:sp>
      </p:grpSp>
      <p:sp>
        <p:nvSpPr>
          <p:cNvPr name="TextBox 16" id="16" descr="$PPTXTitle"/>
          <p:cNvSpPr txBox="true"/>
          <p:nvPr/>
        </p:nvSpPr>
        <p:spPr>
          <a:xfrm rot="0">
            <a:off x="5243903" y="445008"/>
            <a:ext cx="662701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517">
                <a:solidFill>
                  <a:srgbClr val="FFFF00"/>
                </a:solidFill>
                <a:latin typeface="Doulos"/>
                <a:ea typeface="Doulos"/>
                <a:cs typeface="Doulos"/>
                <a:sym typeface="Doulos"/>
              </a:rPr>
              <a:t>TECHNICAL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8445" y="9992135"/>
            <a:ext cx="1284608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599" spc="1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PROOFSTACK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45244" y="9967484"/>
            <a:ext cx="396240" cy="28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150" spc="3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1664208"/>
            <a:ext cx="16642080" cy="868680"/>
            <a:chOff x="0" y="0"/>
            <a:chExt cx="22189440" cy="1158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9439" cy="1158240"/>
            </a:xfrm>
            <a:custGeom>
              <a:avLst/>
              <a:gdLst/>
              <a:ahLst/>
              <a:cxnLst/>
              <a:rect r="r" b="b" t="t" l="l"/>
              <a:pathLst>
                <a:path h="11582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3292" r="0" b="-323292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218944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33">
                  <a:solidFill>
                    <a:srgbClr val="732017"/>
                  </a:solidFill>
                  <a:latin typeface="Doulos"/>
                  <a:ea typeface="Doulos"/>
                  <a:cs typeface="Doulos"/>
                  <a:sym typeface="Doulos"/>
                </a:rPr>
                <a:t>Rules decide. The LLM only confirms.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2395728"/>
            <a:ext cx="16642080" cy="457200"/>
            <a:chOff x="0" y="0"/>
            <a:chExt cx="2218944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89439" cy="609600"/>
            </a:xfrm>
            <a:custGeom>
              <a:avLst/>
              <a:gdLst/>
              <a:ahLst/>
              <a:cxnLst/>
              <a:rect r="r" b="b" t="t" l="l"/>
              <a:pathLst>
                <a:path h="6096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9255" r="0" b="-659255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189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i="true">
                  <a:solidFill>
                    <a:srgbClr val="6B4A3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status is computed by rules. The LLM can only confirm or reject a candidate.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0263" y="2959103"/>
            <a:ext cx="2585723" cy="683771"/>
            <a:chOff x="0" y="0"/>
            <a:chExt cx="3447631" cy="9116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47669" cy="911733"/>
            </a:xfrm>
            <a:custGeom>
              <a:avLst/>
              <a:gdLst/>
              <a:ahLst/>
              <a:cxnLst/>
              <a:rect r="r" b="b" t="t" l="l"/>
              <a:pathLst>
                <a:path h="911733" w="3447669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lnTo>
                    <a:pt x="3257677" y="0"/>
                  </a:lnTo>
                  <a:cubicBezTo>
                    <a:pt x="3362579" y="0"/>
                    <a:pt x="3447669" y="85090"/>
                    <a:pt x="3447669" y="189992"/>
                  </a:cubicBezTo>
                  <a:lnTo>
                    <a:pt x="3447669" y="721741"/>
                  </a:lnTo>
                  <a:cubicBezTo>
                    <a:pt x="3447669" y="826643"/>
                    <a:pt x="3362579" y="911733"/>
                    <a:pt x="3257677" y="911733"/>
                  </a:cubicBezTo>
                  <a:lnTo>
                    <a:pt x="189992" y="911733"/>
                  </a:lnTo>
                  <a:cubicBezTo>
                    <a:pt x="85090" y="911733"/>
                    <a:pt x="0" y="826643"/>
                    <a:pt x="0" y="721741"/>
                  </a:cubicBezTo>
                  <a:close/>
                </a:path>
              </a:pathLst>
            </a:custGeom>
            <a:solidFill>
              <a:srgbClr val="FFF9F0"/>
            </a:solidFill>
            <a:ln w="2540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5840" y="3081528"/>
            <a:ext cx="438912" cy="438912"/>
            <a:chOff x="0" y="0"/>
            <a:chExt cx="585216" cy="585216"/>
          </a:xfrm>
        </p:grpSpPr>
        <p:sp>
          <p:nvSpPr>
            <p:cNvPr name="Freeform 28" id="28" descr="FaFileAlt_m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00200" y="2971800"/>
            <a:ext cx="1737360" cy="658368"/>
            <a:chOff x="0" y="0"/>
            <a:chExt cx="2316480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18" r="0" b="-1418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posting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20240" y="3648456"/>
            <a:ext cx="365760" cy="182880"/>
            <a:chOff x="0" y="0"/>
            <a:chExt cx="487680" cy="243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" cy="243840"/>
            </a:xfrm>
            <a:custGeom>
              <a:avLst/>
              <a:gdLst/>
              <a:ahLst/>
              <a:cxnLst/>
              <a:rect r="r" b="b" t="t" l="l"/>
              <a:pathLst>
                <a:path h="243840" w="487680">
                  <a:moveTo>
                    <a:pt x="0" y="121920"/>
                  </a:moveTo>
                  <a:lnTo>
                    <a:pt x="121920" y="121920"/>
                  </a:lnTo>
                  <a:lnTo>
                    <a:pt x="121920" y="0"/>
                  </a:lnTo>
                  <a:lnTo>
                    <a:pt x="365760" y="0"/>
                  </a:lnTo>
                  <a:lnTo>
                    <a:pt x="365760" y="121920"/>
                  </a:lnTo>
                  <a:lnTo>
                    <a:pt x="487680" y="121920"/>
                  </a:lnTo>
                  <a:lnTo>
                    <a:pt x="243840" y="24384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3626615" y="2959103"/>
            <a:ext cx="2585723" cy="683771"/>
            <a:chOff x="0" y="0"/>
            <a:chExt cx="3447631" cy="91169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47669" cy="911733"/>
            </a:xfrm>
            <a:custGeom>
              <a:avLst/>
              <a:gdLst/>
              <a:ahLst/>
              <a:cxnLst/>
              <a:rect r="r" b="b" t="t" l="l"/>
              <a:pathLst>
                <a:path h="911733" w="3447669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lnTo>
                    <a:pt x="3257677" y="0"/>
                  </a:lnTo>
                  <a:cubicBezTo>
                    <a:pt x="3362579" y="0"/>
                    <a:pt x="3447669" y="85090"/>
                    <a:pt x="3447669" y="189992"/>
                  </a:cubicBezTo>
                  <a:lnTo>
                    <a:pt x="3447669" y="721741"/>
                  </a:lnTo>
                  <a:cubicBezTo>
                    <a:pt x="3447669" y="826643"/>
                    <a:pt x="3362579" y="911733"/>
                    <a:pt x="3257677" y="911733"/>
                  </a:cubicBezTo>
                  <a:lnTo>
                    <a:pt x="189992" y="911733"/>
                  </a:lnTo>
                  <a:cubicBezTo>
                    <a:pt x="85090" y="911733"/>
                    <a:pt x="0" y="826643"/>
                    <a:pt x="0" y="721741"/>
                  </a:cubicBezTo>
                  <a:close/>
                </a:path>
              </a:pathLst>
            </a:custGeom>
            <a:solidFill>
              <a:srgbClr val="FFF9F0"/>
            </a:solidFill>
            <a:ln w="2540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3822192" y="3081528"/>
            <a:ext cx="438912" cy="438912"/>
            <a:chOff x="0" y="0"/>
            <a:chExt cx="585216" cy="585216"/>
          </a:xfrm>
        </p:grpSpPr>
        <p:sp>
          <p:nvSpPr>
            <p:cNvPr name="Freeform 37" id="37" descr="FaGithub_m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16552" y="2971800"/>
            <a:ext cx="1737360" cy="658368"/>
            <a:chOff x="0" y="0"/>
            <a:chExt cx="231648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16480" cy="877824"/>
            </a:xfrm>
            <a:custGeom>
              <a:avLst/>
              <a:gdLst/>
              <a:ahLst/>
              <a:cxnLst/>
              <a:rect r="r" b="b" t="t" l="l"/>
              <a:pathLst>
                <a:path h="87782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18" r="0" b="-1418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3164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push / poll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736592" y="3648456"/>
            <a:ext cx="365760" cy="182880"/>
            <a:chOff x="0" y="0"/>
            <a:chExt cx="487680" cy="243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" cy="243840"/>
            </a:xfrm>
            <a:custGeom>
              <a:avLst/>
              <a:gdLst/>
              <a:ahLst/>
              <a:cxnLst/>
              <a:rect r="r" b="b" t="t" l="l"/>
              <a:pathLst>
                <a:path h="243840" w="487680">
                  <a:moveTo>
                    <a:pt x="0" y="121920"/>
                  </a:moveTo>
                  <a:lnTo>
                    <a:pt x="121920" y="121920"/>
                  </a:lnTo>
                  <a:lnTo>
                    <a:pt x="121920" y="0"/>
                  </a:lnTo>
                  <a:lnTo>
                    <a:pt x="365760" y="0"/>
                  </a:lnTo>
                  <a:lnTo>
                    <a:pt x="365760" y="121920"/>
                  </a:lnTo>
                  <a:lnTo>
                    <a:pt x="487680" y="121920"/>
                  </a:lnTo>
                  <a:lnTo>
                    <a:pt x="243840" y="24384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83680" y="2971800"/>
            <a:ext cx="2194560" cy="658368"/>
            <a:chOff x="0" y="0"/>
            <a:chExt cx="2926080" cy="8778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50" r="0" b="-1495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9260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BY DESIGN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53802" y="3029074"/>
            <a:ext cx="2249167" cy="543811"/>
            <a:chOff x="0" y="0"/>
            <a:chExt cx="2998889" cy="72508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98978" cy="725170"/>
            </a:xfrm>
            <a:custGeom>
              <a:avLst/>
              <a:gdLst/>
              <a:ahLst/>
              <a:cxnLst/>
              <a:rect r="r" b="b" t="t" l="l"/>
              <a:pathLst>
                <a:path h="725170" w="2998978">
                  <a:moveTo>
                    <a:pt x="0" y="362585"/>
                  </a:moveTo>
                  <a:cubicBezTo>
                    <a:pt x="0" y="162306"/>
                    <a:pt x="162306" y="0"/>
                    <a:pt x="362585" y="0"/>
                  </a:cubicBezTo>
                  <a:lnTo>
                    <a:pt x="2636393" y="0"/>
                  </a:lnTo>
                  <a:cubicBezTo>
                    <a:pt x="2836672" y="0"/>
                    <a:pt x="2998978" y="162306"/>
                    <a:pt x="2998978" y="362585"/>
                  </a:cubicBezTo>
                  <a:cubicBezTo>
                    <a:pt x="2998978" y="562864"/>
                    <a:pt x="2836672" y="725170"/>
                    <a:pt x="2636393" y="725170"/>
                  </a:cubicBezTo>
                  <a:lnTo>
                    <a:pt x="362585" y="725170"/>
                  </a:lnTo>
                  <a:cubicBezTo>
                    <a:pt x="162306" y="725043"/>
                    <a:pt x="0" y="562737"/>
                    <a:pt x="0" y="362585"/>
                  </a:cubicBezTo>
                  <a:close/>
                </a:path>
              </a:pathLst>
            </a:custGeom>
            <a:solidFill>
              <a:srgbClr val="371704"/>
            </a:soli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998889" cy="753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Read-only agent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235814" y="3029074"/>
            <a:ext cx="2249167" cy="543811"/>
            <a:chOff x="0" y="0"/>
            <a:chExt cx="2998889" cy="72508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98978" cy="725170"/>
            </a:xfrm>
            <a:custGeom>
              <a:avLst/>
              <a:gdLst/>
              <a:ahLst/>
              <a:cxnLst/>
              <a:rect r="r" b="b" t="t" l="l"/>
              <a:pathLst>
                <a:path h="725170" w="2998978">
                  <a:moveTo>
                    <a:pt x="0" y="362585"/>
                  </a:moveTo>
                  <a:cubicBezTo>
                    <a:pt x="0" y="162306"/>
                    <a:pt x="162306" y="0"/>
                    <a:pt x="362585" y="0"/>
                  </a:cubicBezTo>
                  <a:lnTo>
                    <a:pt x="2636393" y="0"/>
                  </a:lnTo>
                  <a:cubicBezTo>
                    <a:pt x="2836672" y="0"/>
                    <a:pt x="2998978" y="162306"/>
                    <a:pt x="2998978" y="362585"/>
                  </a:cubicBezTo>
                  <a:cubicBezTo>
                    <a:pt x="2998978" y="562864"/>
                    <a:pt x="2836672" y="725170"/>
                    <a:pt x="2636393" y="725170"/>
                  </a:cubicBezTo>
                  <a:lnTo>
                    <a:pt x="362585" y="725170"/>
                  </a:lnTo>
                  <a:cubicBezTo>
                    <a:pt x="162306" y="725043"/>
                    <a:pt x="0" y="562737"/>
                    <a:pt x="0" y="362585"/>
                  </a:cubicBezTo>
                  <a:close/>
                </a:path>
              </a:pathLst>
            </a:custGeom>
            <a:solidFill>
              <a:srgbClr val="371704"/>
            </a:soli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998889" cy="753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Signed webhooks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617826" y="3029074"/>
            <a:ext cx="2249167" cy="543811"/>
            <a:chOff x="0" y="0"/>
            <a:chExt cx="2998889" cy="7250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98978" cy="725170"/>
            </a:xfrm>
            <a:custGeom>
              <a:avLst/>
              <a:gdLst/>
              <a:ahLst/>
              <a:cxnLst/>
              <a:rect r="r" b="b" t="t" l="l"/>
              <a:pathLst>
                <a:path h="725170" w="2998978">
                  <a:moveTo>
                    <a:pt x="0" y="362585"/>
                  </a:moveTo>
                  <a:cubicBezTo>
                    <a:pt x="0" y="162306"/>
                    <a:pt x="162306" y="0"/>
                    <a:pt x="362585" y="0"/>
                  </a:cubicBezTo>
                  <a:lnTo>
                    <a:pt x="2636393" y="0"/>
                  </a:lnTo>
                  <a:cubicBezTo>
                    <a:pt x="2836672" y="0"/>
                    <a:pt x="2998978" y="162306"/>
                    <a:pt x="2998978" y="362585"/>
                  </a:cubicBezTo>
                  <a:cubicBezTo>
                    <a:pt x="2998978" y="562864"/>
                    <a:pt x="2836672" y="725170"/>
                    <a:pt x="2636393" y="725170"/>
                  </a:cubicBezTo>
                  <a:lnTo>
                    <a:pt x="362585" y="725170"/>
                  </a:lnTo>
                  <a:cubicBezTo>
                    <a:pt x="162306" y="725043"/>
                    <a:pt x="0" y="562737"/>
                    <a:pt x="0" y="362585"/>
                  </a:cubicBezTo>
                  <a:close/>
                </a:path>
              </a:pathLst>
            </a:custGeom>
            <a:solidFill>
              <a:srgbClr val="371704"/>
            </a:soli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998889" cy="753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SSRF-safe fetch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10263" y="3827783"/>
            <a:ext cx="2585723" cy="2265683"/>
            <a:chOff x="0" y="0"/>
            <a:chExt cx="3447631" cy="30209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47542" cy="3020822"/>
            </a:xfrm>
            <a:custGeom>
              <a:avLst/>
              <a:gdLst/>
              <a:ahLst/>
              <a:cxnLst/>
              <a:rect r="r" b="b" t="t" l="l"/>
              <a:pathLst>
                <a:path h="3020822" w="3447542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62630" y="0"/>
                  </a:lnTo>
                  <a:cubicBezTo>
                    <a:pt x="3364738" y="0"/>
                    <a:pt x="3447542" y="82804"/>
                    <a:pt x="3447542" y="184912"/>
                  </a:cubicBezTo>
                  <a:lnTo>
                    <a:pt x="3447542" y="2835910"/>
                  </a:lnTo>
                  <a:cubicBezTo>
                    <a:pt x="3447542" y="2938018"/>
                    <a:pt x="3364738" y="3020822"/>
                    <a:pt x="3262630" y="3020822"/>
                  </a:cubicBezTo>
                  <a:lnTo>
                    <a:pt x="184912" y="3020822"/>
                  </a:lnTo>
                  <a:cubicBezTo>
                    <a:pt x="82804" y="3020949"/>
                    <a:pt x="0" y="2938145"/>
                    <a:pt x="0" y="283591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72590" y="4004310"/>
            <a:ext cx="861060" cy="861060"/>
            <a:chOff x="0" y="0"/>
            <a:chExt cx="1148080" cy="1148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480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1148080">
                  <a:moveTo>
                    <a:pt x="0" y="574040"/>
                  </a:moveTo>
                  <a:cubicBezTo>
                    <a:pt x="0" y="257048"/>
                    <a:pt x="257048" y="0"/>
                    <a:pt x="574040" y="0"/>
                  </a:cubicBezTo>
                  <a:cubicBezTo>
                    <a:pt x="891032" y="0"/>
                    <a:pt x="1148080" y="257048"/>
                    <a:pt x="1148080" y="574040"/>
                  </a:cubicBezTo>
                  <a:cubicBezTo>
                    <a:pt x="1148080" y="891032"/>
                    <a:pt x="891032" y="1148080"/>
                    <a:pt x="574040" y="1148080"/>
                  </a:cubicBezTo>
                  <a:cubicBezTo>
                    <a:pt x="257048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97380" y="4229100"/>
            <a:ext cx="411480" cy="411480"/>
            <a:chOff x="0" y="0"/>
            <a:chExt cx="548640" cy="548640"/>
          </a:xfrm>
        </p:grpSpPr>
        <p:sp>
          <p:nvSpPr>
            <p:cNvPr name="Freeform 60" id="60" descr="FaFilter_y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904875" y="3922395"/>
            <a:ext cx="403098" cy="403098"/>
            <a:chOff x="0" y="0"/>
            <a:chExt cx="537464" cy="5374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D54A"/>
            </a:solidFill>
            <a:ln w="1905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37464" cy="5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4937760"/>
            <a:ext cx="2377440" cy="411480"/>
            <a:chOff x="0" y="0"/>
            <a:chExt cx="316992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69919" cy="548640"/>
            </a:xfrm>
            <a:custGeom>
              <a:avLst/>
              <a:gdLst/>
              <a:ahLst/>
              <a:cxnLst/>
              <a:rect r="r" b="b" t="t" l="l"/>
              <a:pathLst>
                <a:path h="548640" w="3169919">
                  <a:moveTo>
                    <a:pt x="0" y="0"/>
                  </a:moveTo>
                  <a:lnTo>
                    <a:pt x="3169919" y="0"/>
                  </a:lnTo>
                  <a:lnTo>
                    <a:pt x="316991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580" r="0" b="-6258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3169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Extractor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0120" y="5348097"/>
            <a:ext cx="2286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E8CDA8"/>
                </a:solidFill>
                <a:latin typeface="Calibri (MS)"/>
                <a:ea typeface="Calibri (MS)"/>
                <a:cs typeface="Calibri (MS)"/>
                <a:sym typeface="Calibri (MS)"/>
              </a:rPr>
              <a:t>Verbatim source quotes. SSRF-safe fetch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3383280" y="4754880"/>
            <a:ext cx="256032" cy="320040"/>
            <a:chOff x="0" y="0"/>
            <a:chExt cx="341376" cy="426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1376" cy="426720"/>
            </a:xfrm>
            <a:custGeom>
              <a:avLst/>
              <a:gdLst/>
              <a:ahLst/>
              <a:cxnLst/>
              <a:rect r="r" b="b" t="t" l="l"/>
              <a:pathLst>
                <a:path h="426720" w="341376">
                  <a:moveTo>
                    <a:pt x="0" y="106680"/>
                  </a:moveTo>
                  <a:lnTo>
                    <a:pt x="170688" y="106680"/>
                  </a:lnTo>
                  <a:lnTo>
                    <a:pt x="170688" y="0"/>
                  </a:lnTo>
                  <a:lnTo>
                    <a:pt x="341376" y="213360"/>
                  </a:lnTo>
                  <a:lnTo>
                    <a:pt x="170688" y="426720"/>
                  </a:lnTo>
                  <a:lnTo>
                    <a:pt x="170688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3626615" y="3827783"/>
            <a:ext cx="2585723" cy="2265683"/>
            <a:chOff x="0" y="0"/>
            <a:chExt cx="3447631" cy="30209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47542" cy="3020822"/>
            </a:xfrm>
            <a:custGeom>
              <a:avLst/>
              <a:gdLst/>
              <a:ahLst/>
              <a:cxnLst/>
              <a:rect r="r" b="b" t="t" l="l"/>
              <a:pathLst>
                <a:path h="3020822" w="3447542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62630" y="0"/>
                  </a:lnTo>
                  <a:cubicBezTo>
                    <a:pt x="3364738" y="0"/>
                    <a:pt x="3447542" y="82804"/>
                    <a:pt x="3447542" y="184912"/>
                  </a:cubicBezTo>
                  <a:lnTo>
                    <a:pt x="3447542" y="2835910"/>
                  </a:lnTo>
                  <a:cubicBezTo>
                    <a:pt x="3447542" y="2938018"/>
                    <a:pt x="3364738" y="3020822"/>
                    <a:pt x="3262630" y="3020822"/>
                  </a:cubicBezTo>
                  <a:lnTo>
                    <a:pt x="184912" y="3020822"/>
                  </a:lnTo>
                  <a:cubicBezTo>
                    <a:pt x="82804" y="3020949"/>
                    <a:pt x="0" y="2938145"/>
                    <a:pt x="0" y="283591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4488942" y="4004310"/>
            <a:ext cx="861060" cy="861060"/>
            <a:chOff x="0" y="0"/>
            <a:chExt cx="1148080" cy="1148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480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1148080">
                  <a:moveTo>
                    <a:pt x="0" y="574040"/>
                  </a:moveTo>
                  <a:cubicBezTo>
                    <a:pt x="0" y="257048"/>
                    <a:pt x="257048" y="0"/>
                    <a:pt x="574040" y="0"/>
                  </a:cubicBezTo>
                  <a:cubicBezTo>
                    <a:pt x="891032" y="0"/>
                    <a:pt x="1148080" y="257048"/>
                    <a:pt x="1148080" y="574040"/>
                  </a:cubicBezTo>
                  <a:cubicBezTo>
                    <a:pt x="1148080" y="891032"/>
                    <a:pt x="891032" y="1148080"/>
                    <a:pt x="574040" y="1148080"/>
                  </a:cubicBezTo>
                  <a:cubicBezTo>
                    <a:pt x="257048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4713732" y="4229100"/>
            <a:ext cx="411480" cy="411480"/>
            <a:chOff x="0" y="0"/>
            <a:chExt cx="548640" cy="548640"/>
          </a:xfrm>
        </p:grpSpPr>
        <p:sp>
          <p:nvSpPr>
            <p:cNvPr name="Freeform 75" id="75" descr="FaCogs_y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76" id="76"/>
          <p:cNvGrpSpPr/>
          <p:nvPr/>
        </p:nvGrpSpPr>
        <p:grpSpPr>
          <a:xfrm rot="0">
            <a:off x="3721227" y="3922395"/>
            <a:ext cx="403098" cy="403098"/>
            <a:chOff x="0" y="0"/>
            <a:chExt cx="537464" cy="5374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D54A"/>
            </a:solidFill>
            <a:ln w="1905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37464" cy="5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730752" y="4937760"/>
            <a:ext cx="2377440" cy="411480"/>
            <a:chOff x="0" y="0"/>
            <a:chExt cx="316992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69919" cy="548640"/>
            </a:xfrm>
            <a:custGeom>
              <a:avLst/>
              <a:gdLst/>
              <a:ahLst/>
              <a:cxnLst/>
              <a:rect r="r" b="b" t="t" l="l"/>
              <a:pathLst>
                <a:path h="548640" w="3169919">
                  <a:moveTo>
                    <a:pt x="0" y="0"/>
                  </a:moveTo>
                  <a:lnTo>
                    <a:pt x="3169919" y="0"/>
                  </a:lnTo>
                  <a:lnTo>
                    <a:pt x="316991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580" r="0" b="-62580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3169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 Engine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3776472" y="5348097"/>
            <a:ext cx="2286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E8CDA8"/>
                </a:solidFill>
                <a:latin typeface="Calibri (MS)"/>
                <a:ea typeface="Calibri (MS)"/>
                <a:cs typeface="Calibri (MS)"/>
                <a:sym typeface="Calibri (MS)"/>
              </a:rPr>
              <a:t>Detectors + guard + provenance audit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199632" y="4754880"/>
            <a:ext cx="256032" cy="320040"/>
            <a:chOff x="0" y="0"/>
            <a:chExt cx="341376" cy="4267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41376" cy="426720"/>
            </a:xfrm>
            <a:custGeom>
              <a:avLst/>
              <a:gdLst/>
              <a:ahLst/>
              <a:cxnLst/>
              <a:rect r="r" b="b" t="t" l="l"/>
              <a:pathLst>
                <a:path h="426720" w="341376">
                  <a:moveTo>
                    <a:pt x="0" y="106680"/>
                  </a:moveTo>
                  <a:lnTo>
                    <a:pt x="170688" y="106680"/>
                  </a:lnTo>
                  <a:lnTo>
                    <a:pt x="170688" y="0"/>
                  </a:lnTo>
                  <a:lnTo>
                    <a:pt x="341376" y="213360"/>
                  </a:lnTo>
                  <a:lnTo>
                    <a:pt x="170688" y="426720"/>
                  </a:lnTo>
                  <a:lnTo>
                    <a:pt x="170688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85" id="85"/>
          <p:cNvGrpSpPr/>
          <p:nvPr/>
        </p:nvGrpSpPr>
        <p:grpSpPr>
          <a:xfrm rot="0">
            <a:off x="6436614" y="3821430"/>
            <a:ext cx="2598420" cy="2278380"/>
            <a:chOff x="0" y="0"/>
            <a:chExt cx="3464560" cy="30378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464560" cy="3037840"/>
            </a:xfrm>
            <a:custGeom>
              <a:avLst/>
              <a:gdLst/>
              <a:ahLst/>
              <a:cxnLst/>
              <a:rect r="r" b="b" t="t" l="l"/>
              <a:pathLst>
                <a:path h="3037840" w="3464560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3278632" y="0"/>
                  </a:lnTo>
                  <a:cubicBezTo>
                    <a:pt x="3381375" y="0"/>
                    <a:pt x="3464560" y="83312"/>
                    <a:pt x="3464560" y="185928"/>
                  </a:cubicBezTo>
                  <a:lnTo>
                    <a:pt x="3464560" y="2851912"/>
                  </a:lnTo>
                  <a:cubicBezTo>
                    <a:pt x="3464560" y="2954655"/>
                    <a:pt x="3381248" y="3037840"/>
                    <a:pt x="3278632" y="3037840"/>
                  </a:cubicBezTo>
                  <a:lnTo>
                    <a:pt x="185928" y="3037840"/>
                  </a:lnTo>
                  <a:cubicBezTo>
                    <a:pt x="83312" y="3037840"/>
                    <a:pt x="0" y="2954528"/>
                    <a:pt x="0" y="2851912"/>
                  </a:cubicBezTo>
                  <a:close/>
                </a:path>
              </a:pathLst>
            </a:custGeom>
            <a:solidFill>
              <a:srgbClr val="E9B949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7" id="87"/>
          <p:cNvGrpSpPr/>
          <p:nvPr/>
        </p:nvGrpSpPr>
        <p:grpSpPr>
          <a:xfrm rot="0">
            <a:off x="7305294" y="4004310"/>
            <a:ext cx="861060" cy="861060"/>
            <a:chOff x="0" y="0"/>
            <a:chExt cx="1148080" cy="11480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480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1148080">
                  <a:moveTo>
                    <a:pt x="0" y="574040"/>
                  </a:moveTo>
                  <a:cubicBezTo>
                    <a:pt x="0" y="257048"/>
                    <a:pt x="257048" y="0"/>
                    <a:pt x="574040" y="0"/>
                  </a:cubicBezTo>
                  <a:cubicBezTo>
                    <a:pt x="891032" y="0"/>
                    <a:pt x="1148080" y="257048"/>
                    <a:pt x="1148080" y="574040"/>
                  </a:cubicBezTo>
                  <a:cubicBezTo>
                    <a:pt x="1148080" y="891032"/>
                    <a:pt x="891032" y="1148080"/>
                    <a:pt x="574040" y="1148080"/>
                  </a:cubicBezTo>
                  <a:cubicBezTo>
                    <a:pt x="257048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371704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7530084" y="4229100"/>
            <a:ext cx="411480" cy="411480"/>
            <a:chOff x="0" y="0"/>
            <a:chExt cx="548640" cy="548640"/>
          </a:xfrm>
        </p:grpSpPr>
        <p:sp>
          <p:nvSpPr>
            <p:cNvPr name="Freeform 90" id="90" descr="FaRobot_y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6537579" y="3922395"/>
            <a:ext cx="403098" cy="403098"/>
            <a:chOff x="0" y="0"/>
            <a:chExt cx="537464" cy="5374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D54A"/>
            </a:solidFill>
            <a:ln w="1905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537464" cy="5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547104" y="4937760"/>
            <a:ext cx="2377440" cy="411480"/>
            <a:chOff x="0" y="0"/>
            <a:chExt cx="316992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169919" cy="548640"/>
            </a:xfrm>
            <a:custGeom>
              <a:avLst/>
              <a:gdLst/>
              <a:ahLst/>
              <a:cxnLst/>
              <a:rect r="r" b="b" t="t" l="l"/>
              <a:pathLst>
                <a:path h="548640" w="3169919">
                  <a:moveTo>
                    <a:pt x="0" y="0"/>
                  </a:moveTo>
                  <a:lnTo>
                    <a:pt x="3169919" y="0"/>
                  </a:lnTo>
                  <a:lnTo>
                    <a:pt x="316991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580" r="0" b="-62580"/>
              </a:stretch>
            </a:blipFill>
          </p:spPr>
          <p:txBody>
            <a:bodyPr/>
            <a:p/>
          </p:txBody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3169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Verifier</a:t>
              </a: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6592824" y="5348097"/>
            <a:ext cx="2286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371704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Confirms or rejects only. Temp 0, cached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9015984" y="4754880"/>
            <a:ext cx="256032" cy="320040"/>
            <a:chOff x="0" y="0"/>
            <a:chExt cx="341376" cy="4267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41376" cy="426720"/>
            </a:xfrm>
            <a:custGeom>
              <a:avLst/>
              <a:gdLst/>
              <a:ahLst/>
              <a:cxnLst/>
              <a:rect r="r" b="b" t="t" l="l"/>
              <a:pathLst>
                <a:path h="426720" w="341376">
                  <a:moveTo>
                    <a:pt x="0" y="106680"/>
                  </a:moveTo>
                  <a:lnTo>
                    <a:pt x="170688" y="106680"/>
                  </a:lnTo>
                  <a:lnTo>
                    <a:pt x="170688" y="0"/>
                  </a:lnTo>
                  <a:lnTo>
                    <a:pt x="341376" y="213360"/>
                  </a:lnTo>
                  <a:lnTo>
                    <a:pt x="170688" y="426720"/>
                  </a:lnTo>
                  <a:lnTo>
                    <a:pt x="170688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259319" y="3827783"/>
            <a:ext cx="2585723" cy="2265683"/>
            <a:chOff x="0" y="0"/>
            <a:chExt cx="3447631" cy="30209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447542" cy="3020822"/>
            </a:xfrm>
            <a:custGeom>
              <a:avLst/>
              <a:gdLst/>
              <a:ahLst/>
              <a:cxnLst/>
              <a:rect r="r" b="b" t="t" l="l"/>
              <a:pathLst>
                <a:path h="3020822" w="3447542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62630" y="0"/>
                  </a:lnTo>
                  <a:cubicBezTo>
                    <a:pt x="3364738" y="0"/>
                    <a:pt x="3447542" y="82804"/>
                    <a:pt x="3447542" y="184912"/>
                  </a:cubicBezTo>
                  <a:lnTo>
                    <a:pt x="3447542" y="2835910"/>
                  </a:lnTo>
                  <a:cubicBezTo>
                    <a:pt x="3447542" y="2938018"/>
                    <a:pt x="3364738" y="3020822"/>
                    <a:pt x="3262630" y="3020822"/>
                  </a:cubicBezTo>
                  <a:lnTo>
                    <a:pt x="184912" y="3020822"/>
                  </a:lnTo>
                  <a:cubicBezTo>
                    <a:pt x="82804" y="3020949"/>
                    <a:pt x="0" y="2938145"/>
                    <a:pt x="0" y="283591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121646" y="4004310"/>
            <a:ext cx="861060" cy="861060"/>
            <a:chOff x="0" y="0"/>
            <a:chExt cx="1148080" cy="11480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480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1148080">
                  <a:moveTo>
                    <a:pt x="0" y="574040"/>
                  </a:moveTo>
                  <a:cubicBezTo>
                    <a:pt x="0" y="257048"/>
                    <a:pt x="257048" y="0"/>
                    <a:pt x="574040" y="0"/>
                  </a:cubicBezTo>
                  <a:cubicBezTo>
                    <a:pt x="891032" y="0"/>
                    <a:pt x="1148080" y="257048"/>
                    <a:pt x="1148080" y="574040"/>
                  </a:cubicBezTo>
                  <a:cubicBezTo>
                    <a:pt x="1148080" y="891032"/>
                    <a:pt x="891032" y="1148080"/>
                    <a:pt x="574040" y="1148080"/>
                  </a:cubicBezTo>
                  <a:cubicBezTo>
                    <a:pt x="257048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346436" y="4229100"/>
            <a:ext cx="411480" cy="411480"/>
            <a:chOff x="0" y="0"/>
            <a:chExt cx="548640" cy="548640"/>
          </a:xfrm>
        </p:grpSpPr>
        <p:sp>
          <p:nvSpPr>
            <p:cNvPr name="Freeform 105" id="105" descr="FaBalanceScale_y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353931" y="3922395"/>
            <a:ext cx="403098" cy="403098"/>
            <a:chOff x="0" y="0"/>
            <a:chExt cx="537464" cy="5374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D54A"/>
            </a:solidFill>
            <a:ln w="1905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537464" cy="5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363456" y="4937760"/>
            <a:ext cx="2377440" cy="411480"/>
            <a:chOff x="0" y="0"/>
            <a:chExt cx="316992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169919" cy="548640"/>
            </a:xfrm>
            <a:custGeom>
              <a:avLst/>
              <a:gdLst/>
              <a:ahLst/>
              <a:cxnLst/>
              <a:rect r="r" b="b" t="t" l="l"/>
              <a:pathLst>
                <a:path h="548640" w="3169919">
                  <a:moveTo>
                    <a:pt x="0" y="0"/>
                  </a:moveTo>
                  <a:lnTo>
                    <a:pt x="3169919" y="0"/>
                  </a:lnTo>
                  <a:lnTo>
                    <a:pt x="316991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580" r="0" b="-62580"/>
              </a:stretch>
            </a:blipFill>
          </p:spPr>
          <p:txBody>
            <a:bodyPr/>
            <a:p/>
          </p:txBody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3169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Assessment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9409176" y="5348097"/>
            <a:ext cx="2286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E8CDA8"/>
                </a:solidFill>
                <a:latin typeface="Calibri (MS)"/>
                <a:ea typeface="Calibri (MS)"/>
                <a:cs typeface="Calibri (MS)"/>
                <a:sym typeface="Calibri (MS)"/>
              </a:rPr>
              <a:t>Rule-based. Only writer of status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1832336" y="4754880"/>
            <a:ext cx="256032" cy="320040"/>
            <a:chOff x="0" y="0"/>
            <a:chExt cx="341376" cy="4267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41376" cy="426720"/>
            </a:xfrm>
            <a:custGeom>
              <a:avLst/>
              <a:gdLst/>
              <a:ahLst/>
              <a:cxnLst/>
              <a:rect r="r" b="b" t="t" l="l"/>
              <a:pathLst>
                <a:path h="426720" w="341376">
                  <a:moveTo>
                    <a:pt x="0" y="106680"/>
                  </a:moveTo>
                  <a:lnTo>
                    <a:pt x="170688" y="106680"/>
                  </a:lnTo>
                  <a:lnTo>
                    <a:pt x="170688" y="0"/>
                  </a:lnTo>
                  <a:lnTo>
                    <a:pt x="341376" y="213360"/>
                  </a:lnTo>
                  <a:lnTo>
                    <a:pt x="170688" y="426720"/>
                  </a:lnTo>
                  <a:lnTo>
                    <a:pt x="170688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075671" y="3827783"/>
            <a:ext cx="2585723" cy="2265683"/>
            <a:chOff x="0" y="0"/>
            <a:chExt cx="3447631" cy="302091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447542" cy="3020822"/>
            </a:xfrm>
            <a:custGeom>
              <a:avLst/>
              <a:gdLst/>
              <a:ahLst/>
              <a:cxnLst/>
              <a:rect r="r" b="b" t="t" l="l"/>
              <a:pathLst>
                <a:path h="3020822" w="3447542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62630" y="0"/>
                  </a:lnTo>
                  <a:cubicBezTo>
                    <a:pt x="3364738" y="0"/>
                    <a:pt x="3447542" y="82804"/>
                    <a:pt x="3447542" y="184912"/>
                  </a:cubicBezTo>
                  <a:lnTo>
                    <a:pt x="3447542" y="2835910"/>
                  </a:lnTo>
                  <a:cubicBezTo>
                    <a:pt x="3447542" y="2938018"/>
                    <a:pt x="3364738" y="3020822"/>
                    <a:pt x="3262630" y="3020822"/>
                  </a:cubicBezTo>
                  <a:lnTo>
                    <a:pt x="184912" y="3020822"/>
                  </a:lnTo>
                  <a:cubicBezTo>
                    <a:pt x="82804" y="3020949"/>
                    <a:pt x="0" y="2938145"/>
                    <a:pt x="0" y="283591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937998" y="4004310"/>
            <a:ext cx="861060" cy="861060"/>
            <a:chOff x="0" y="0"/>
            <a:chExt cx="1148080" cy="11480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480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1148080">
                  <a:moveTo>
                    <a:pt x="0" y="574040"/>
                  </a:moveTo>
                  <a:cubicBezTo>
                    <a:pt x="0" y="257048"/>
                    <a:pt x="257048" y="0"/>
                    <a:pt x="574040" y="0"/>
                  </a:cubicBezTo>
                  <a:cubicBezTo>
                    <a:pt x="891032" y="0"/>
                    <a:pt x="1148080" y="257048"/>
                    <a:pt x="1148080" y="574040"/>
                  </a:cubicBezTo>
                  <a:cubicBezTo>
                    <a:pt x="1148080" y="891032"/>
                    <a:pt x="891032" y="1148080"/>
                    <a:pt x="574040" y="1148080"/>
                  </a:cubicBezTo>
                  <a:cubicBezTo>
                    <a:pt x="257048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162788" y="4229100"/>
            <a:ext cx="411480" cy="411480"/>
            <a:chOff x="0" y="0"/>
            <a:chExt cx="548640" cy="548640"/>
          </a:xfrm>
        </p:grpSpPr>
        <p:sp>
          <p:nvSpPr>
            <p:cNvPr name="Freeform 120" id="120" descr="FaCertificate_y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170283" y="3922395"/>
            <a:ext cx="403098" cy="403098"/>
            <a:chOff x="0" y="0"/>
            <a:chExt cx="537464" cy="53746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D54A"/>
            </a:solidFill>
            <a:ln w="1905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537464" cy="5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179808" y="4937760"/>
            <a:ext cx="2377440" cy="411480"/>
            <a:chOff x="0" y="0"/>
            <a:chExt cx="3169920" cy="5486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169919" cy="548640"/>
            </a:xfrm>
            <a:custGeom>
              <a:avLst/>
              <a:gdLst/>
              <a:ahLst/>
              <a:cxnLst/>
              <a:rect r="r" b="b" t="t" l="l"/>
              <a:pathLst>
                <a:path h="548640" w="3169919">
                  <a:moveTo>
                    <a:pt x="0" y="0"/>
                  </a:moveTo>
                  <a:lnTo>
                    <a:pt x="3169919" y="0"/>
                  </a:lnTo>
                  <a:lnTo>
                    <a:pt x="316991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580" r="0" b="-62580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3169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Signed Snapshot</a:t>
              </a: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12225528" y="5348097"/>
            <a:ext cx="2286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E8CDA8"/>
                </a:solidFill>
                <a:latin typeface="Calibri (MS)"/>
                <a:ea typeface="Calibri (MS)"/>
                <a:cs typeface="Calibri (MS)"/>
                <a:sym typeface="Calibri (MS)"/>
              </a:rPr>
              <a:t>SHA-256 chain, Ed25519-signed head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4648688" y="4754880"/>
            <a:ext cx="256032" cy="320040"/>
            <a:chOff x="0" y="0"/>
            <a:chExt cx="341376" cy="4267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41376" cy="426720"/>
            </a:xfrm>
            <a:custGeom>
              <a:avLst/>
              <a:gdLst/>
              <a:ahLst/>
              <a:cxnLst/>
              <a:rect r="r" b="b" t="t" l="l"/>
              <a:pathLst>
                <a:path h="426720" w="341376">
                  <a:moveTo>
                    <a:pt x="0" y="106680"/>
                  </a:moveTo>
                  <a:lnTo>
                    <a:pt x="170688" y="106680"/>
                  </a:lnTo>
                  <a:lnTo>
                    <a:pt x="170688" y="0"/>
                  </a:lnTo>
                  <a:lnTo>
                    <a:pt x="341376" y="213360"/>
                  </a:lnTo>
                  <a:lnTo>
                    <a:pt x="170688" y="426720"/>
                  </a:lnTo>
                  <a:lnTo>
                    <a:pt x="170688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4892023" y="3827783"/>
            <a:ext cx="2585723" cy="2265683"/>
            <a:chOff x="0" y="0"/>
            <a:chExt cx="3447631" cy="302091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447542" cy="3020822"/>
            </a:xfrm>
            <a:custGeom>
              <a:avLst/>
              <a:gdLst/>
              <a:ahLst/>
              <a:cxnLst/>
              <a:rect r="r" b="b" t="t" l="l"/>
              <a:pathLst>
                <a:path h="3020822" w="3447542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262630" y="0"/>
                  </a:lnTo>
                  <a:cubicBezTo>
                    <a:pt x="3364738" y="0"/>
                    <a:pt x="3447542" y="82804"/>
                    <a:pt x="3447542" y="184912"/>
                  </a:cubicBezTo>
                  <a:lnTo>
                    <a:pt x="3447542" y="2835910"/>
                  </a:lnTo>
                  <a:cubicBezTo>
                    <a:pt x="3447542" y="2938018"/>
                    <a:pt x="3364738" y="3020822"/>
                    <a:pt x="3262630" y="3020822"/>
                  </a:cubicBezTo>
                  <a:lnTo>
                    <a:pt x="184912" y="3020822"/>
                  </a:lnTo>
                  <a:cubicBezTo>
                    <a:pt x="82804" y="3020949"/>
                    <a:pt x="0" y="2938145"/>
                    <a:pt x="0" y="283591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5754350" y="4004310"/>
            <a:ext cx="861060" cy="861060"/>
            <a:chOff x="0" y="0"/>
            <a:chExt cx="1148080" cy="114808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148080" cy="1148080"/>
            </a:xfrm>
            <a:custGeom>
              <a:avLst/>
              <a:gdLst/>
              <a:ahLst/>
              <a:cxnLst/>
              <a:rect r="r" b="b" t="t" l="l"/>
              <a:pathLst>
                <a:path h="1148080" w="1148080">
                  <a:moveTo>
                    <a:pt x="0" y="574040"/>
                  </a:moveTo>
                  <a:cubicBezTo>
                    <a:pt x="0" y="257048"/>
                    <a:pt x="257048" y="0"/>
                    <a:pt x="574040" y="0"/>
                  </a:cubicBezTo>
                  <a:cubicBezTo>
                    <a:pt x="891032" y="0"/>
                    <a:pt x="1148080" y="257048"/>
                    <a:pt x="1148080" y="574040"/>
                  </a:cubicBezTo>
                  <a:cubicBezTo>
                    <a:pt x="1148080" y="891032"/>
                    <a:pt x="891032" y="1148080"/>
                    <a:pt x="574040" y="1148080"/>
                  </a:cubicBezTo>
                  <a:cubicBezTo>
                    <a:pt x="257048" y="1148080"/>
                    <a:pt x="0" y="891032"/>
                    <a:pt x="0" y="57404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979140" y="4229100"/>
            <a:ext cx="411480" cy="411480"/>
            <a:chOff x="0" y="0"/>
            <a:chExt cx="548640" cy="548640"/>
          </a:xfrm>
        </p:grpSpPr>
        <p:sp>
          <p:nvSpPr>
            <p:cNvPr name="Freeform 135" id="135" descr="FaTachometerAlt_y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4986635" y="3922395"/>
            <a:ext cx="403098" cy="403098"/>
            <a:chOff x="0" y="0"/>
            <a:chExt cx="537464" cy="53746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D54A"/>
            </a:solidFill>
            <a:ln w="19050" cap="sq">
              <a:solidFill>
                <a:srgbClr val="371704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537464" cy="5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996160" y="4937760"/>
            <a:ext cx="2377440" cy="411480"/>
            <a:chOff x="0" y="0"/>
            <a:chExt cx="3169920" cy="5486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169919" cy="548640"/>
            </a:xfrm>
            <a:custGeom>
              <a:avLst/>
              <a:gdLst/>
              <a:ahLst/>
              <a:cxnLst/>
              <a:rect r="r" b="b" t="t" l="l"/>
              <a:pathLst>
                <a:path h="548640" w="3169919">
                  <a:moveTo>
                    <a:pt x="0" y="0"/>
                  </a:moveTo>
                  <a:lnTo>
                    <a:pt x="3169919" y="0"/>
                  </a:lnTo>
                  <a:lnTo>
                    <a:pt x="316991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580" r="0" b="-62580"/>
              </a:stretch>
            </a:blipFill>
          </p:spPr>
          <p:txBody>
            <a:bodyPr/>
            <a:p/>
          </p:txBody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31699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Outputs</a:t>
              </a:r>
            </a:p>
          </p:txBody>
        </p:sp>
      </p:grpSp>
      <p:sp>
        <p:nvSpPr>
          <p:cNvPr name="TextBox 142" id="142"/>
          <p:cNvSpPr txBox="true"/>
          <p:nvPr/>
        </p:nvSpPr>
        <p:spPr>
          <a:xfrm rot="0">
            <a:off x="15041880" y="5348097"/>
            <a:ext cx="2286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t>Proof map, Google XYZ Studio, Repo Quality Tests, Agent Trace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6805546" y="3623434"/>
            <a:ext cx="1860547" cy="415795"/>
            <a:chOff x="0" y="0"/>
            <a:chExt cx="2480729" cy="554393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480818" cy="554482"/>
            </a:xfrm>
            <a:custGeom>
              <a:avLst/>
              <a:gdLst/>
              <a:ahLst/>
              <a:cxnLst/>
              <a:rect r="r" b="b" t="t" l="l"/>
              <a:pathLst>
                <a:path h="554482" w="2480818">
                  <a:moveTo>
                    <a:pt x="0" y="277241"/>
                  </a:moveTo>
                  <a:cubicBezTo>
                    <a:pt x="0" y="124079"/>
                    <a:pt x="124079" y="0"/>
                    <a:pt x="277241" y="0"/>
                  </a:cubicBezTo>
                  <a:lnTo>
                    <a:pt x="2203577" y="0"/>
                  </a:lnTo>
                  <a:cubicBezTo>
                    <a:pt x="2356612" y="0"/>
                    <a:pt x="2480818" y="124079"/>
                    <a:pt x="2480818" y="277241"/>
                  </a:cubicBezTo>
                  <a:cubicBezTo>
                    <a:pt x="2480818" y="430403"/>
                    <a:pt x="2356739" y="554482"/>
                    <a:pt x="2203577" y="554482"/>
                  </a:cubicBezTo>
                  <a:lnTo>
                    <a:pt x="277241" y="554482"/>
                  </a:lnTo>
                  <a:cubicBezTo>
                    <a:pt x="124079" y="554355"/>
                    <a:pt x="0" y="430276"/>
                    <a:pt x="0" y="277241"/>
                  </a:cubicBezTo>
                  <a:close/>
                </a:path>
              </a:pathLst>
            </a:custGeom>
            <a:solidFill>
              <a:srgbClr val="371704"/>
            </a:soli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2480729" cy="582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FD5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only LLM step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803910" y="6564630"/>
            <a:ext cx="6256020" cy="1866900"/>
            <a:chOff x="0" y="0"/>
            <a:chExt cx="8341360" cy="24892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8341360" cy="2489200"/>
            </a:xfrm>
            <a:custGeom>
              <a:avLst/>
              <a:gdLst/>
              <a:ahLst/>
              <a:cxnLst/>
              <a:rect r="r" b="b" t="t" l="l"/>
              <a:pathLst>
                <a:path h="2489200" w="8341360">
                  <a:moveTo>
                    <a:pt x="0" y="186690"/>
                  </a:moveTo>
                  <a:cubicBezTo>
                    <a:pt x="0" y="83566"/>
                    <a:pt x="83566" y="0"/>
                    <a:pt x="186690" y="0"/>
                  </a:cubicBezTo>
                  <a:lnTo>
                    <a:pt x="8154670" y="0"/>
                  </a:lnTo>
                  <a:cubicBezTo>
                    <a:pt x="8257794" y="0"/>
                    <a:pt x="8341360" y="83566"/>
                    <a:pt x="8341360" y="186690"/>
                  </a:cubicBezTo>
                  <a:lnTo>
                    <a:pt x="8341360" y="2302510"/>
                  </a:lnTo>
                  <a:cubicBezTo>
                    <a:pt x="8341360" y="2405634"/>
                    <a:pt x="8257794" y="2489200"/>
                    <a:pt x="8154670" y="2489200"/>
                  </a:cubicBezTo>
                  <a:lnTo>
                    <a:pt x="186690" y="2489200"/>
                  </a:lnTo>
                  <a:cubicBezTo>
                    <a:pt x="83566" y="2489200"/>
                    <a:pt x="0" y="2405634"/>
                    <a:pt x="0" y="2302510"/>
                  </a:cubicBezTo>
                  <a:close/>
                </a:path>
              </a:pathLst>
            </a:custGeom>
            <a:solidFill>
              <a:srgbClr val="FBE6E2"/>
            </a:solidFill>
            <a:ln w="38100" cap="sq">
              <a:solidFill>
                <a:srgbClr val="B22F2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097280" y="6355080"/>
            <a:ext cx="4023360" cy="438912"/>
            <a:chOff x="0" y="0"/>
            <a:chExt cx="5364480" cy="58521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5071872" y="0"/>
                  </a:lnTo>
                  <a:cubicBezTo>
                    <a:pt x="5233416" y="0"/>
                    <a:pt x="5364480" y="131064"/>
                    <a:pt x="5364480" y="292608"/>
                  </a:cubicBezTo>
                  <a:cubicBezTo>
                    <a:pt x="5364480" y="454152"/>
                    <a:pt x="5233416" y="585216"/>
                    <a:pt x="507187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B22F25"/>
            </a:solidFill>
          </p:spPr>
          <p:txBody>
            <a:bodyPr/>
            <a:p/>
          </p:txBody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5364480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HOLLOW EVIDENCE → REFUSED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097280" y="7059168"/>
            <a:ext cx="365760" cy="365760"/>
            <a:chOff x="0" y="0"/>
            <a:chExt cx="487680" cy="487680"/>
          </a:xfrm>
        </p:grpSpPr>
        <p:sp>
          <p:nvSpPr>
            <p:cNvPr name="Freeform 152" id="152" descr="FaTimesCircle_r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691640" y="7031736"/>
            <a:ext cx="5212080" cy="420624"/>
            <a:chOff x="0" y="0"/>
            <a:chExt cx="6949440" cy="560832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6949440" cy="560832"/>
            </a:xfrm>
            <a:custGeom>
              <a:avLst/>
              <a:gdLst/>
              <a:ahLst/>
              <a:cxnLst/>
              <a:rect r="r" b="b" t="t" l="l"/>
              <a:pathLst>
                <a:path h="5608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1445" r="0" b="-191445"/>
              </a:stretch>
            </a:blipFill>
          </p:spPr>
          <p:txBody>
            <a:bodyPr/>
            <a:p/>
          </p:txBody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694944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7170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Empty test, assert True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097280" y="7498080"/>
            <a:ext cx="365760" cy="365760"/>
            <a:chOff x="0" y="0"/>
            <a:chExt cx="487680" cy="487680"/>
          </a:xfrm>
        </p:grpSpPr>
        <p:sp>
          <p:nvSpPr>
            <p:cNvPr name="Freeform 157" id="157" descr="FaTimesCircle_r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691640" y="7470648"/>
            <a:ext cx="5212080" cy="420624"/>
            <a:chOff x="0" y="0"/>
            <a:chExt cx="6949440" cy="56083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949440" cy="560832"/>
            </a:xfrm>
            <a:custGeom>
              <a:avLst/>
              <a:gdLst/>
              <a:ahLst/>
              <a:cxnLst/>
              <a:rect r="r" b="b" t="t" l="l"/>
              <a:pathLst>
                <a:path h="5608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1445" r="0" b="-191445"/>
              </a:stretch>
            </a:blipFill>
          </p:spPr>
          <p:txBody>
            <a:bodyPr/>
            <a:p/>
          </p:txBody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694944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7170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Dependency never imported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097280" y="7936992"/>
            <a:ext cx="365760" cy="365760"/>
            <a:chOff x="0" y="0"/>
            <a:chExt cx="487680" cy="487680"/>
          </a:xfrm>
        </p:grpSpPr>
        <p:sp>
          <p:nvSpPr>
            <p:cNvPr name="Freeform 162" id="162" descr="FaTimesCircle_r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691640" y="7909560"/>
            <a:ext cx="5212080" cy="420624"/>
            <a:chOff x="0" y="0"/>
            <a:chExt cx="6949440" cy="56083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949440" cy="560832"/>
            </a:xfrm>
            <a:custGeom>
              <a:avLst/>
              <a:gdLst/>
              <a:ahLst/>
              <a:cxnLst/>
              <a:rect r="r" b="b" t="t" l="l"/>
              <a:pathLst>
                <a:path h="5608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1445" r="0" b="-191445"/>
              </a:stretch>
            </a:blipFill>
          </p:spPr>
          <p:txBody>
            <a:bodyPr/>
            <a:p/>
          </p:txBody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694944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7170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only in a README fence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7086600" y="7315200"/>
            <a:ext cx="457200" cy="365760"/>
            <a:chOff x="0" y="0"/>
            <a:chExt cx="609600" cy="48768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09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">
                  <a:moveTo>
                    <a:pt x="0" y="121920"/>
                  </a:moveTo>
                  <a:lnTo>
                    <a:pt x="365760" y="121920"/>
                  </a:lnTo>
                  <a:lnTo>
                    <a:pt x="365760" y="0"/>
                  </a:lnTo>
                  <a:lnTo>
                    <a:pt x="609600" y="243840"/>
                  </a:lnTo>
                  <a:lnTo>
                    <a:pt x="365760" y="487680"/>
                  </a:lnTo>
                  <a:lnTo>
                    <a:pt x="3657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7570470" y="6884670"/>
            <a:ext cx="1363980" cy="1363980"/>
            <a:chOff x="0" y="0"/>
            <a:chExt cx="1818640" cy="181864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818640" cy="1818640"/>
            </a:xfrm>
            <a:custGeom>
              <a:avLst/>
              <a:gdLst/>
              <a:ahLst/>
              <a:cxnLst/>
              <a:rect r="r" b="b" t="t" l="l"/>
              <a:pathLst>
                <a:path h="1818640" w="1818640">
                  <a:moveTo>
                    <a:pt x="0" y="909320"/>
                  </a:moveTo>
                  <a:cubicBezTo>
                    <a:pt x="0" y="407162"/>
                    <a:pt x="407162" y="0"/>
                    <a:pt x="909320" y="0"/>
                  </a:cubicBezTo>
                  <a:cubicBezTo>
                    <a:pt x="1411478" y="0"/>
                    <a:pt x="1818640" y="407162"/>
                    <a:pt x="1818640" y="909320"/>
                  </a:cubicBezTo>
                  <a:cubicBezTo>
                    <a:pt x="1818640" y="1411478"/>
                    <a:pt x="1411478" y="1818640"/>
                    <a:pt x="909320" y="1818640"/>
                  </a:cubicBezTo>
                  <a:cubicBezTo>
                    <a:pt x="407162" y="1818640"/>
                    <a:pt x="0" y="1411478"/>
                    <a:pt x="0" y="90932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7947508" y="7261708"/>
            <a:ext cx="609905" cy="609905"/>
            <a:chOff x="0" y="0"/>
            <a:chExt cx="813206" cy="813206"/>
          </a:xfrm>
        </p:grpSpPr>
        <p:sp>
          <p:nvSpPr>
            <p:cNvPr name="Freeform 171" id="171" descr="FaShieldAlt_y.png"/>
            <p:cNvSpPr/>
            <p:nvPr/>
          </p:nvSpPr>
          <p:spPr>
            <a:xfrm flipH="false" flipV="false" rot="0">
              <a:off x="0" y="0"/>
              <a:ext cx="813181" cy="813181"/>
            </a:xfrm>
            <a:custGeom>
              <a:avLst/>
              <a:gdLst/>
              <a:ahLst/>
              <a:cxnLst/>
              <a:rect r="r" b="b" t="t" l="l"/>
              <a:pathLst>
                <a:path h="813181" w="813181">
                  <a:moveTo>
                    <a:pt x="0" y="0"/>
                  </a:moveTo>
                  <a:lnTo>
                    <a:pt x="813181" y="0"/>
                  </a:lnTo>
                  <a:lnTo>
                    <a:pt x="813181" y="813181"/>
                  </a:lnTo>
                  <a:lnTo>
                    <a:pt x="0" y="813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3" b="-3"/>
              </a:stretch>
            </a:blipFill>
          </p:spPr>
          <p:txBody>
            <a:bodyPr/>
            <a:p/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8961120" y="7315200"/>
            <a:ext cx="457200" cy="365760"/>
            <a:chOff x="0" y="0"/>
            <a:chExt cx="609600" cy="48768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09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">
                  <a:moveTo>
                    <a:pt x="0" y="121920"/>
                  </a:moveTo>
                  <a:lnTo>
                    <a:pt x="365760" y="121920"/>
                  </a:lnTo>
                  <a:lnTo>
                    <a:pt x="365760" y="0"/>
                  </a:lnTo>
                  <a:lnTo>
                    <a:pt x="609600" y="243840"/>
                  </a:lnTo>
                  <a:lnTo>
                    <a:pt x="365760" y="487680"/>
                  </a:lnTo>
                  <a:lnTo>
                    <a:pt x="3657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sp>
        <p:nvSpPr>
          <p:cNvPr name="TextBox 174" id="174"/>
          <p:cNvSpPr txBox="true"/>
          <p:nvPr/>
        </p:nvSpPr>
        <p:spPr>
          <a:xfrm rot="0">
            <a:off x="7040880" y="8155305"/>
            <a:ext cx="246888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7320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GUARD</a:t>
            </a:r>
          </a:p>
        </p:txBody>
      </p:sp>
      <p:grpSp>
        <p:nvGrpSpPr>
          <p:cNvPr name="Group 175" id="175"/>
          <p:cNvGrpSpPr/>
          <p:nvPr/>
        </p:nvGrpSpPr>
        <p:grpSpPr>
          <a:xfrm rot="0">
            <a:off x="9444990" y="6564630"/>
            <a:ext cx="8039100" cy="1866900"/>
            <a:chOff x="0" y="0"/>
            <a:chExt cx="10718800" cy="24892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0718800" cy="2489200"/>
            </a:xfrm>
            <a:custGeom>
              <a:avLst/>
              <a:gdLst/>
              <a:ahLst/>
              <a:cxnLst/>
              <a:rect r="r" b="b" t="t" l="l"/>
              <a:pathLst>
                <a:path h="2489200" w="10718800">
                  <a:moveTo>
                    <a:pt x="0" y="186690"/>
                  </a:moveTo>
                  <a:cubicBezTo>
                    <a:pt x="0" y="83566"/>
                    <a:pt x="83566" y="0"/>
                    <a:pt x="186690" y="0"/>
                  </a:cubicBezTo>
                  <a:lnTo>
                    <a:pt x="10532110" y="0"/>
                  </a:lnTo>
                  <a:cubicBezTo>
                    <a:pt x="10635234" y="0"/>
                    <a:pt x="10718800" y="83566"/>
                    <a:pt x="10718800" y="186690"/>
                  </a:cubicBezTo>
                  <a:lnTo>
                    <a:pt x="10718800" y="2302510"/>
                  </a:lnTo>
                  <a:cubicBezTo>
                    <a:pt x="10718800" y="2405634"/>
                    <a:pt x="10635234" y="2489200"/>
                    <a:pt x="10532110" y="2489200"/>
                  </a:cubicBezTo>
                  <a:lnTo>
                    <a:pt x="186690" y="2489200"/>
                  </a:lnTo>
                  <a:cubicBezTo>
                    <a:pt x="83566" y="2489200"/>
                    <a:pt x="0" y="2405634"/>
                    <a:pt x="0" y="2302510"/>
                  </a:cubicBezTo>
                  <a:close/>
                </a:path>
              </a:pathLst>
            </a:custGeom>
            <a:solidFill>
              <a:srgbClr val="E3F2EA"/>
            </a:solidFill>
            <a:ln w="38100" cap="sq">
              <a:solidFill>
                <a:srgbClr val="1F8A5B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9738360" y="6355080"/>
            <a:ext cx="3566160" cy="438912"/>
            <a:chOff x="0" y="0"/>
            <a:chExt cx="4754880" cy="58521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462272" y="0"/>
                  </a:lnTo>
                  <a:cubicBezTo>
                    <a:pt x="4623816" y="0"/>
                    <a:pt x="4754880" y="131064"/>
                    <a:pt x="4754880" y="292608"/>
                  </a:cubicBezTo>
                  <a:cubicBezTo>
                    <a:pt x="4754880" y="454152"/>
                    <a:pt x="4623816" y="585216"/>
                    <a:pt x="446227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1F8A5B"/>
            </a:solidFill>
          </p:spPr>
          <p:txBody>
            <a:bodyPr/>
            <a:p/>
          </p:txBody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4754880" cy="623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USE → COUNTED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9738360" y="7059168"/>
            <a:ext cx="365760" cy="365760"/>
            <a:chOff x="0" y="0"/>
            <a:chExt cx="487680" cy="487680"/>
          </a:xfrm>
        </p:grpSpPr>
        <p:sp>
          <p:nvSpPr>
            <p:cNvPr name="Freeform 181" id="181" descr="FaCheckCircle_g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0332720" y="7031736"/>
            <a:ext cx="6949440" cy="420624"/>
            <a:chOff x="0" y="0"/>
            <a:chExt cx="9265920" cy="56083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265920" cy="560832"/>
            </a:xfrm>
            <a:custGeom>
              <a:avLst/>
              <a:gdLst/>
              <a:ahLst/>
              <a:cxnLst/>
              <a:rect r="r" b="b" t="t" l="l"/>
              <a:pathLst>
                <a:path h="56083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1926" r="0" b="-271926"/>
              </a:stretch>
            </a:blipFill>
          </p:spPr>
          <p:txBody>
            <a:bodyPr/>
            <a:p/>
          </p:txBody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926592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7170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Assertions that call project code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9738360" y="7498080"/>
            <a:ext cx="365760" cy="365760"/>
            <a:chOff x="0" y="0"/>
            <a:chExt cx="487680" cy="487680"/>
          </a:xfrm>
        </p:grpSpPr>
        <p:sp>
          <p:nvSpPr>
            <p:cNvPr name="Freeform 186" id="186" descr="FaCheckCircle_g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0332720" y="7470648"/>
            <a:ext cx="6949440" cy="420624"/>
            <a:chOff x="0" y="0"/>
            <a:chExt cx="9265920" cy="560832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9265920" cy="560832"/>
            </a:xfrm>
            <a:custGeom>
              <a:avLst/>
              <a:gdLst/>
              <a:ahLst/>
              <a:cxnLst/>
              <a:rect r="r" b="b" t="t" l="l"/>
              <a:pathLst>
                <a:path h="56083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1926" r="0" b="-271926"/>
              </a:stretch>
            </a:blipFill>
          </p:spPr>
          <p:txBody>
            <a:bodyPr/>
            <a:p/>
          </p:txBody>
        </p:sp>
        <p:sp>
          <p:nvSpPr>
            <p:cNvPr name="TextBox 189" id="189"/>
            <p:cNvSpPr txBox="true"/>
            <p:nvPr/>
          </p:nvSpPr>
          <p:spPr>
            <a:xfrm>
              <a:off x="0" y="-38100"/>
              <a:ext cx="926592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7170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 reachable from a route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9738360" y="7936992"/>
            <a:ext cx="365760" cy="365760"/>
            <a:chOff x="0" y="0"/>
            <a:chExt cx="487680" cy="487680"/>
          </a:xfrm>
        </p:grpSpPr>
        <p:sp>
          <p:nvSpPr>
            <p:cNvPr name="Freeform 191" id="191" descr="FaCheckCircle_g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10332720" y="7909560"/>
            <a:ext cx="6949440" cy="420624"/>
            <a:chOff x="0" y="0"/>
            <a:chExt cx="9265920" cy="560832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9265920" cy="560832"/>
            </a:xfrm>
            <a:custGeom>
              <a:avLst/>
              <a:gdLst/>
              <a:ahLst/>
              <a:cxnLst/>
              <a:rect r="r" b="b" t="t" l="l"/>
              <a:pathLst>
                <a:path h="56083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1926" r="0" b="-271926"/>
              </a:stretch>
            </a:blipFill>
          </p:spPr>
          <p:txBody>
            <a:bodyPr/>
            <a:p/>
          </p:txBody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926592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7170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Dockerfile with real build steps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807082" y="8625202"/>
            <a:ext cx="5335267" cy="900427"/>
            <a:chOff x="0" y="0"/>
            <a:chExt cx="7113689" cy="1200569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7113778" cy="1200658"/>
            </a:xfrm>
            <a:custGeom>
              <a:avLst/>
              <a:gdLst/>
              <a:ahLst/>
              <a:cxnLst/>
              <a:rect r="r" b="b" t="t" l="l"/>
              <a:pathLst>
                <a:path h="1200658" w="7113778">
                  <a:moveTo>
                    <a:pt x="0" y="189611"/>
                  </a:moveTo>
                  <a:cubicBezTo>
                    <a:pt x="0" y="84836"/>
                    <a:pt x="84836" y="0"/>
                    <a:pt x="189611" y="0"/>
                  </a:cubicBezTo>
                  <a:lnTo>
                    <a:pt x="6924167" y="0"/>
                  </a:lnTo>
                  <a:cubicBezTo>
                    <a:pt x="7028815" y="0"/>
                    <a:pt x="7113778" y="84836"/>
                    <a:pt x="7113778" y="189611"/>
                  </a:cubicBezTo>
                  <a:lnTo>
                    <a:pt x="7113778" y="1011047"/>
                  </a:lnTo>
                  <a:cubicBezTo>
                    <a:pt x="7113778" y="1115695"/>
                    <a:pt x="7028942" y="1200658"/>
                    <a:pt x="6924167" y="1200658"/>
                  </a:cubicBezTo>
                  <a:lnTo>
                    <a:pt x="189611" y="1200658"/>
                  </a:lnTo>
                  <a:cubicBezTo>
                    <a:pt x="84836" y="1200531"/>
                    <a:pt x="0" y="1115695"/>
                    <a:pt x="0" y="101104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051560" y="8641080"/>
            <a:ext cx="2011680" cy="868680"/>
            <a:chOff x="0" y="0"/>
            <a:chExt cx="2682240" cy="115824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682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403" t="0" r="-5403" b="0"/>
              </a:stretch>
            </a:blipFill>
          </p:spPr>
          <p:txBody>
            <a:bodyPr/>
            <a:p/>
          </p:txBody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268224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signal type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3063240" y="8805672"/>
            <a:ext cx="548640" cy="548640"/>
            <a:chOff x="0" y="0"/>
            <a:chExt cx="731520" cy="73152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71704"/>
            </a:solidFill>
          </p:spPr>
          <p:txBody>
            <a:bodyPr/>
            <a:p/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3194914" y="8937346"/>
            <a:ext cx="285293" cy="285293"/>
            <a:chOff x="0" y="0"/>
            <a:chExt cx="380390" cy="380390"/>
          </a:xfrm>
        </p:grpSpPr>
        <p:sp>
          <p:nvSpPr>
            <p:cNvPr name="Freeform 203" id="203" descr="FaCode_w.png"/>
            <p:cNvSpPr/>
            <p:nvPr/>
          </p:nvSpPr>
          <p:spPr>
            <a:xfrm flipH="false" flipV="false" rot="0">
              <a:off x="0" y="0"/>
              <a:ext cx="380365" cy="380365"/>
            </a:xfrm>
            <a:custGeom>
              <a:avLst/>
              <a:gdLst/>
              <a:ahLst/>
              <a:cxnLst/>
              <a:rect r="r" b="b" t="t" l="l"/>
              <a:pathLst>
                <a:path h="380365" w="380365">
                  <a:moveTo>
                    <a:pt x="0" y="0"/>
                  </a:moveTo>
                  <a:lnTo>
                    <a:pt x="380365" y="0"/>
                  </a:lnTo>
                  <a:lnTo>
                    <a:pt x="380365" y="380365"/>
                  </a:lnTo>
                  <a:lnTo>
                    <a:pt x="0" y="380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-6" b="-6"/>
              </a:stretch>
            </a:blipFill>
          </p:spPr>
          <p:txBody>
            <a:bodyPr/>
            <a:p/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4279392" y="8915400"/>
            <a:ext cx="329184" cy="310896"/>
            <a:chOff x="0" y="0"/>
            <a:chExt cx="438912" cy="414528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38912" cy="414528"/>
            </a:xfrm>
            <a:custGeom>
              <a:avLst/>
              <a:gdLst/>
              <a:ahLst/>
              <a:cxnLst/>
              <a:rect r="r" b="b" t="t" l="l"/>
              <a:pathLst>
                <a:path h="414528" w="438912">
                  <a:moveTo>
                    <a:pt x="0" y="103632"/>
                  </a:moveTo>
                  <a:lnTo>
                    <a:pt x="231648" y="103632"/>
                  </a:lnTo>
                  <a:lnTo>
                    <a:pt x="231648" y="0"/>
                  </a:lnTo>
                  <a:lnTo>
                    <a:pt x="438912" y="207264"/>
                  </a:lnTo>
                  <a:lnTo>
                    <a:pt x="231648" y="414528"/>
                  </a:lnTo>
                  <a:lnTo>
                    <a:pt x="231648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4690110" y="8804910"/>
            <a:ext cx="1318260" cy="541020"/>
            <a:chOff x="0" y="0"/>
            <a:chExt cx="1757680" cy="72136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1757680" cy="721360"/>
            </a:xfrm>
            <a:custGeom>
              <a:avLst/>
              <a:gdLst/>
              <a:ahLst/>
              <a:cxnLst/>
              <a:rect r="r" b="b" t="t" l="l"/>
              <a:pathLst>
                <a:path h="721360" w="1757680">
                  <a:moveTo>
                    <a:pt x="0" y="157353"/>
                  </a:moveTo>
                  <a:cubicBezTo>
                    <a:pt x="0" y="70485"/>
                    <a:pt x="70485" y="0"/>
                    <a:pt x="157353" y="0"/>
                  </a:cubicBezTo>
                  <a:lnTo>
                    <a:pt x="1600327" y="0"/>
                  </a:lnTo>
                  <a:cubicBezTo>
                    <a:pt x="1687195" y="0"/>
                    <a:pt x="1757680" y="70485"/>
                    <a:pt x="1757680" y="157353"/>
                  </a:cubicBezTo>
                  <a:lnTo>
                    <a:pt x="1757680" y="564007"/>
                  </a:lnTo>
                  <a:cubicBezTo>
                    <a:pt x="1757680" y="650875"/>
                    <a:pt x="1687195" y="721360"/>
                    <a:pt x="1600327" y="721360"/>
                  </a:cubicBezTo>
                  <a:lnTo>
                    <a:pt x="157353" y="721360"/>
                  </a:lnTo>
                  <a:cubicBezTo>
                    <a:pt x="70485" y="721360"/>
                    <a:pt x="0" y="650875"/>
                    <a:pt x="0" y="564007"/>
                  </a:cubicBezTo>
                  <a:close/>
                </a:path>
              </a:pathLst>
            </a:custGeom>
            <a:solidFill>
              <a:srgbClr val="F8ECD3"/>
            </a:solidFill>
            <a:ln w="3810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1757680" cy="759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A65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BASIC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6476362" y="8625202"/>
            <a:ext cx="5335267" cy="900427"/>
            <a:chOff x="0" y="0"/>
            <a:chExt cx="7113689" cy="120056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7113778" cy="1200658"/>
            </a:xfrm>
            <a:custGeom>
              <a:avLst/>
              <a:gdLst/>
              <a:ahLst/>
              <a:cxnLst/>
              <a:rect r="r" b="b" t="t" l="l"/>
              <a:pathLst>
                <a:path h="1200658" w="7113778">
                  <a:moveTo>
                    <a:pt x="0" y="189611"/>
                  </a:moveTo>
                  <a:cubicBezTo>
                    <a:pt x="0" y="84836"/>
                    <a:pt x="84836" y="0"/>
                    <a:pt x="189611" y="0"/>
                  </a:cubicBezTo>
                  <a:lnTo>
                    <a:pt x="6924167" y="0"/>
                  </a:lnTo>
                  <a:cubicBezTo>
                    <a:pt x="7028815" y="0"/>
                    <a:pt x="7113778" y="84836"/>
                    <a:pt x="7113778" y="189611"/>
                  </a:cubicBezTo>
                  <a:lnTo>
                    <a:pt x="7113778" y="1011047"/>
                  </a:lnTo>
                  <a:cubicBezTo>
                    <a:pt x="7113778" y="1115695"/>
                    <a:pt x="7028942" y="1200658"/>
                    <a:pt x="6924167" y="1200658"/>
                  </a:cubicBezTo>
                  <a:lnTo>
                    <a:pt x="189611" y="1200658"/>
                  </a:lnTo>
                  <a:cubicBezTo>
                    <a:pt x="84836" y="1200531"/>
                    <a:pt x="0" y="1115695"/>
                    <a:pt x="0" y="101104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6720840" y="8641080"/>
            <a:ext cx="2011680" cy="868680"/>
            <a:chOff x="0" y="0"/>
            <a:chExt cx="2682240" cy="115824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682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403" t="0" r="-5403" b="0"/>
              </a:stretch>
            </a:blipFill>
          </p:spPr>
          <p:txBody>
            <a:bodyPr/>
            <a:p/>
          </p:txBody>
        </p:sp>
        <p:sp>
          <p:nvSpPr>
            <p:cNvPr name="TextBox 213" id="213"/>
            <p:cNvSpPr txBox="true"/>
            <p:nvPr/>
          </p:nvSpPr>
          <p:spPr>
            <a:xfrm>
              <a:off x="0" y="-38100"/>
              <a:ext cx="268224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signal types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8732520" y="8805672"/>
            <a:ext cx="548640" cy="548640"/>
            <a:chOff x="0" y="0"/>
            <a:chExt cx="731520" cy="731520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71704"/>
            </a:solidFill>
          </p:spPr>
          <p:txBody>
            <a:bodyPr/>
            <a:p/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8864194" y="8937346"/>
            <a:ext cx="285293" cy="285293"/>
            <a:chOff x="0" y="0"/>
            <a:chExt cx="380390" cy="380390"/>
          </a:xfrm>
        </p:grpSpPr>
        <p:sp>
          <p:nvSpPr>
            <p:cNvPr name="Freeform 217" id="217" descr="FaCode_w.png"/>
            <p:cNvSpPr/>
            <p:nvPr/>
          </p:nvSpPr>
          <p:spPr>
            <a:xfrm flipH="false" flipV="false" rot="0">
              <a:off x="0" y="0"/>
              <a:ext cx="380365" cy="380365"/>
            </a:xfrm>
            <a:custGeom>
              <a:avLst/>
              <a:gdLst/>
              <a:ahLst/>
              <a:cxnLst/>
              <a:rect r="r" b="b" t="t" l="l"/>
              <a:pathLst>
                <a:path h="380365" w="380365">
                  <a:moveTo>
                    <a:pt x="0" y="0"/>
                  </a:moveTo>
                  <a:lnTo>
                    <a:pt x="380365" y="0"/>
                  </a:lnTo>
                  <a:lnTo>
                    <a:pt x="380365" y="380365"/>
                  </a:lnTo>
                  <a:lnTo>
                    <a:pt x="0" y="380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-6" b="-6"/>
              </a:stretch>
            </a:blipFill>
          </p:spPr>
          <p:txBody>
            <a:bodyPr/>
            <a:p/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9354312" y="8805672"/>
            <a:ext cx="548640" cy="548640"/>
            <a:chOff x="0" y="0"/>
            <a:chExt cx="731520" cy="73152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71704"/>
            </a:solidFill>
          </p:spPr>
          <p:txBody>
            <a:bodyPr/>
            <a:p/>
          </p:txBody>
        </p:sp>
      </p:grpSp>
      <p:grpSp>
        <p:nvGrpSpPr>
          <p:cNvPr name="Group 220" id="220"/>
          <p:cNvGrpSpPr/>
          <p:nvPr/>
        </p:nvGrpSpPr>
        <p:grpSpPr>
          <a:xfrm rot="0">
            <a:off x="9485986" y="8937346"/>
            <a:ext cx="285293" cy="285293"/>
            <a:chOff x="0" y="0"/>
            <a:chExt cx="380390" cy="380390"/>
          </a:xfrm>
        </p:grpSpPr>
        <p:sp>
          <p:nvSpPr>
            <p:cNvPr name="Freeform 221" id="221" descr="FaFlask_w.png"/>
            <p:cNvSpPr/>
            <p:nvPr/>
          </p:nvSpPr>
          <p:spPr>
            <a:xfrm flipH="false" flipV="false" rot="0">
              <a:off x="0" y="0"/>
              <a:ext cx="380365" cy="380365"/>
            </a:xfrm>
            <a:custGeom>
              <a:avLst/>
              <a:gdLst/>
              <a:ahLst/>
              <a:cxnLst/>
              <a:rect r="r" b="b" t="t" l="l"/>
              <a:pathLst>
                <a:path h="380365" w="380365">
                  <a:moveTo>
                    <a:pt x="0" y="0"/>
                  </a:moveTo>
                  <a:lnTo>
                    <a:pt x="380365" y="0"/>
                  </a:lnTo>
                  <a:lnTo>
                    <a:pt x="380365" y="380365"/>
                  </a:lnTo>
                  <a:lnTo>
                    <a:pt x="0" y="380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-6" b="-6"/>
              </a:stretch>
            </a:blipFill>
          </p:spPr>
          <p:txBody>
            <a:bodyPr/>
            <a:p/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9948672" y="8915400"/>
            <a:ext cx="329184" cy="310896"/>
            <a:chOff x="0" y="0"/>
            <a:chExt cx="438912" cy="414528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438912" cy="414528"/>
            </a:xfrm>
            <a:custGeom>
              <a:avLst/>
              <a:gdLst/>
              <a:ahLst/>
              <a:cxnLst/>
              <a:rect r="r" b="b" t="t" l="l"/>
              <a:pathLst>
                <a:path h="414528" w="438912">
                  <a:moveTo>
                    <a:pt x="0" y="103632"/>
                  </a:moveTo>
                  <a:lnTo>
                    <a:pt x="231648" y="103632"/>
                  </a:lnTo>
                  <a:lnTo>
                    <a:pt x="231648" y="0"/>
                  </a:lnTo>
                  <a:lnTo>
                    <a:pt x="438912" y="207264"/>
                  </a:lnTo>
                  <a:lnTo>
                    <a:pt x="231648" y="414528"/>
                  </a:lnTo>
                  <a:lnTo>
                    <a:pt x="231648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10359390" y="8804910"/>
            <a:ext cx="1318260" cy="541020"/>
            <a:chOff x="0" y="0"/>
            <a:chExt cx="1757680" cy="72136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1757680" cy="721360"/>
            </a:xfrm>
            <a:custGeom>
              <a:avLst/>
              <a:gdLst/>
              <a:ahLst/>
              <a:cxnLst/>
              <a:rect r="r" b="b" t="t" l="l"/>
              <a:pathLst>
                <a:path h="721360" w="1757680">
                  <a:moveTo>
                    <a:pt x="0" y="157353"/>
                  </a:moveTo>
                  <a:cubicBezTo>
                    <a:pt x="0" y="70485"/>
                    <a:pt x="70485" y="0"/>
                    <a:pt x="157353" y="0"/>
                  </a:cubicBezTo>
                  <a:lnTo>
                    <a:pt x="1600327" y="0"/>
                  </a:lnTo>
                  <a:cubicBezTo>
                    <a:pt x="1687195" y="0"/>
                    <a:pt x="1757680" y="70485"/>
                    <a:pt x="1757680" y="157353"/>
                  </a:cubicBezTo>
                  <a:lnTo>
                    <a:pt x="1757680" y="564007"/>
                  </a:lnTo>
                  <a:cubicBezTo>
                    <a:pt x="1757680" y="650875"/>
                    <a:pt x="1687195" y="721360"/>
                    <a:pt x="1600327" y="721360"/>
                  </a:cubicBezTo>
                  <a:lnTo>
                    <a:pt x="157353" y="721360"/>
                  </a:lnTo>
                  <a:cubicBezTo>
                    <a:pt x="70485" y="721360"/>
                    <a:pt x="0" y="650875"/>
                    <a:pt x="0" y="564007"/>
                  </a:cubicBezTo>
                  <a:close/>
                </a:path>
              </a:pathLst>
            </a:custGeom>
            <a:solidFill>
              <a:srgbClr val="E3F2EA"/>
            </a:solidFill>
            <a:ln w="38100" cap="sq">
              <a:solidFill>
                <a:srgbClr val="1F8A5B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1757680" cy="759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8A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2145642" y="8625202"/>
            <a:ext cx="5335267" cy="900427"/>
            <a:chOff x="0" y="0"/>
            <a:chExt cx="7113689" cy="1200569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7113778" cy="1200658"/>
            </a:xfrm>
            <a:custGeom>
              <a:avLst/>
              <a:gdLst/>
              <a:ahLst/>
              <a:cxnLst/>
              <a:rect r="r" b="b" t="t" l="l"/>
              <a:pathLst>
                <a:path h="1200658" w="7113778">
                  <a:moveTo>
                    <a:pt x="0" y="189611"/>
                  </a:moveTo>
                  <a:cubicBezTo>
                    <a:pt x="0" y="84836"/>
                    <a:pt x="84836" y="0"/>
                    <a:pt x="189611" y="0"/>
                  </a:cubicBezTo>
                  <a:lnTo>
                    <a:pt x="6924167" y="0"/>
                  </a:lnTo>
                  <a:cubicBezTo>
                    <a:pt x="7028815" y="0"/>
                    <a:pt x="7113778" y="84836"/>
                    <a:pt x="7113778" y="189611"/>
                  </a:cubicBezTo>
                  <a:lnTo>
                    <a:pt x="7113778" y="1011047"/>
                  </a:lnTo>
                  <a:cubicBezTo>
                    <a:pt x="7113778" y="1115695"/>
                    <a:pt x="7028942" y="1200658"/>
                    <a:pt x="6924167" y="1200658"/>
                  </a:cubicBezTo>
                  <a:lnTo>
                    <a:pt x="189611" y="1200658"/>
                  </a:lnTo>
                  <a:cubicBezTo>
                    <a:pt x="84836" y="1200531"/>
                    <a:pt x="0" y="1115695"/>
                    <a:pt x="0" y="101104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12390120" y="8641080"/>
            <a:ext cx="2011680" cy="868680"/>
            <a:chOff x="0" y="0"/>
            <a:chExt cx="2682240" cy="1158240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2682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403" t="0" r="-5403" b="0"/>
              </a:stretch>
            </a:blipFill>
          </p:spPr>
          <p:txBody>
            <a:bodyPr/>
            <a:p/>
          </p:txBody>
        </p:sp>
        <p:sp>
          <p:nvSpPr>
            <p:cNvPr name="TextBox 231" id="231"/>
            <p:cNvSpPr txBox="true"/>
            <p:nvPr/>
          </p:nvSpPr>
          <p:spPr>
            <a:xfrm>
              <a:off x="0" y="-38100"/>
              <a:ext cx="268224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alone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14401800" y="8805672"/>
            <a:ext cx="548640" cy="548640"/>
            <a:chOff x="0" y="0"/>
            <a:chExt cx="731520" cy="731520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9A6512"/>
            </a:solidFill>
          </p:spPr>
          <p:txBody>
            <a:bodyPr/>
            <a:p/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14533474" y="8937346"/>
            <a:ext cx="285293" cy="285293"/>
            <a:chOff x="0" y="0"/>
            <a:chExt cx="380390" cy="380390"/>
          </a:xfrm>
        </p:grpSpPr>
        <p:sp>
          <p:nvSpPr>
            <p:cNvPr name="Freeform 235" id="235" descr="FaRobot_w.png"/>
            <p:cNvSpPr/>
            <p:nvPr/>
          </p:nvSpPr>
          <p:spPr>
            <a:xfrm flipH="false" flipV="false" rot="0">
              <a:off x="0" y="0"/>
              <a:ext cx="380365" cy="380365"/>
            </a:xfrm>
            <a:custGeom>
              <a:avLst/>
              <a:gdLst/>
              <a:ahLst/>
              <a:cxnLst/>
              <a:rect r="r" b="b" t="t" l="l"/>
              <a:pathLst>
                <a:path h="380365" w="380365">
                  <a:moveTo>
                    <a:pt x="0" y="0"/>
                  </a:moveTo>
                  <a:lnTo>
                    <a:pt x="380365" y="0"/>
                  </a:lnTo>
                  <a:lnTo>
                    <a:pt x="380365" y="380365"/>
                  </a:lnTo>
                  <a:lnTo>
                    <a:pt x="0" y="380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-6" b="-6"/>
              </a:stretch>
            </a:blipFill>
          </p:spPr>
          <p:txBody>
            <a:bodyPr/>
            <a:p/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15617952" y="8915400"/>
            <a:ext cx="329184" cy="310896"/>
            <a:chOff x="0" y="0"/>
            <a:chExt cx="438912" cy="41452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438912" cy="414528"/>
            </a:xfrm>
            <a:custGeom>
              <a:avLst/>
              <a:gdLst/>
              <a:ahLst/>
              <a:cxnLst/>
              <a:rect r="r" b="b" t="t" l="l"/>
              <a:pathLst>
                <a:path h="414528" w="438912">
                  <a:moveTo>
                    <a:pt x="0" y="103632"/>
                  </a:moveTo>
                  <a:lnTo>
                    <a:pt x="231648" y="103632"/>
                  </a:lnTo>
                  <a:lnTo>
                    <a:pt x="231648" y="0"/>
                  </a:lnTo>
                  <a:lnTo>
                    <a:pt x="438912" y="207264"/>
                  </a:lnTo>
                  <a:lnTo>
                    <a:pt x="231648" y="414528"/>
                  </a:lnTo>
                  <a:lnTo>
                    <a:pt x="231648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732017"/>
            </a:solidFill>
          </p:spPr>
          <p:txBody>
            <a:bodyPr/>
            <a:p/>
          </p:txBody>
        </p:sp>
      </p:grpSp>
      <p:grpSp>
        <p:nvGrpSpPr>
          <p:cNvPr name="Group 238" id="238"/>
          <p:cNvGrpSpPr/>
          <p:nvPr/>
        </p:nvGrpSpPr>
        <p:grpSpPr>
          <a:xfrm rot="0">
            <a:off x="16028670" y="8804910"/>
            <a:ext cx="1318260" cy="541020"/>
            <a:chOff x="0" y="0"/>
            <a:chExt cx="1757680" cy="721360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1757680" cy="721360"/>
            </a:xfrm>
            <a:custGeom>
              <a:avLst/>
              <a:gdLst/>
              <a:ahLst/>
              <a:cxnLst/>
              <a:rect r="r" b="b" t="t" l="l"/>
              <a:pathLst>
                <a:path h="721360" w="1757680">
                  <a:moveTo>
                    <a:pt x="0" y="157353"/>
                  </a:moveTo>
                  <a:cubicBezTo>
                    <a:pt x="0" y="70485"/>
                    <a:pt x="70485" y="0"/>
                    <a:pt x="157353" y="0"/>
                  </a:cubicBezTo>
                  <a:lnTo>
                    <a:pt x="1600327" y="0"/>
                  </a:lnTo>
                  <a:cubicBezTo>
                    <a:pt x="1687195" y="0"/>
                    <a:pt x="1757680" y="70485"/>
                    <a:pt x="1757680" y="157353"/>
                  </a:cubicBezTo>
                  <a:lnTo>
                    <a:pt x="1757680" y="564007"/>
                  </a:lnTo>
                  <a:cubicBezTo>
                    <a:pt x="1757680" y="650875"/>
                    <a:pt x="1687195" y="721360"/>
                    <a:pt x="1600327" y="721360"/>
                  </a:cubicBezTo>
                  <a:lnTo>
                    <a:pt x="157353" y="721360"/>
                  </a:lnTo>
                  <a:cubicBezTo>
                    <a:pt x="70485" y="721360"/>
                    <a:pt x="0" y="650875"/>
                    <a:pt x="0" y="564007"/>
                  </a:cubicBezTo>
                  <a:close/>
                </a:path>
              </a:pathLst>
            </a:custGeom>
            <a:solidFill>
              <a:srgbClr val="F8ECD3"/>
            </a:solidFill>
            <a:ln w="3810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240" id="240"/>
            <p:cNvSpPr txBox="true"/>
            <p:nvPr/>
          </p:nvSpPr>
          <p:spPr>
            <a:xfrm>
              <a:off x="0" y="-38100"/>
              <a:ext cx="1757680" cy="759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A65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BASIC MAX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8" y="0"/>
            <a:ext cx="18230850" cy="10287000"/>
            <a:chOff x="0" y="0"/>
            <a:chExt cx="24307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071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07164">
                  <a:moveTo>
                    <a:pt x="0" y="13716000"/>
                  </a:moveTo>
                  <a:lnTo>
                    <a:pt x="24307164" y="13716000"/>
                  </a:lnTo>
                  <a:lnTo>
                    <a:pt x="24307164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6772" y="9892865"/>
            <a:ext cx="18281647" cy="394335"/>
            <a:chOff x="0" y="0"/>
            <a:chExt cx="24375529" cy="5257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983" cy="525526"/>
            </a:xfrm>
            <a:custGeom>
              <a:avLst/>
              <a:gdLst/>
              <a:ahLst/>
              <a:cxnLst/>
              <a:rect r="r" b="b" t="t" l="l"/>
              <a:pathLst>
                <a:path h="525526" w="24374983">
                  <a:moveTo>
                    <a:pt x="24374983" y="525526"/>
                  </a:moveTo>
                  <a:lnTo>
                    <a:pt x="0" y="525526"/>
                  </a:lnTo>
                  <a:lnTo>
                    <a:pt x="0" y="0"/>
                  </a:lnTo>
                  <a:lnTo>
                    <a:pt x="24374983" y="0"/>
                  </a:lnTo>
                  <a:lnTo>
                    <a:pt x="24374983" y="525526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6772" y="0"/>
            <a:ext cx="18281228" cy="9892865"/>
            <a:chOff x="0" y="0"/>
            <a:chExt cx="24374970" cy="131904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4983" cy="13190474"/>
            </a:xfrm>
            <a:custGeom>
              <a:avLst/>
              <a:gdLst/>
              <a:ahLst/>
              <a:cxnLst/>
              <a:rect r="r" b="b" t="t" l="l"/>
              <a:pathLst>
                <a:path h="13190474" w="24374983">
                  <a:moveTo>
                    <a:pt x="0" y="0"/>
                  </a:moveTo>
                  <a:lnTo>
                    <a:pt x="24374983" y="0"/>
                  </a:lnTo>
                  <a:lnTo>
                    <a:pt x="24374983" y="13190474"/>
                  </a:lnTo>
                  <a:lnTo>
                    <a:pt x="0" y="13190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6" r="0" b="-96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18393"/>
            <a:ext cx="18288010" cy="1524733"/>
            <a:chOff x="0" y="0"/>
            <a:chExt cx="24384013" cy="20329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2033016"/>
            </a:xfrm>
            <a:custGeom>
              <a:avLst/>
              <a:gdLst/>
              <a:ahLst/>
              <a:cxnLst/>
              <a:rect r="r" b="b" t="t" l="l"/>
              <a:pathLst>
                <a:path h="20330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3016"/>
                  </a:lnTo>
                  <a:lnTo>
                    <a:pt x="0" y="2033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14798" y="9696993"/>
            <a:ext cx="1274464" cy="388620"/>
            <a:chOff x="0" y="0"/>
            <a:chExt cx="1699285" cy="518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9260" cy="518160"/>
            </a:xfrm>
            <a:custGeom>
              <a:avLst/>
              <a:gdLst/>
              <a:ahLst/>
              <a:cxnLst/>
              <a:rect r="r" b="b" t="t" l="l"/>
              <a:pathLst>
                <a:path h="518160" w="1699260">
                  <a:moveTo>
                    <a:pt x="0" y="0"/>
                  </a:moveTo>
                  <a:lnTo>
                    <a:pt x="1699260" y="0"/>
                  </a:lnTo>
                  <a:lnTo>
                    <a:pt x="1699260" y="518160"/>
                  </a:lnTo>
                  <a:lnTo>
                    <a:pt x="0" y="51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57" r="-1" b="-3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088285" y="141732"/>
            <a:ext cx="3648056" cy="1219200"/>
            <a:chOff x="0" y="0"/>
            <a:chExt cx="4864075" cy="162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641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4864100">
                  <a:moveTo>
                    <a:pt x="0" y="0"/>
                  </a:moveTo>
                  <a:lnTo>
                    <a:pt x="4864100" y="0"/>
                  </a:lnTo>
                  <a:lnTo>
                    <a:pt x="48641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9" r="0" b="-258"/>
              </a:stretch>
            </a:blipFill>
          </p:spPr>
          <p:txBody>
            <a:bodyPr/>
            <a:p/>
          </p:txBody>
        </p:sp>
      </p:grpSp>
      <p:sp>
        <p:nvSpPr>
          <p:cNvPr name="TextBox 16" id="16" descr="$PPTXTitle"/>
          <p:cNvSpPr txBox="true"/>
          <p:nvPr/>
        </p:nvSpPr>
        <p:spPr>
          <a:xfrm rot="0">
            <a:off x="5731026" y="435483"/>
            <a:ext cx="649676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459">
                <a:solidFill>
                  <a:srgbClr val="FFFF00"/>
                </a:solidFill>
                <a:latin typeface="Doulos"/>
                <a:ea typeface="Doulos"/>
                <a:cs typeface="Doulos"/>
                <a:sym typeface="Doulos"/>
              </a:rPr>
              <a:t>IMPACT AND BENEFITS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227" y="10010537"/>
            <a:ext cx="1284608" cy="22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599" spc="1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PROOFSTACK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52016" y="9985877"/>
            <a:ext cx="396240" cy="28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150" spc="3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1664208"/>
            <a:ext cx="16642080" cy="868680"/>
            <a:chOff x="0" y="0"/>
            <a:chExt cx="22189440" cy="1158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9439" cy="1158240"/>
            </a:xfrm>
            <a:custGeom>
              <a:avLst/>
              <a:gdLst/>
              <a:ahLst/>
              <a:cxnLst/>
              <a:rect r="r" b="b" t="t" l="l"/>
              <a:pathLst>
                <a:path h="11582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3292" r="0" b="-323292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218944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33">
                  <a:solidFill>
                    <a:srgbClr val="732017"/>
                  </a:solidFill>
                  <a:latin typeface="Doulos"/>
                  <a:ea typeface="Doulos"/>
                  <a:cs typeface="Doulos"/>
                  <a:sym typeface="Doulos"/>
                </a:rPr>
                <a:t>Who benefits, and how we'll know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2395728"/>
            <a:ext cx="16642080" cy="457200"/>
            <a:chOff x="0" y="0"/>
            <a:chExt cx="2218944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89439" cy="609600"/>
            </a:xfrm>
            <a:custGeom>
              <a:avLst/>
              <a:gdLst/>
              <a:ahLst/>
              <a:cxnLst/>
              <a:rect r="r" b="b" t="t" l="l"/>
              <a:pathLst>
                <a:path h="6096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9255" r="0" b="-659255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18944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i="true">
                  <a:solidFill>
                    <a:srgbClr val="6B4A3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commit turns a gap into proof — and we measure how fast.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07082" y="3001642"/>
            <a:ext cx="10455907" cy="4558027"/>
            <a:chOff x="0" y="0"/>
            <a:chExt cx="13941209" cy="60773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941171" cy="6077331"/>
            </a:xfrm>
            <a:custGeom>
              <a:avLst/>
              <a:gdLst/>
              <a:ahLst/>
              <a:cxnLst/>
              <a:rect r="r" b="b" t="t" l="l"/>
              <a:pathLst>
                <a:path h="6077331" w="13941171">
                  <a:moveTo>
                    <a:pt x="0" y="245491"/>
                  </a:moveTo>
                  <a:cubicBezTo>
                    <a:pt x="0" y="109982"/>
                    <a:pt x="109982" y="0"/>
                    <a:pt x="245491" y="0"/>
                  </a:cubicBezTo>
                  <a:lnTo>
                    <a:pt x="13695680" y="0"/>
                  </a:lnTo>
                  <a:cubicBezTo>
                    <a:pt x="13831317" y="0"/>
                    <a:pt x="13941171" y="109982"/>
                    <a:pt x="13941171" y="245491"/>
                  </a:cubicBezTo>
                  <a:lnTo>
                    <a:pt x="13941171" y="5831840"/>
                  </a:lnTo>
                  <a:cubicBezTo>
                    <a:pt x="13941171" y="5967476"/>
                    <a:pt x="13831190" y="6077331"/>
                    <a:pt x="13695680" y="6077331"/>
                  </a:cubicBezTo>
                  <a:lnTo>
                    <a:pt x="245491" y="6077331"/>
                  </a:lnTo>
                  <a:cubicBezTo>
                    <a:pt x="109982" y="6077331"/>
                    <a:pt x="0" y="5967476"/>
                    <a:pt x="0" y="583184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" y="3127248"/>
            <a:ext cx="5943600" cy="411480"/>
            <a:chOff x="0" y="0"/>
            <a:chExt cx="79248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24800" cy="548640"/>
            </a:xfrm>
            <a:custGeom>
              <a:avLst/>
              <a:gdLst/>
              <a:ahLst/>
              <a:cxnLst/>
              <a:rect r="r" b="b" t="t" l="l"/>
              <a:pathLst>
                <a:path h="54864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1450" r="0" b="-23145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924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D5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COMMIT, VERIFIABLY CLOSED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0" y="3127248"/>
            <a:ext cx="2743200" cy="411480"/>
            <a:chOff x="0" y="0"/>
            <a:chExt cx="36576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657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i="true">
                  <a:solidFill>
                    <a:srgbClr val="E8CD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example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97280" y="3573780"/>
            <a:ext cx="3017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FFD5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· GAP SHOWN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84583" y="4010663"/>
            <a:ext cx="3042923" cy="2357123"/>
            <a:chOff x="0" y="0"/>
            <a:chExt cx="4057231" cy="3142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57269" cy="3142869"/>
            </a:xfrm>
            <a:custGeom>
              <a:avLst/>
              <a:gdLst/>
              <a:ahLst/>
              <a:cxnLst/>
              <a:rect r="r" b="b" t="t" l="l"/>
              <a:pathLst>
                <a:path h="3142869" w="4057269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872357" y="0"/>
                  </a:lnTo>
                  <a:cubicBezTo>
                    <a:pt x="3974465" y="0"/>
                    <a:pt x="4057269" y="82804"/>
                    <a:pt x="4057269" y="184912"/>
                  </a:cubicBezTo>
                  <a:lnTo>
                    <a:pt x="4057269" y="2957957"/>
                  </a:lnTo>
                  <a:cubicBezTo>
                    <a:pt x="4057269" y="3060065"/>
                    <a:pt x="3974465" y="3142869"/>
                    <a:pt x="3872357" y="3142869"/>
                  </a:cubicBezTo>
                  <a:lnTo>
                    <a:pt x="184912" y="3142869"/>
                  </a:lnTo>
                  <a:cubicBezTo>
                    <a:pt x="82804" y="3142869"/>
                    <a:pt x="0" y="3060065"/>
                    <a:pt x="0" y="2957957"/>
                  </a:cubicBezTo>
                  <a:close/>
                </a:path>
              </a:pathLst>
            </a:custGeom>
            <a:solidFill>
              <a:srgbClr val="FFF9F0"/>
            </a:soli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7280" y="6382512"/>
            <a:ext cx="3017520" cy="457200"/>
            <a:chOff x="0" y="0"/>
            <a:chExt cx="402336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0" cy="609600"/>
            </a:xfrm>
            <a:custGeom>
              <a:avLst/>
              <a:gdLst/>
              <a:ahLst/>
              <a:cxnLst/>
              <a:rect r="r" b="b" t="t" l="l"/>
              <a:pathLst>
                <a:path h="6096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01" r="0" b="-78601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0233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i="true">
                  <a:solidFill>
                    <a:srgbClr val="FFF4E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Files scanned are listed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142232" y="4983480"/>
            <a:ext cx="365760" cy="411480"/>
            <a:chOff x="0" y="0"/>
            <a:chExt cx="48768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87680">
                  <a:moveTo>
                    <a:pt x="0" y="137160"/>
                  </a:moveTo>
                  <a:lnTo>
                    <a:pt x="243840" y="137160"/>
                  </a:lnTo>
                  <a:lnTo>
                    <a:pt x="243840" y="0"/>
                  </a:lnTo>
                  <a:lnTo>
                    <a:pt x="487680" y="274320"/>
                  </a:lnTo>
                  <a:lnTo>
                    <a:pt x="243840" y="548640"/>
                  </a:lnTo>
                  <a:lnTo>
                    <a:pt x="24384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25880" y="4206240"/>
            <a:ext cx="457200" cy="457200"/>
            <a:chOff x="0" y="0"/>
            <a:chExt cx="609600" cy="609600"/>
          </a:xfrm>
        </p:grpSpPr>
        <p:sp>
          <p:nvSpPr>
            <p:cNvPr name="Freeform 42" id="42" descr="FaDatabase_m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20240" y="4160520"/>
            <a:ext cx="2011680" cy="548640"/>
            <a:chOff x="0" y="0"/>
            <a:chExt cx="26822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06830" y="4827270"/>
            <a:ext cx="2598420" cy="586740"/>
            <a:chOff x="0" y="0"/>
            <a:chExt cx="3464560" cy="782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64560" cy="782320"/>
            </a:xfrm>
            <a:custGeom>
              <a:avLst/>
              <a:gdLst/>
              <a:ahLst/>
              <a:cxnLst/>
              <a:rect r="r" b="b" t="t" l="l"/>
              <a:pathLst>
                <a:path h="782320" w="3464560">
                  <a:moveTo>
                    <a:pt x="0" y="156464"/>
                  </a:moveTo>
                  <a:cubicBezTo>
                    <a:pt x="0" y="70104"/>
                    <a:pt x="70104" y="0"/>
                    <a:pt x="156464" y="0"/>
                  </a:cubicBezTo>
                  <a:lnTo>
                    <a:pt x="3308096" y="0"/>
                  </a:lnTo>
                  <a:cubicBezTo>
                    <a:pt x="3394456" y="0"/>
                    <a:pt x="3464560" y="70104"/>
                    <a:pt x="3464560" y="156464"/>
                  </a:cubicBezTo>
                  <a:lnTo>
                    <a:pt x="3464560" y="625856"/>
                  </a:lnTo>
                  <a:cubicBezTo>
                    <a:pt x="3464560" y="712216"/>
                    <a:pt x="3394456" y="782320"/>
                    <a:pt x="3308096" y="782320"/>
                  </a:cubicBezTo>
                  <a:lnTo>
                    <a:pt x="156464" y="782320"/>
                  </a:lnTo>
                  <a:cubicBezTo>
                    <a:pt x="70104" y="782320"/>
                    <a:pt x="0" y="712216"/>
                    <a:pt x="0" y="625856"/>
                  </a:cubicBezTo>
                  <a:close/>
                </a:path>
              </a:pathLst>
            </a:custGeom>
            <a:solidFill>
              <a:srgbClr val="E8ECF1"/>
            </a:solidFill>
            <a:ln w="38100" cap="sq">
              <a:solidFill>
                <a:srgbClr val="556377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3464560" cy="81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556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 SHOWN IN SCOPE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325880" y="5448300"/>
            <a:ext cx="25603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6B4A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Evidence coverage 42%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25880" y="5852160"/>
            <a:ext cx="2560320" cy="274320"/>
            <a:chOff x="0" y="0"/>
            <a:chExt cx="3413760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13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413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230880" y="0"/>
                  </a:lnTo>
                  <a:cubicBezTo>
                    <a:pt x="3331845" y="0"/>
                    <a:pt x="3413760" y="81915"/>
                    <a:pt x="3413760" y="182880"/>
                  </a:cubicBezTo>
                  <a:cubicBezTo>
                    <a:pt x="3413760" y="283845"/>
                    <a:pt x="3331845" y="365760"/>
                    <a:pt x="3230880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D9C3A5"/>
            </a:solid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25880" y="5852160"/>
            <a:ext cx="1075334" cy="274320"/>
            <a:chOff x="0" y="0"/>
            <a:chExt cx="1433779" cy="36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33830" cy="365760"/>
            </a:xfrm>
            <a:custGeom>
              <a:avLst/>
              <a:gdLst/>
              <a:ahLst/>
              <a:cxnLst/>
              <a:rect r="r" b="b" t="t" l="l"/>
              <a:pathLst>
                <a:path h="365760" w="143383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50950" y="0"/>
                  </a:lnTo>
                  <a:cubicBezTo>
                    <a:pt x="1351915" y="0"/>
                    <a:pt x="1433830" y="81915"/>
                    <a:pt x="1433830" y="182880"/>
                  </a:cubicBezTo>
                  <a:cubicBezTo>
                    <a:pt x="1433830" y="283845"/>
                    <a:pt x="1351915" y="365760"/>
                    <a:pt x="1250950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556377"/>
            </a:solidFill>
          </p:spPr>
          <p:txBody>
            <a:bodyPr/>
            <a:p/>
          </p:txBody>
        </p:sp>
      </p:grpSp>
      <p:sp>
        <p:nvSpPr>
          <p:cNvPr name="TextBox 54" id="54"/>
          <p:cNvSpPr txBox="true"/>
          <p:nvPr/>
        </p:nvSpPr>
        <p:spPr>
          <a:xfrm rot="0">
            <a:off x="4526280" y="3573780"/>
            <a:ext cx="3017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FFD5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· COMMIT PUSHED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513583" y="4010663"/>
            <a:ext cx="3042923" cy="2357123"/>
            <a:chOff x="0" y="0"/>
            <a:chExt cx="4057231" cy="31428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57269" cy="3142869"/>
            </a:xfrm>
            <a:custGeom>
              <a:avLst/>
              <a:gdLst/>
              <a:ahLst/>
              <a:cxnLst/>
              <a:rect r="r" b="b" t="t" l="l"/>
              <a:pathLst>
                <a:path h="3142869" w="4057269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872357" y="0"/>
                  </a:lnTo>
                  <a:cubicBezTo>
                    <a:pt x="3974465" y="0"/>
                    <a:pt x="4057269" y="82804"/>
                    <a:pt x="4057269" y="184912"/>
                  </a:cubicBezTo>
                  <a:lnTo>
                    <a:pt x="4057269" y="2957957"/>
                  </a:lnTo>
                  <a:cubicBezTo>
                    <a:pt x="4057269" y="3060065"/>
                    <a:pt x="3974465" y="3142869"/>
                    <a:pt x="3872357" y="3142869"/>
                  </a:cubicBezTo>
                  <a:lnTo>
                    <a:pt x="184912" y="3142869"/>
                  </a:lnTo>
                  <a:cubicBezTo>
                    <a:pt x="82804" y="3142869"/>
                    <a:pt x="0" y="3060065"/>
                    <a:pt x="0" y="2957957"/>
                  </a:cubicBezTo>
                  <a:close/>
                </a:path>
              </a:pathLst>
            </a:custGeom>
            <a:solidFill>
              <a:srgbClr val="FFF9F0"/>
            </a:soli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4526280" y="6382512"/>
            <a:ext cx="3017520" cy="457200"/>
            <a:chOff x="0" y="0"/>
            <a:chExt cx="402336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609600"/>
            </a:xfrm>
            <a:custGeom>
              <a:avLst/>
              <a:gdLst/>
              <a:ahLst/>
              <a:cxnLst/>
              <a:rect r="r" b="b" t="t" l="l"/>
              <a:pathLst>
                <a:path h="6096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01" r="0" b="-78601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0233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i="true">
                  <a:solidFill>
                    <a:srgbClr val="FFF4E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Webhook or polling detects it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571232" y="4983480"/>
            <a:ext cx="365760" cy="411480"/>
            <a:chOff x="0" y="0"/>
            <a:chExt cx="48768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87680">
                  <a:moveTo>
                    <a:pt x="0" y="137160"/>
                  </a:moveTo>
                  <a:lnTo>
                    <a:pt x="243840" y="137160"/>
                  </a:lnTo>
                  <a:lnTo>
                    <a:pt x="243840" y="0"/>
                  </a:lnTo>
                  <a:lnTo>
                    <a:pt x="487680" y="274320"/>
                  </a:lnTo>
                  <a:lnTo>
                    <a:pt x="243840" y="548640"/>
                  </a:lnTo>
                  <a:lnTo>
                    <a:pt x="24384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5467350" y="4232910"/>
            <a:ext cx="1135380" cy="1135380"/>
            <a:chOff x="0" y="0"/>
            <a:chExt cx="1513840" cy="1513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13840" cy="1513840"/>
            </a:xfrm>
            <a:custGeom>
              <a:avLst/>
              <a:gdLst/>
              <a:ahLst/>
              <a:cxnLst/>
              <a:rect r="r" b="b" t="t" l="l"/>
              <a:pathLst>
                <a:path h="1513840" w="1513840">
                  <a:moveTo>
                    <a:pt x="0" y="756920"/>
                  </a:moveTo>
                  <a:cubicBezTo>
                    <a:pt x="0" y="338836"/>
                    <a:pt x="338836" y="0"/>
                    <a:pt x="756920" y="0"/>
                  </a:cubicBezTo>
                  <a:cubicBezTo>
                    <a:pt x="1175004" y="0"/>
                    <a:pt x="1513840" y="338836"/>
                    <a:pt x="1513840" y="756920"/>
                  </a:cubicBezTo>
                  <a:cubicBezTo>
                    <a:pt x="1513840" y="1175004"/>
                    <a:pt x="1175004" y="1513840"/>
                    <a:pt x="756920" y="1513840"/>
                  </a:cubicBezTo>
                  <a:cubicBezTo>
                    <a:pt x="338836" y="1513840"/>
                    <a:pt x="0" y="1175004"/>
                    <a:pt x="0" y="756920"/>
                  </a:cubicBezTo>
                  <a:close/>
                </a:path>
              </a:pathLst>
            </a:custGeom>
            <a:solidFill>
              <a:srgbClr val="371704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5760720" y="4526280"/>
            <a:ext cx="548640" cy="548640"/>
            <a:chOff x="0" y="0"/>
            <a:chExt cx="731520" cy="731520"/>
          </a:xfrm>
        </p:grpSpPr>
        <p:sp>
          <p:nvSpPr>
            <p:cNvPr name="Freeform 65" id="65" descr="FaCodeBranch_y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4617720" y="5486400"/>
            <a:ext cx="2834640" cy="731520"/>
            <a:chOff x="0" y="0"/>
            <a:chExt cx="377952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504" r="0" b="-25504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Push to GitHub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7955280" y="3573780"/>
            <a:ext cx="3017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FFD5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· VERIFIABLY CLOSED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7942583" y="4010663"/>
            <a:ext cx="3042923" cy="2357123"/>
            <a:chOff x="0" y="0"/>
            <a:chExt cx="4057231" cy="314283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057269" cy="3142869"/>
            </a:xfrm>
            <a:custGeom>
              <a:avLst/>
              <a:gdLst/>
              <a:ahLst/>
              <a:cxnLst/>
              <a:rect r="r" b="b" t="t" l="l"/>
              <a:pathLst>
                <a:path h="3142869" w="4057269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3872357" y="0"/>
                  </a:lnTo>
                  <a:cubicBezTo>
                    <a:pt x="3974465" y="0"/>
                    <a:pt x="4057269" y="82804"/>
                    <a:pt x="4057269" y="184912"/>
                  </a:cubicBezTo>
                  <a:lnTo>
                    <a:pt x="4057269" y="2957957"/>
                  </a:lnTo>
                  <a:cubicBezTo>
                    <a:pt x="4057269" y="3060065"/>
                    <a:pt x="3974465" y="3142869"/>
                    <a:pt x="3872357" y="3142869"/>
                  </a:cubicBezTo>
                  <a:lnTo>
                    <a:pt x="184912" y="3142869"/>
                  </a:lnTo>
                  <a:cubicBezTo>
                    <a:pt x="82804" y="3142869"/>
                    <a:pt x="0" y="3060065"/>
                    <a:pt x="0" y="2957957"/>
                  </a:cubicBezTo>
                  <a:close/>
                </a:path>
              </a:pathLst>
            </a:custGeom>
            <a:solidFill>
              <a:srgbClr val="FFF9F0"/>
            </a:solidFill>
            <a:ln w="254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7955280" y="6382512"/>
            <a:ext cx="3017520" cy="457200"/>
            <a:chOff x="0" y="0"/>
            <a:chExt cx="402336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23360" cy="609600"/>
            </a:xfrm>
            <a:custGeom>
              <a:avLst/>
              <a:gdLst/>
              <a:ahLst/>
              <a:cxnLst/>
              <a:rect r="r" b="b" t="t" l="l"/>
              <a:pathLst>
                <a:path h="6096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01" r="0" b="-78601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0233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i="true">
                  <a:solidFill>
                    <a:srgbClr val="FFF4E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Evidence cites the changed files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183880" y="4206240"/>
            <a:ext cx="457200" cy="457200"/>
            <a:chOff x="0" y="0"/>
            <a:chExt cx="609600" cy="609600"/>
          </a:xfrm>
        </p:grpSpPr>
        <p:sp>
          <p:nvSpPr>
            <p:cNvPr name="Freeform 76" id="76" descr="FaDatabase_m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8778240" y="4160520"/>
            <a:ext cx="2011680" cy="548640"/>
            <a:chOff x="0" y="0"/>
            <a:chExt cx="268224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164830" y="4827270"/>
            <a:ext cx="2598420" cy="586740"/>
            <a:chOff x="0" y="0"/>
            <a:chExt cx="3464560" cy="782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464560" cy="782320"/>
            </a:xfrm>
            <a:custGeom>
              <a:avLst/>
              <a:gdLst/>
              <a:ahLst/>
              <a:cxnLst/>
              <a:rect r="r" b="b" t="t" l="l"/>
              <a:pathLst>
                <a:path h="782320" w="3464560">
                  <a:moveTo>
                    <a:pt x="0" y="156464"/>
                  </a:moveTo>
                  <a:cubicBezTo>
                    <a:pt x="0" y="70104"/>
                    <a:pt x="70104" y="0"/>
                    <a:pt x="156464" y="0"/>
                  </a:cubicBezTo>
                  <a:lnTo>
                    <a:pt x="3308096" y="0"/>
                  </a:lnTo>
                  <a:cubicBezTo>
                    <a:pt x="3394456" y="0"/>
                    <a:pt x="3464560" y="70104"/>
                    <a:pt x="3464560" y="156464"/>
                  </a:cubicBezTo>
                  <a:lnTo>
                    <a:pt x="3464560" y="625856"/>
                  </a:lnTo>
                  <a:cubicBezTo>
                    <a:pt x="3464560" y="712216"/>
                    <a:pt x="3394456" y="782320"/>
                    <a:pt x="3308096" y="782320"/>
                  </a:cubicBezTo>
                  <a:lnTo>
                    <a:pt x="156464" y="782320"/>
                  </a:lnTo>
                  <a:cubicBezTo>
                    <a:pt x="70104" y="782320"/>
                    <a:pt x="0" y="712216"/>
                    <a:pt x="0" y="625856"/>
                  </a:cubicBezTo>
                  <a:close/>
                </a:path>
              </a:pathLst>
            </a:custGeom>
            <a:solidFill>
              <a:srgbClr val="E3F2EA"/>
            </a:solidFill>
            <a:ln w="38100" cap="sq">
              <a:solidFill>
                <a:srgbClr val="1F8A5B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3464560" cy="810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1F8A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DEMONSTRATED (STRONG)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8183880" y="5448300"/>
            <a:ext cx="25603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6B4A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Evidence coverage 58%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8183880" y="5852160"/>
            <a:ext cx="2560320" cy="274320"/>
            <a:chOff x="0" y="0"/>
            <a:chExt cx="3413760" cy="3657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13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413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230880" y="0"/>
                  </a:lnTo>
                  <a:cubicBezTo>
                    <a:pt x="3331845" y="0"/>
                    <a:pt x="3413760" y="81915"/>
                    <a:pt x="3413760" y="182880"/>
                  </a:cubicBezTo>
                  <a:cubicBezTo>
                    <a:pt x="3413760" y="283845"/>
                    <a:pt x="3331845" y="365760"/>
                    <a:pt x="3230880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D9C3A5"/>
            </a:solid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8183880" y="5852160"/>
            <a:ext cx="1484986" cy="274320"/>
            <a:chOff x="0" y="0"/>
            <a:chExt cx="1979981" cy="3657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79930" cy="365760"/>
            </a:xfrm>
            <a:custGeom>
              <a:avLst/>
              <a:gdLst/>
              <a:ahLst/>
              <a:cxnLst/>
              <a:rect r="r" b="b" t="t" l="l"/>
              <a:pathLst>
                <a:path h="365760" w="197993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797050" y="0"/>
                  </a:lnTo>
                  <a:cubicBezTo>
                    <a:pt x="1898015" y="0"/>
                    <a:pt x="1979930" y="81915"/>
                    <a:pt x="1979930" y="182880"/>
                  </a:cubicBezTo>
                  <a:cubicBezTo>
                    <a:pt x="1979930" y="283845"/>
                    <a:pt x="1898015" y="365760"/>
                    <a:pt x="1797050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1F8A5B"/>
            </a:solidFill>
          </p:spPr>
          <p:txBody>
            <a:bodyPr/>
            <a:p/>
          </p:txBody>
        </p:sp>
      </p:grpSp>
      <p:sp>
        <p:nvSpPr>
          <p:cNvPr name="AutoShape 88" id="88"/>
          <p:cNvSpPr/>
          <p:nvPr/>
        </p:nvSpPr>
        <p:spPr>
          <a:xfrm rot="10762200">
            <a:off x="2586885" y="7136320"/>
            <a:ext cx="3467310" cy="0"/>
          </a:xfrm>
          <a:prstGeom prst="line">
            <a:avLst/>
          </a:prstGeom>
          <a:ln cap="rnd" w="28575">
            <a:solidFill>
              <a:srgbClr val="FFD5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 rot="37800">
            <a:off x="6015885" y="7136320"/>
            <a:ext cx="3467310" cy="0"/>
          </a:xfrm>
          <a:prstGeom prst="line">
            <a:avLst/>
          </a:prstGeom>
          <a:ln cap="rnd" w="28575">
            <a:solidFill>
              <a:srgbClr val="FFD5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90" id="90"/>
          <p:cNvGrpSpPr/>
          <p:nvPr/>
        </p:nvGrpSpPr>
        <p:grpSpPr>
          <a:xfrm rot="0">
            <a:off x="3566160" y="6903720"/>
            <a:ext cx="4937760" cy="457200"/>
            <a:chOff x="0" y="0"/>
            <a:chExt cx="658368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583680" cy="609600"/>
            </a:xfrm>
            <a:custGeom>
              <a:avLst/>
              <a:gdLst/>
              <a:ahLst/>
              <a:cxnLst/>
              <a:rect r="r" b="b" t="t" l="l"/>
              <a:pathLst>
                <a:path h="609600" w="658368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278880" y="0"/>
                  </a:lnTo>
                  <a:cubicBezTo>
                    <a:pt x="6447155" y="0"/>
                    <a:pt x="6583680" y="136525"/>
                    <a:pt x="6583680" y="304800"/>
                  </a:cubicBezTo>
                  <a:cubicBezTo>
                    <a:pt x="6583680" y="473075"/>
                    <a:pt x="6447155" y="609600"/>
                    <a:pt x="627888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58368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 BETWEEN = OUR SUCCESS METRIC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597002" y="3001642"/>
            <a:ext cx="5883907" cy="1449067"/>
            <a:chOff x="0" y="0"/>
            <a:chExt cx="7845209" cy="193208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45172" cy="1932051"/>
            </a:xfrm>
            <a:custGeom>
              <a:avLst/>
              <a:gdLst/>
              <a:ahLst/>
              <a:cxnLst/>
              <a:rect r="r" b="b" t="t" l="l"/>
              <a:pathLst>
                <a:path h="1932051" w="7845172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7658227" y="0"/>
                  </a:lnTo>
                  <a:cubicBezTo>
                    <a:pt x="7761478" y="0"/>
                    <a:pt x="7845172" y="83693"/>
                    <a:pt x="7845172" y="186944"/>
                  </a:cubicBezTo>
                  <a:lnTo>
                    <a:pt x="7845172" y="1745107"/>
                  </a:lnTo>
                  <a:cubicBezTo>
                    <a:pt x="7845172" y="1848358"/>
                    <a:pt x="7761478" y="1932051"/>
                    <a:pt x="7658227" y="1932051"/>
                  </a:cubicBezTo>
                  <a:lnTo>
                    <a:pt x="186944" y="1932051"/>
                  </a:lnTo>
                  <a:cubicBezTo>
                    <a:pt x="83693" y="1932051"/>
                    <a:pt x="0" y="1848358"/>
                    <a:pt x="0" y="174510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822430" y="3254502"/>
            <a:ext cx="952500" cy="952500"/>
            <a:chOff x="0" y="0"/>
            <a:chExt cx="1270000" cy="1270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079224" y="3511296"/>
            <a:ext cx="438912" cy="438912"/>
            <a:chOff x="0" y="0"/>
            <a:chExt cx="585216" cy="585216"/>
          </a:xfrm>
        </p:grpSpPr>
        <p:sp>
          <p:nvSpPr>
            <p:cNvPr name="Freeform 98" id="98" descr="FaUserGraduate_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984480" y="3108960"/>
            <a:ext cx="4389120" cy="384048"/>
            <a:chOff x="0" y="0"/>
            <a:chExt cx="5852160" cy="51206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2686" r="0" b="-172686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8521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984480" y="3520440"/>
            <a:ext cx="4389120" cy="365760"/>
            <a:chOff x="0" y="0"/>
            <a:chExt cx="5852160" cy="4876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Google XYZ bullet scores + exactly what to commit next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984480" y="3886200"/>
            <a:ext cx="4389120" cy="365760"/>
            <a:chOff x="0" y="0"/>
            <a:chExt cx="5852160" cy="4876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58521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i="true">
                  <a:solidFill>
                    <a:srgbClr val="6B4A3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Before/after diff shows each gap closing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597002" y="4556122"/>
            <a:ext cx="5883907" cy="1449067"/>
            <a:chOff x="0" y="0"/>
            <a:chExt cx="7845209" cy="193208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845172" cy="1932051"/>
            </a:xfrm>
            <a:custGeom>
              <a:avLst/>
              <a:gdLst/>
              <a:ahLst/>
              <a:cxnLst/>
              <a:rect r="r" b="b" t="t" l="l"/>
              <a:pathLst>
                <a:path h="1932051" w="7845172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7658227" y="0"/>
                  </a:lnTo>
                  <a:cubicBezTo>
                    <a:pt x="7761478" y="0"/>
                    <a:pt x="7845172" y="83693"/>
                    <a:pt x="7845172" y="186944"/>
                  </a:cubicBezTo>
                  <a:lnTo>
                    <a:pt x="7845172" y="1745107"/>
                  </a:lnTo>
                  <a:cubicBezTo>
                    <a:pt x="7845172" y="1848358"/>
                    <a:pt x="7761478" y="1932051"/>
                    <a:pt x="7658227" y="1932051"/>
                  </a:cubicBezTo>
                  <a:lnTo>
                    <a:pt x="186944" y="1932051"/>
                  </a:lnTo>
                  <a:cubicBezTo>
                    <a:pt x="83693" y="1932051"/>
                    <a:pt x="0" y="1848358"/>
                    <a:pt x="0" y="174510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822430" y="4808982"/>
            <a:ext cx="952500" cy="952500"/>
            <a:chOff x="0" y="0"/>
            <a:chExt cx="1270000" cy="1270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079224" y="5065776"/>
            <a:ext cx="438912" cy="438912"/>
            <a:chOff x="0" y="0"/>
            <a:chExt cx="585216" cy="585216"/>
          </a:xfrm>
        </p:grpSpPr>
        <p:sp>
          <p:nvSpPr>
            <p:cNvPr name="Freeform 113" id="113" descr="FaBuilding_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984480" y="4663440"/>
            <a:ext cx="4389120" cy="384048"/>
            <a:chOff x="0" y="0"/>
            <a:chExt cx="5852160" cy="5120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2686" r="0" b="-172686"/>
              </a:stretch>
            </a:blipFill>
          </p:spPr>
          <p:txBody>
            <a:bodyPr/>
            <a:p/>
          </p:txBody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58521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Placement cells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984480" y="5074920"/>
            <a:ext cx="4389120" cy="365760"/>
            <a:chOff x="0" y="0"/>
            <a:chExt cx="5852160" cy="4876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t>Cryptographically signed code quality attestations vs keyword resumes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984480" y="5440680"/>
            <a:ext cx="4389120" cy="365760"/>
            <a:chOff x="0" y="0"/>
            <a:chExt cx="5852160" cy="4876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58521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i="true">
                  <a:solidFill>
                    <a:srgbClr val="6B4A3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Provenance signals, tamper-evident receipts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1597002" y="6110602"/>
            <a:ext cx="5883907" cy="1449067"/>
            <a:chOff x="0" y="0"/>
            <a:chExt cx="7845209" cy="193208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845172" cy="1932051"/>
            </a:xfrm>
            <a:custGeom>
              <a:avLst/>
              <a:gdLst/>
              <a:ahLst/>
              <a:cxnLst/>
              <a:rect r="r" b="b" t="t" l="l"/>
              <a:pathLst>
                <a:path h="1932051" w="7845172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7658227" y="0"/>
                  </a:lnTo>
                  <a:cubicBezTo>
                    <a:pt x="7761478" y="0"/>
                    <a:pt x="7845172" y="83693"/>
                    <a:pt x="7845172" y="186944"/>
                  </a:cubicBezTo>
                  <a:lnTo>
                    <a:pt x="7845172" y="1745107"/>
                  </a:lnTo>
                  <a:cubicBezTo>
                    <a:pt x="7845172" y="1848358"/>
                    <a:pt x="7761478" y="1932051"/>
                    <a:pt x="7658227" y="1932051"/>
                  </a:cubicBezTo>
                  <a:lnTo>
                    <a:pt x="186944" y="1932051"/>
                  </a:lnTo>
                  <a:cubicBezTo>
                    <a:pt x="83693" y="1932051"/>
                    <a:pt x="0" y="1848358"/>
                    <a:pt x="0" y="174510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732017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822430" y="6363462"/>
            <a:ext cx="952500" cy="952500"/>
            <a:chOff x="0" y="0"/>
            <a:chExt cx="1270000" cy="12700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732017"/>
            </a:solidFill>
            <a:ln w="3810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079224" y="6620256"/>
            <a:ext cx="438912" cy="438912"/>
            <a:chOff x="0" y="0"/>
            <a:chExt cx="585216" cy="585216"/>
          </a:xfrm>
        </p:grpSpPr>
        <p:sp>
          <p:nvSpPr>
            <p:cNvPr name="Freeform 128" id="128" descr="FaChalkboardTeacher_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2984480" y="6217920"/>
            <a:ext cx="4389120" cy="384048"/>
            <a:chOff x="0" y="0"/>
            <a:chExt cx="5852160" cy="51206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2686" r="0" b="-172686"/>
              </a:stretch>
            </a:blipFill>
          </p:spPr>
          <p:txBody>
            <a:bodyPr/>
            <a:p/>
          </p:txBody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58521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320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Mentors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984480" y="6629400"/>
            <a:ext cx="4389120" cy="365760"/>
            <a:chOff x="0" y="0"/>
            <a:chExt cx="5852160" cy="48768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Coach the gaps that are proven real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984480" y="6995160"/>
            <a:ext cx="4389120" cy="365760"/>
            <a:chOff x="0" y="0"/>
            <a:chExt cx="5852160" cy="48768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58521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i="true">
                  <a:solidFill>
                    <a:srgbClr val="6B4A3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Absence receipts list files and rules checked</a:t>
              </a:r>
            </a:p>
          </p:txBody>
        </p:sp>
      </p:grpSp>
      <p:sp>
        <p:nvSpPr>
          <p:cNvPr name="TextBox 138" id="138"/>
          <p:cNvSpPr txBox="true"/>
          <p:nvPr/>
        </p:nvSpPr>
        <p:spPr>
          <a:xfrm rot="0">
            <a:off x="822960" y="7688580"/>
            <a:ext cx="164592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73201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DESIGNED TO MEET EVERY PROBLEM-STATEMENT RULE</a:t>
            </a:r>
          </a:p>
        </p:txBody>
      </p:sp>
      <p:grpSp>
        <p:nvGrpSpPr>
          <p:cNvPr name="Group 139" id="139"/>
          <p:cNvGrpSpPr/>
          <p:nvPr/>
        </p:nvGrpSpPr>
        <p:grpSpPr>
          <a:xfrm rot="0">
            <a:off x="813435" y="8174355"/>
            <a:ext cx="2670810" cy="1116330"/>
            <a:chOff x="0" y="0"/>
            <a:chExt cx="3561080" cy="14884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561080" cy="1488440"/>
            </a:xfrm>
            <a:custGeom>
              <a:avLst/>
              <a:gdLst/>
              <a:ahLst/>
              <a:cxnLst/>
              <a:rect r="r" b="b" t="t" l="l"/>
              <a:pathLst>
                <a:path h="1488440" w="356108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412236" y="0"/>
                  </a:lnTo>
                  <a:cubicBezTo>
                    <a:pt x="3494405" y="0"/>
                    <a:pt x="3561080" y="66675"/>
                    <a:pt x="3561080" y="148844"/>
                  </a:cubicBezTo>
                  <a:lnTo>
                    <a:pt x="3561080" y="1339596"/>
                  </a:lnTo>
                  <a:cubicBezTo>
                    <a:pt x="3561080" y="1421765"/>
                    <a:pt x="3494405" y="1488440"/>
                    <a:pt x="341223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3A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978408" y="8567928"/>
            <a:ext cx="384048" cy="384048"/>
            <a:chOff x="0" y="0"/>
            <a:chExt cx="512064" cy="512064"/>
          </a:xfrm>
        </p:grpSpPr>
        <p:sp>
          <p:nvSpPr>
            <p:cNvPr name="Freeform 142" id="142" descr="FaCheckCircle_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63040" y="8183880"/>
            <a:ext cx="1920240" cy="1097280"/>
            <a:chOff x="0" y="0"/>
            <a:chExt cx="2560320" cy="14630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16" t="0" r="-23316" b="0"/>
              </a:stretch>
            </a:blipFill>
          </p:spPr>
          <p:txBody>
            <a:bodyPr/>
            <a:p/>
          </p:txBody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2560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posting, source link kept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3611499" y="8174355"/>
            <a:ext cx="2670810" cy="1116330"/>
            <a:chOff x="0" y="0"/>
            <a:chExt cx="3561080" cy="1488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561080" cy="1488440"/>
            </a:xfrm>
            <a:custGeom>
              <a:avLst/>
              <a:gdLst/>
              <a:ahLst/>
              <a:cxnLst/>
              <a:rect r="r" b="b" t="t" l="l"/>
              <a:pathLst>
                <a:path h="1488440" w="356108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412236" y="0"/>
                  </a:lnTo>
                  <a:cubicBezTo>
                    <a:pt x="3494405" y="0"/>
                    <a:pt x="3561080" y="66675"/>
                    <a:pt x="3561080" y="148844"/>
                  </a:cubicBezTo>
                  <a:lnTo>
                    <a:pt x="3561080" y="1339596"/>
                  </a:lnTo>
                  <a:cubicBezTo>
                    <a:pt x="3561080" y="1421765"/>
                    <a:pt x="3494405" y="1488440"/>
                    <a:pt x="341223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3A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3776472" y="8567928"/>
            <a:ext cx="384048" cy="384048"/>
            <a:chOff x="0" y="0"/>
            <a:chExt cx="512064" cy="512064"/>
          </a:xfrm>
        </p:grpSpPr>
        <p:sp>
          <p:nvSpPr>
            <p:cNvPr name="Freeform 149" id="149" descr="FaCheckCircle_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4261104" y="8183880"/>
            <a:ext cx="1920240" cy="1097280"/>
            <a:chOff x="0" y="0"/>
            <a:chExt cx="2560320" cy="146304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16" t="0" r="-23316" b="0"/>
              </a:stretch>
            </a:blipFill>
          </p:spPr>
          <p:txBody>
            <a:bodyPr/>
            <a:p/>
          </p:txBody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2560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GitHub integration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6409563" y="8174355"/>
            <a:ext cx="2670810" cy="1116330"/>
            <a:chOff x="0" y="0"/>
            <a:chExt cx="3561080" cy="14884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561080" cy="1488440"/>
            </a:xfrm>
            <a:custGeom>
              <a:avLst/>
              <a:gdLst/>
              <a:ahLst/>
              <a:cxnLst/>
              <a:rect r="r" b="b" t="t" l="l"/>
              <a:pathLst>
                <a:path h="1488440" w="356108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412236" y="0"/>
                  </a:lnTo>
                  <a:cubicBezTo>
                    <a:pt x="3494405" y="0"/>
                    <a:pt x="3561080" y="66675"/>
                    <a:pt x="3561080" y="148844"/>
                  </a:cubicBezTo>
                  <a:lnTo>
                    <a:pt x="3561080" y="1339596"/>
                  </a:lnTo>
                  <a:cubicBezTo>
                    <a:pt x="3561080" y="1421765"/>
                    <a:pt x="3494405" y="1488440"/>
                    <a:pt x="341223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3A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6574536" y="8567928"/>
            <a:ext cx="384048" cy="384048"/>
            <a:chOff x="0" y="0"/>
            <a:chExt cx="512064" cy="512064"/>
          </a:xfrm>
        </p:grpSpPr>
        <p:sp>
          <p:nvSpPr>
            <p:cNvPr name="Freeform 156" id="156" descr="FaCheckCircle_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7059168" y="8183880"/>
            <a:ext cx="1920240" cy="1097280"/>
            <a:chOff x="0" y="0"/>
            <a:chExt cx="2560320" cy="14630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16" t="0" r="-23316" b="0"/>
              </a:stretch>
            </a:blipFill>
          </p:spPr>
          <p:txBody>
            <a:bodyPr/>
            <a:p/>
          </p:txBody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2560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Auto-detect: webhook + polling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207627" y="8174355"/>
            <a:ext cx="2670810" cy="1116330"/>
            <a:chOff x="0" y="0"/>
            <a:chExt cx="3561080" cy="1488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561080" cy="1488440"/>
            </a:xfrm>
            <a:custGeom>
              <a:avLst/>
              <a:gdLst/>
              <a:ahLst/>
              <a:cxnLst/>
              <a:rect r="r" b="b" t="t" l="l"/>
              <a:pathLst>
                <a:path h="1488440" w="356108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412236" y="0"/>
                  </a:lnTo>
                  <a:cubicBezTo>
                    <a:pt x="3494405" y="0"/>
                    <a:pt x="3561080" y="66675"/>
                    <a:pt x="3561080" y="148844"/>
                  </a:cubicBezTo>
                  <a:lnTo>
                    <a:pt x="3561080" y="1339596"/>
                  </a:lnTo>
                  <a:cubicBezTo>
                    <a:pt x="3561080" y="1421765"/>
                    <a:pt x="3494405" y="1488440"/>
                    <a:pt x="341223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3A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9372600" y="8567928"/>
            <a:ext cx="384048" cy="384048"/>
            <a:chOff x="0" y="0"/>
            <a:chExt cx="512064" cy="512064"/>
          </a:xfrm>
        </p:grpSpPr>
        <p:sp>
          <p:nvSpPr>
            <p:cNvPr name="Freeform 163" id="163" descr="FaCheckCircle_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9857232" y="8183880"/>
            <a:ext cx="1920240" cy="1097280"/>
            <a:chOff x="0" y="0"/>
            <a:chExt cx="2560320" cy="14630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16" t="0" r="-23316" b="0"/>
              </a:stretch>
            </a:blipFill>
          </p:spPr>
          <p:txBody>
            <a:bodyPr/>
            <a:p/>
          </p:txBody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2560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 claim traceable to code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005691" y="8174355"/>
            <a:ext cx="2670810" cy="1116330"/>
            <a:chOff x="0" y="0"/>
            <a:chExt cx="3561080" cy="14884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561080" cy="1488440"/>
            </a:xfrm>
            <a:custGeom>
              <a:avLst/>
              <a:gdLst/>
              <a:ahLst/>
              <a:cxnLst/>
              <a:rect r="r" b="b" t="t" l="l"/>
              <a:pathLst>
                <a:path h="1488440" w="356108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412236" y="0"/>
                  </a:lnTo>
                  <a:cubicBezTo>
                    <a:pt x="3494405" y="0"/>
                    <a:pt x="3561080" y="66675"/>
                    <a:pt x="3561080" y="148844"/>
                  </a:cubicBezTo>
                  <a:lnTo>
                    <a:pt x="3561080" y="1339596"/>
                  </a:lnTo>
                  <a:cubicBezTo>
                    <a:pt x="3561080" y="1421765"/>
                    <a:pt x="3494405" y="1488440"/>
                    <a:pt x="341223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3A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2170664" y="8567928"/>
            <a:ext cx="384048" cy="384048"/>
            <a:chOff x="0" y="0"/>
            <a:chExt cx="512064" cy="512064"/>
          </a:xfrm>
        </p:grpSpPr>
        <p:sp>
          <p:nvSpPr>
            <p:cNvPr name="Freeform 170" id="170" descr="FaCheckCircle_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2655296" y="8183880"/>
            <a:ext cx="1920240" cy="1097280"/>
            <a:chOff x="0" y="0"/>
            <a:chExt cx="2560320" cy="146304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16" t="0" r="-23316" b="0"/>
              </a:stretch>
            </a:blipFill>
          </p:spPr>
          <p:txBody>
            <a:bodyPr/>
            <a:p/>
          </p:txBody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2560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signal is never a guess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4803755" y="8174355"/>
            <a:ext cx="2670810" cy="1116330"/>
            <a:chOff x="0" y="0"/>
            <a:chExt cx="3561080" cy="148844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561080" cy="1488440"/>
            </a:xfrm>
            <a:custGeom>
              <a:avLst/>
              <a:gdLst/>
              <a:ahLst/>
              <a:cxnLst/>
              <a:rect r="r" b="b" t="t" l="l"/>
              <a:pathLst>
                <a:path h="1488440" w="356108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412236" y="0"/>
                  </a:lnTo>
                  <a:cubicBezTo>
                    <a:pt x="3494405" y="0"/>
                    <a:pt x="3561080" y="66675"/>
                    <a:pt x="3561080" y="148844"/>
                  </a:cubicBezTo>
                  <a:lnTo>
                    <a:pt x="3561080" y="1339596"/>
                  </a:lnTo>
                  <a:cubicBezTo>
                    <a:pt x="3561080" y="1421765"/>
                    <a:pt x="3494405" y="1488440"/>
                    <a:pt x="341223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3A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4968728" y="8567928"/>
            <a:ext cx="384048" cy="384048"/>
            <a:chOff x="0" y="0"/>
            <a:chExt cx="512064" cy="512064"/>
          </a:xfrm>
        </p:grpSpPr>
        <p:sp>
          <p:nvSpPr>
            <p:cNvPr name="Freeform 177" id="177" descr="FaCheckCircle_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5453360" y="8183880"/>
            <a:ext cx="1920240" cy="1097280"/>
            <a:chOff x="0" y="0"/>
            <a:chExt cx="2560320" cy="146304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16" t="0" r="-23316" b="0"/>
              </a:stretch>
            </a:blipFill>
          </p:spPr>
          <p:txBody>
            <a:bodyPr/>
            <a:p/>
          </p:txBody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2560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 kept separate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6772" y="9892865"/>
            <a:ext cx="18281647" cy="394335"/>
            <a:chOff x="0" y="0"/>
            <a:chExt cx="24375529" cy="5257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983" cy="525526"/>
            </a:xfrm>
            <a:custGeom>
              <a:avLst/>
              <a:gdLst/>
              <a:ahLst/>
              <a:cxnLst/>
              <a:rect r="r" b="b" t="t" l="l"/>
              <a:pathLst>
                <a:path h="525526" w="24374983">
                  <a:moveTo>
                    <a:pt x="24374983" y="525526"/>
                  </a:moveTo>
                  <a:lnTo>
                    <a:pt x="0" y="525526"/>
                  </a:lnTo>
                  <a:lnTo>
                    <a:pt x="0" y="0"/>
                  </a:lnTo>
                  <a:lnTo>
                    <a:pt x="24374983" y="0"/>
                  </a:lnTo>
                  <a:lnTo>
                    <a:pt x="24374983" y="525526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6772" y="0"/>
            <a:ext cx="18281228" cy="9892865"/>
            <a:chOff x="0" y="0"/>
            <a:chExt cx="24374970" cy="131904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4983" cy="13190474"/>
            </a:xfrm>
            <a:custGeom>
              <a:avLst/>
              <a:gdLst/>
              <a:ahLst/>
              <a:cxnLst/>
              <a:rect r="r" b="b" t="t" l="l"/>
              <a:pathLst>
                <a:path h="13190474" w="24374983">
                  <a:moveTo>
                    <a:pt x="0" y="0"/>
                  </a:moveTo>
                  <a:lnTo>
                    <a:pt x="24374983" y="0"/>
                  </a:lnTo>
                  <a:lnTo>
                    <a:pt x="24374983" y="13190474"/>
                  </a:lnTo>
                  <a:lnTo>
                    <a:pt x="0" y="13190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6" r="0" b="-96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18393"/>
            <a:ext cx="18288010" cy="1524733"/>
            <a:chOff x="0" y="0"/>
            <a:chExt cx="24384013" cy="20329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2033016"/>
            </a:xfrm>
            <a:custGeom>
              <a:avLst/>
              <a:gdLst/>
              <a:ahLst/>
              <a:cxnLst/>
              <a:rect r="r" b="b" t="t" l="l"/>
              <a:pathLst>
                <a:path h="20330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3016"/>
                  </a:lnTo>
                  <a:lnTo>
                    <a:pt x="0" y="2033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14798" y="9696993"/>
            <a:ext cx="1274464" cy="388620"/>
            <a:chOff x="0" y="0"/>
            <a:chExt cx="1699285" cy="518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9260" cy="518160"/>
            </a:xfrm>
            <a:custGeom>
              <a:avLst/>
              <a:gdLst/>
              <a:ahLst/>
              <a:cxnLst/>
              <a:rect r="r" b="b" t="t" l="l"/>
              <a:pathLst>
                <a:path h="518160" w="1699260">
                  <a:moveTo>
                    <a:pt x="0" y="0"/>
                  </a:moveTo>
                  <a:lnTo>
                    <a:pt x="1699260" y="0"/>
                  </a:lnTo>
                  <a:lnTo>
                    <a:pt x="1699260" y="518160"/>
                  </a:lnTo>
                  <a:lnTo>
                    <a:pt x="0" y="51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57" r="-1" b="-3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088285" y="141732"/>
            <a:ext cx="3648056" cy="1219200"/>
            <a:chOff x="0" y="0"/>
            <a:chExt cx="4864075" cy="162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641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4864100">
                  <a:moveTo>
                    <a:pt x="0" y="0"/>
                  </a:moveTo>
                  <a:lnTo>
                    <a:pt x="4864100" y="0"/>
                  </a:lnTo>
                  <a:lnTo>
                    <a:pt x="48641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59" r="0" b="-258"/>
              </a:stretch>
            </a:blipFill>
          </p:spPr>
          <p:txBody>
            <a:bodyPr/>
            <a:p/>
          </p:txBody>
        </p:sp>
      </p:grpSp>
      <p:sp>
        <p:nvSpPr>
          <p:cNvPr name="TextBox 16" id="16" descr="$PPTXTitle"/>
          <p:cNvSpPr txBox="true"/>
          <p:nvPr/>
        </p:nvSpPr>
        <p:spPr>
          <a:xfrm rot="0">
            <a:off x="4883641" y="445008"/>
            <a:ext cx="852070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spc="373">
                <a:solidFill>
                  <a:srgbClr val="FFFF00"/>
                </a:solidFill>
                <a:latin typeface="Doulos"/>
                <a:ea typeface="Doulos"/>
                <a:cs typeface="Doulos"/>
                <a:sym typeface="Doulos"/>
              </a:rPr>
              <a:t>FUTURE SCOPE &amp; CHALLENGES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52016" y="9985877"/>
            <a:ext cx="396240" cy="28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150" spc="3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1664208"/>
            <a:ext cx="16642080" cy="868680"/>
            <a:chOff x="0" y="0"/>
            <a:chExt cx="22189440" cy="1158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89439" cy="1158240"/>
            </a:xfrm>
            <a:custGeom>
              <a:avLst/>
              <a:gdLst/>
              <a:ahLst/>
              <a:cxnLst/>
              <a:rect r="r" b="b" t="t" l="l"/>
              <a:pathLst>
                <a:path h="11582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3292" r="0" b="-323292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18944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33">
                  <a:solidFill>
                    <a:srgbClr val="732017"/>
                  </a:solidFill>
                  <a:latin typeface="Doulos"/>
                  <a:ea typeface="Doulos"/>
                  <a:cs typeface="Doulos"/>
                  <a:sym typeface="Doulos"/>
                </a:rPr>
                <a:t>Limits said first. Roadmap next.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2606040"/>
            <a:ext cx="4937760" cy="475488"/>
            <a:chOff x="0" y="0"/>
            <a:chExt cx="6583680" cy="6339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266688" y="0"/>
                  </a:lnTo>
                  <a:cubicBezTo>
                    <a:pt x="6441821" y="0"/>
                    <a:pt x="6583680" y="141859"/>
                    <a:pt x="6583680" y="316992"/>
                  </a:cubicBezTo>
                  <a:cubicBezTo>
                    <a:pt x="6583680" y="492125"/>
                    <a:pt x="6441821" y="633984"/>
                    <a:pt x="6266688" y="633984"/>
                  </a:cubicBezTo>
                  <a:lnTo>
                    <a:pt x="316992" y="633984"/>
                  </a:ln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9A6512"/>
            </a:solid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583680" cy="672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· said first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7082" y="3230242"/>
            <a:ext cx="8261347" cy="836419"/>
            <a:chOff x="0" y="0"/>
            <a:chExt cx="11015129" cy="11152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15218" cy="1115314"/>
            </a:xfrm>
            <a:custGeom>
              <a:avLst/>
              <a:gdLst/>
              <a:ahLst/>
              <a:cxnLst/>
              <a:rect r="r" b="b" t="t" l="l"/>
              <a:pathLst>
                <a:path h="1115314" w="11015218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10825099" y="0"/>
                  </a:lnTo>
                  <a:cubicBezTo>
                    <a:pt x="10930128" y="0"/>
                    <a:pt x="11015218" y="85090"/>
                    <a:pt x="11015218" y="190119"/>
                  </a:cubicBezTo>
                  <a:lnTo>
                    <a:pt x="11015218" y="925195"/>
                  </a:lnTo>
                  <a:cubicBezTo>
                    <a:pt x="11015218" y="1030224"/>
                    <a:pt x="10930128" y="1115314"/>
                    <a:pt x="10825099" y="1115314"/>
                  </a:cubicBezTo>
                  <a:lnTo>
                    <a:pt x="190119" y="1115314"/>
                  </a:lnTo>
                  <a:cubicBezTo>
                    <a:pt x="85090" y="1115187"/>
                    <a:pt x="0" y="1030097"/>
                    <a:pt x="0" y="925195"/>
                  </a:cubicBezTo>
                  <a:close/>
                </a:path>
              </a:pathLst>
            </a:custGeom>
            <a:solidFill>
              <a:srgbClr val="F8ECD3"/>
            </a:solidFill>
            <a:ln w="3175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1560" y="3419856"/>
            <a:ext cx="457200" cy="457200"/>
            <a:chOff x="0" y="0"/>
            <a:chExt cx="609600" cy="609600"/>
          </a:xfrm>
        </p:grpSpPr>
        <p:sp>
          <p:nvSpPr>
            <p:cNvPr name="Freeform 27" id="27" descr="FaExclamationTriangle_a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8800" y="3282696"/>
            <a:ext cx="7132320" cy="402336"/>
            <a:chOff x="0" y="0"/>
            <a:chExt cx="9509760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5416" r="0" b="-295416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509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detector families, 2 ecosystems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28800" y="3675888"/>
            <a:ext cx="7132320" cy="329184"/>
            <a:chOff x="0" y="0"/>
            <a:chExt cx="9509760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438912"/>
            </a:xfrm>
            <a:custGeom>
              <a:avLst/>
              <a:gdLst/>
              <a:ahLst/>
              <a:cxnLst/>
              <a:rect r="r" b="b" t="t" l="l"/>
              <a:pathLst>
                <a:path h="43891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2175" r="0" b="-372175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5097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6B4A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detector in this version → Unclear. Python and JS/TS only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07082" y="4126354"/>
            <a:ext cx="8261347" cy="836419"/>
            <a:chOff x="0" y="0"/>
            <a:chExt cx="11015129" cy="11152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15218" cy="1115314"/>
            </a:xfrm>
            <a:custGeom>
              <a:avLst/>
              <a:gdLst/>
              <a:ahLst/>
              <a:cxnLst/>
              <a:rect r="r" b="b" t="t" l="l"/>
              <a:pathLst>
                <a:path h="1115314" w="11015218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10825099" y="0"/>
                  </a:lnTo>
                  <a:cubicBezTo>
                    <a:pt x="10930128" y="0"/>
                    <a:pt x="11015218" y="85090"/>
                    <a:pt x="11015218" y="190119"/>
                  </a:cubicBezTo>
                  <a:lnTo>
                    <a:pt x="11015218" y="925195"/>
                  </a:lnTo>
                  <a:cubicBezTo>
                    <a:pt x="11015218" y="1030224"/>
                    <a:pt x="10930128" y="1115314"/>
                    <a:pt x="10825099" y="1115314"/>
                  </a:cubicBezTo>
                  <a:lnTo>
                    <a:pt x="190119" y="1115314"/>
                  </a:lnTo>
                  <a:cubicBezTo>
                    <a:pt x="85090" y="1115187"/>
                    <a:pt x="0" y="1030097"/>
                    <a:pt x="0" y="925195"/>
                  </a:cubicBezTo>
                  <a:close/>
                </a:path>
              </a:pathLst>
            </a:custGeom>
            <a:solidFill>
              <a:srgbClr val="F8ECD3"/>
            </a:solidFill>
            <a:ln w="3175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51560" y="4315968"/>
            <a:ext cx="457200" cy="457200"/>
            <a:chOff x="0" y="0"/>
            <a:chExt cx="609600" cy="609600"/>
          </a:xfrm>
        </p:grpSpPr>
        <p:sp>
          <p:nvSpPr>
            <p:cNvPr name="Freeform 37" id="37" descr="FaExclamationTriangle_a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28800" y="4178808"/>
            <a:ext cx="7132320" cy="402336"/>
            <a:chOff x="0" y="0"/>
            <a:chExt cx="950976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5416" r="0" b="-295416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509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t>Evidence of use vs proficiency (Bridged by Repo Quality Tests)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28800" y="4572000"/>
            <a:ext cx="7132320" cy="329184"/>
            <a:chOff x="0" y="0"/>
            <a:chExt cx="9509760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09760" cy="438912"/>
            </a:xfrm>
            <a:custGeom>
              <a:avLst/>
              <a:gdLst/>
              <a:ahLst/>
              <a:cxnLst/>
              <a:rect r="r" b="b" t="t" l="l"/>
              <a:pathLst>
                <a:path h="43891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2175" r="0" b="-372175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5097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6B4A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analysis can’t show skill level or authorship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7082" y="5022466"/>
            <a:ext cx="8261347" cy="836419"/>
            <a:chOff x="0" y="0"/>
            <a:chExt cx="11015129" cy="11152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15218" cy="1115314"/>
            </a:xfrm>
            <a:custGeom>
              <a:avLst/>
              <a:gdLst/>
              <a:ahLst/>
              <a:cxnLst/>
              <a:rect r="r" b="b" t="t" l="l"/>
              <a:pathLst>
                <a:path h="1115314" w="11015218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10825099" y="0"/>
                  </a:lnTo>
                  <a:cubicBezTo>
                    <a:pt x="10930128" y="0"/>
                    <a:pt x="11015218" y="85090"/>
                    <a:pt x="11015218" y="190119"/>
                  </a:cubicBezTo>
                  <a:lnTo>
                    <a:pt x="11015218" y="925195"/>
                  </a:lnTo>
                  <a:cubicBezTo>
                    <a:pt x="11015218" y="1030224"/>
                    <a:pt x="10930128" y="1115314"/>
                    <a:pt x="10825099" y="1115314"/>
                  </a:cubicBezTo>
                  <a:lnTo>
                    <a:pt x="190119" y="1115314"/>
                  </a:lnTo>
                  <a:cubicBezTo>
                    <a:pt x="85090" y="1115187"/>
                    <a:pt x="0" y="1030097"/>
                    <a:pt x="0" y="925195"/>
                  </a:cubicBezTo>
                  <a:close/>
                </a:path>
              </a:pathLst>
            </a:custGeom>
            <a:solidFill>
              <a:srgbClr val="F8ECD3"/>
            </a:solidFill>
            <a:ln w="3175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51560" y="5212080"/>
            <a:ext cx="457200" cy="457200"/>
            <a:chOff x="0" y="0"/>
            <a:chExt cx="609600" cy="609600"/>
          </a:xfrm>
        </p:grpSpPr>
        <p:sp>
          <p:nvSpPr>
            <p:cNvPr name="Freeform 47" id="47" descr="FaExclamationTriangle_a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28800" y="5074920"/>
            <a:ext cx="7132320" cy="402336"/>
            <a:chOff x="0" y="0"/>
            <a:chExt cx="9509760" cy="5364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5416" r="0" b="-295416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509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Heuristics can miss unusual code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828800" y="5468112"/>
            <a:ext cx="7132320" cy="329184"/>
            <a:chOff x="0" y="0"/>
            <a:chExt cx="950976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09760" cy="438912"/>
            </a:xfrm>
            <a:custGeom>
              <a:avLst/>
              <a:gdLst/>
              <a:ahLst/>
              <a:cxnLst/>
              <a:rect r="r" b="b" t="t" l="l"/>
              <a:pathLst>
                <a:path h="43891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2175" r="0" b="-372175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5097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6B4A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Thin signals → Unclear; “this evidence is wrong” button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07082" y="5918578"/>
            <a:ext cx="8261347" cy="836419"/>
            <a:chOff x="0" y="0"/>
            <a:chExt cx="11015129" cy="11152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15218" cy="1115314"/>
            </a:xfrm>
            <a:custGeom>
              <a:avLst/>
              <a:gdLst/>
              <a:ahLst/>
              <a:cxnLst/>
              <a:rect r="r" b="b" t="t" l="l"/>
              <a:pathLst>
                <a:path h="1115314" w="11015218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10825099" y="0"/>
                  </a:lnTo>
                  <a:cubicBezTo>
                    <a:pt x="10930128" y="0"/>
                    <a:pt x="11015218" y="85090"/>
                    <a:pt x="11015218" y="190119"/>
                  </a:cubicBezTo>
                  <a:lnTo>
                    <a:pt x="11015218" y="925195"/>
                  </a:lnTo>
                  <a:cubicBezTo>
                    <a:pt x="11015218" y="1030224"/>
                    <a:pt x="10930128" y="1115314"/>
                    <a:pt x="10825099" y="1115314"/>
                  </a:cubicBezTo>
                  <a:lnTo>
                    <a:pt x="190119" y="1115314"/>
                  </a:lnTo>
                  <a:cubicBezTo>
                    <a:pt x="85090" y="1115187"/>
                    <a:pt x="0" y="1030097"/>
                    <a:pt x="0" y="925195"/>
                  </a:cubicBezTo>
                  <a:close/>
                </a:path>
              </a:pathLst>
            </a:custGeom>
            <a:solidFill>
              <a:srgbClr val="F8ECD3"/>
            </a:solidFill>
            <a:ln w="3175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51560" y="6108192"/>
            <a:ext cx="457200" cy="457200"/>
            <a:chOff x="0" y="0"/>
            <a:chExt cx="609600" cy="609600"/>
          </a:xfrm>
        </p:grpSpPr>
        <p:sp>
          <p:nvSpPr>
            <p:cNvPr name="Freeform 57" id="57" descr="FaExclamationTriangle_a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1828800" y="5971032"/>
            <a:ext cx="7132320" cy="402336"/>
            <a:chOff x="0" y="0"/>
            <a:chExt cx="950976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5416" r="0" b="-295416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509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 limits &amp; private repos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828800" y="6364224"/>
            <a:ext cx="7132320" cy="329184"/>
            <a:chOff x="0" y="0"/>
            <a:chExt cx="9509760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09760" cy="438912"/>
            </a:xfrm>
            <a:custGeom>
              <a:avLst/>
              <a:gdLst/>
              <a:ahLst/>
              <a:cxnLst/>
              <a:rect r="r" b="b" t="t" l="l"/>
              <a:pathLst>
                <a:path h="43891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2175" r="0" b="-372175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5097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6B4A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Marked Unclear; banner names what was skipped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07082" y="6814690"/>
            <a:ext cx="8261347" cy="836419"/>
            <a:chOff x="0" y="0"/>
            <a:chExt cx="11015129" cy="11152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015218" cy="1115314"/>
            </a:xfrm>
            <a:custGeom>
              <a:avLst/>
              <a:gdLst/>
              <a:ahLst/>
              <a:cxnLst/>
              <a:rect r="r" b="b" t="t" l="l"/>
              <a:pathLst>
                <a:path h="1115314" w="11015218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10825099" y="0"/>
                  </a:lnTo>
                  <a:cubicBezTo>
                    <a:pt x="10930128" y="0"/>
                    <a:pt x="11015218" y="85090"/>
                    <a:pt x="11015218" y="190119"/>
                  </a:cubicBezTo>
                  <a:lnTo>
                    <a:pt x="11015218" y="925195"/>
                  </a:lnTo>
                  <a:cubicBezTo>
                    <a:pt x="11015218" y="1030224"/>
                    <a:pt x="10930128" y="1115314"/>
                    <a:pt x="10825099" y="1115314"/>
                  </a:cubicBezTo>
                  <a:lnTo>
                    <a:pt x="190119" y="1115314"/>
                  </a:lnTo>
                  <a:cubicBezTo>
                    <a:pt x="85090" y="1115187"/>
                    <a:pt x="0" y="1030097"/>
                    <a:pt x="0" y="925195"/>
                  </a:cubicBezTo>
                  <a:close/>
                </a:path>
              </a:pathLst>
            </a:custGeom>
            <a:solidFill>
              <a:srgbClr val="F8ECD3"/>
            </a:solidFill>
            <a:ln w="3175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51560" y="7004304"/>
            <a:ext cx="457200" cy="457200"/>
            <a:chOff x="0" y="0"/>
            <a:chExt cx="609600" cy="609600"/>
          </a:xfrm>
        </p:grpSpPr>
        <p:sp>
          <p:nvSpPr>
            <p:cNvPr name="Freeform 67" id="67" descr="FaExclamationTriangle_a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1828800" y="6867144"/>
            <a:ext cx="7132320" cy="402336"/>
            <a:chOff x="0" y="0"/>
            <a:chExt cx="950976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5416" r="0" b="-295416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509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 benchmark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828800" y="7260336"/>
            <a:ext cx="7132320" cy="329184"/>
            <a:chOff x="0" y="0"/>
            <a:chExt cx="9509760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509760" cy="438912"/>
            </a:xfrm>
            <a:custGeom>
              <a:avLst/>
              <a:gdLst/>
              <a:ahLst/>
              <a:cxnLst/>
              <a:rect r="r" b="b" t="t" l="l"/>
              <a:pathLst>
                <a:path h="43891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2175" r="0" b="-372175"/>
              </a:stretch>
            </a:blipFill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5097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6B4A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Shown with n and 95% Wilson interval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07082" y="7710802"/>
            <a:ext cx="8261347" cy="836419"/>
            <a:chOff x="0" y="0"/>
            <a:chExt cx="11015129" cy="11152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015218" cy="1115314"/>
            </a:xfrm>
            <a:custGeom>
              <a:avLst/>
              <a:gdLst/>
              <a:ahLst/>
              <a:cxnLst/>
              <a:rect r="r" b="b" t="t" l="l"/>
              <a:pathLst>
                <a:path h="1115314" w="11015218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10825099" y="0"/>
                  </a:lnTo>
                  <a:cubicBezTo>
                    <a:pt x="10930128" y="0"/>
                    <a:pt x="11015218" y="85090"/>
                    <a:pt x="11015218" y="190119"/>
                  </a:cubicBezTo>
                  <a:lnTo>
                    <a:pt x="11015218" y="925195"/>
                  </a:lnTo>
                  <a:cubicBezTo>
                    <a:pt x="11015218" y="1030224"/>
                    <a:pt x="10930128" y="1115314"/>
                    <a:pt x="10825099" y="1115314"/>
                  </a:cubicBezTo>
                  <a:lnTo>
                    <a:pt x="190119" y="1115314"/>
                  </a:lnTo>
                  <a:cubicBezTo>
                    <a:pt x="85090" y="1115187"/>
                    <a:pt x="0" y="1030097"/>
                    <a:pt x="0" y="925195"/>
                  </a:cubicBezTo>
                  <a:close/>
                </a:path>
              </a:pathLst>
            </a:custGeom>
            <a:solidFill>
              <a:srgbClr val="F8ECD3"/>
            </a:solidFill>
            <a:ln w="31750" cap="sq">
              <a:solidFill>
                <a:srgbClr val="9A651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51560" y="7900416"/>
            <a:ext cx="457200" cy="457200"/>
            <a:chOff x="0" y="0"/>
            <a:chExt cx="609600" cy="609600"/>
          </a:xfrm>
        </p:grpSpPr>
        <p:sp>
          <p:nvSpPr>
            <p:cNvPr name="Freeform 77" id="77" descr="FaExclamationTriangle_a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78" id="78"/>
          <p:cNvGrpSpPr/>
          <p:nvPr/>
        </p:nvGrpSpPr>
        <p:grpSpPr>
          <a:xfrm rot="0">
            <a:off x="1828800" y="7763256"/>
            <a:ext cx="7132320" cy="402336"/>
            <a:chOff x="0" y="0"/>
            <a:chExt cx="9509760" cy="5364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5416" r="0" b="-295416"/>
              </a:stretch>
            </a:blipFill>
          </p:spPr>
          <p:txBody>
            <a:bodyPr/>
            <a:p/>
          </p:txBody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5097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Provenance is a signal, not proof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828800" y="8156448"/>
            <a:ext cx="7132320" cy="329184"/>
            <a:chOff x="0" y="0"/>
            <a:chExt cx="9509760" cy="4389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509760" cy="438912"/>
            </a:xfrm>
            <a:custGeom>
              <a:avLst/>
              <a:gdLst/>
              <a:ahLst/>
              <a:cxnLst/>
              <a:rect r="r" b="b" t="t" l="l"/>
              <a:pathLst>
                <a:path h="43891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72175" r="0" b="-372175"/>
              </a:stretch>
            </a:blipFill>
          </p:spPr>
          <p:txBody>
            <a:bodyPr/>
            <a:p/>
          </p:txBody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5097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6B4A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uploads flag review, never accusation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493882" y="2773042"/>
            <a:ext cx="7987027" cy="5792467"/>
            <a:chOff x="0" y="0"/>
            <a:chExt cx="10649369" cy="772328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649331" cy="7723251"/>
            </a:xfrm>
            <a:custGeom>
              <a:avLst/>
              <a:gdLst/>
              <a:ahLst/>
              <a:cxnLst/>
              <a:rect r="r" b="b" t="t" l="l"/>
              <a:pathLst>
                <a:path h="7723251" w="10649331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10404221" y="0"/>
                  </a:lnTo>
                  <a:cubicBezTo>
                    <a:pt x="10539602" y="0"/>
                    <a:pt x="10649331" y="109728"/>
                    <a:pt x="10649331" y="245110"/>
                  </a:cubicBezTo>
                  <a:lnTo>
                    <a:pt x="10649331" y="7478141"/>
                  </a:lnTo>
                  <a:cubicBezTo>
                    <a:pt x="10649331" y="7613523"/>
                    <a:pt x="10539602" y="7723251"/>
                    <a:pt x="10404221" y="7723251"/>
                  </a:cubicBezTo>
                  <a:lnTo>
                    <a:pt x="245110" y="7723251"/>
                  </a:lnTo>
                  <a:cubicBezTo>
                    <a:pt x="109728" y="7723251"/>
                    <a:pt x="0" y="7613523"/>
                    <a:pt x="0" y="747814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9875520" y="2560320"/>
            <a:ext cx="5486400" cy="475488"/>
            <a:chOff x="0" y="0"/>
            <a:chExt cx="731520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998208" y="0"/>
                  </a:lnTo>
                  <a:cubicBezTo>
                    <a:pt x="7173341" y="0"/>
                    <a:pt x="7315200" y="141859"/>
                    <a:pt x="7315200" y="316992"/>
                  </a:cubicBezTo>
                  <a:cubicBezTo>
                    <a:pt x="7315200" y="492125"/>
                    <a:pt x="7173341" y="633984"/>
                    <a:pt x="6998208" y="633984"/>
                  </a:cubicBezTo>
                  <a:lnTo>
                    <a:pt x="316992" y="633984"/>
                  </a:ln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C9A24A"/>
            </a:solid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315200" cy="672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3717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 · beyond the core build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5358060">
            <a:off x="8478364" y="5695950"/>
            <a:ext cx="4165911" cy="0"/>
          </a:xfrm>
          <a:prstGeom prst="line">
            <a:avLst/>
          </a:prstGeom>
          <a:ln cap="rnd" w="38100">
            <a:solidFill>
              <a:srgbClr val="C9A24A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0" id="90"/>
          <p:cNvGrpSpPr/>
          <p:nvPr/>
        </p:nvGrpSpPr>
        <p:grpSpPr>
          <a:xfrm rot="0">
            <a:off x="10241280" y="3273552"/>
            <a:ext cx="640080" cy="640080"/>
            <a:chOff x="0" y="0"/>
            <a:chExt cx="853440" cy="8534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369296" y="3401568"/>
            <a:ext cx="384048" cy="384048"/>
            <a:chOff x="0" y="0"/>
            <a:chExt cx="512064" cy="512064"/>
          </a:xfrm>
        </p:grpSpPr>
        <p:sp>
          <p:nvSpPr>
            <p:cNvPr name="Freeform 93" id="93" descr="FaUsers_b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201400" y="3218688"/>
            <a:ext cx="6126480" cy="402336"/>
            <a:chOff x="0" y="0"/>
            <a:chExt cx="8168640" cy="5364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6703" r="0" b="-246703"/>
              </a:stretch>
            </a:blipFill>
          </p:spPr>
          <p:txBody>
            <a:bodyPr/>
            <a:p/>
          </p:txBody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81686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Multi-job comparison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201400" y="3621024"/>
            <a:ext cx="6126480" cy="329184"/>
            <a:chOff x="0" y="0"/>
            <a:chExt cx="8168640" cy="4389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16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638" r="0" b="-312638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81686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8CD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Cut from this build; roadmap only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241280" y="4142232"/>
            <a:ext cx="640080" cy="640080"/>
            <a:chOff x="0" y="0"/>
            <a:chExt cx="853440" cy="853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369296" y="4270248"/>
            <a:ext cx="384048" cy="384048"/>
            <a:chOff x="0" y="0"/>
            <a:chExt cx="512064" cy="512064"/>
          </a:xfrm>
        </p:grpSpPr>
        <p:sp>
          <p:nvSpPr>
            <p:cNvPr name="Freeform 103" id="103" descr="FaFileContract_b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201400" y="4087368"/>
            <a:ext cx="6126480" cy="402336"/>
            <a:chOff x="0" y="0"/>
            <a:chExt cx="8168640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6703" r="0" b="-246703"/>
              </a:stretch>
            </a:blipFill>
          </p:spPr>
          <p:txBody>
            <a:bodyPr/>
            <a:p/>
          </p:txBody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81686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 bullets from verified proof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201400" y="4489704"/>
            <a:ext cx="6126480" cy="329184"/>
            <a:chOff x="0" y="0"/>
            <a:chExt cx="8168640" cy="4389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16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638" r="0" b="-312638"/>
              </a:stretch>
            </a:blipFill>
          </p:spPr>
          <p:txBody>
            <a:bodyPr/>
            <a:p/>
          </p:txBody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81686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8CD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Cut from this build; roadmap only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241280" y="5010912"/>
            <a:ext cx="640080" cy="640080"/>
            <a:chOff x="0" y="0"/>
            <a:chExt cx="853440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369296" y="5138928"/>
            <a:ext cx="384048" cy="384048"/>
            <a:chOff x="0" y="0"/>
            <a:chExt cx="512064" cy="512064"/>
          </a:xfrm>
        </p:grpSpPr>
        <p:sp>
          <p:nvSpPr>
            <p:cNvPr name="Freeform 113" id="113" descr="FaCodeBranch_b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1201400" y="4956048"/>
            <a:ext cx="6126480" cy="402336"/>
            <a:chOff x="0" y="0"/>
            <a:chExt cx="8168640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6703" r="0" b="-246703"/>
              </a:stretch>
            </a:blipFill>
          </p:spPr>
          <p:txBody>
            <a:bodyPr/>
            <a:p/>
          </p:txBody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81686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 impact preview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1201400" y="5358384"/>
            <a:ext cx="6126480" cy="329184"/>
            <a:chOff x="0" y="0"/>
            <a:chExt cx="8168640" cy="43891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6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638" r="0" b="-312638"/>
              </a:stretch>
            </a:blipFill>
          </p:spPr>
          <p:txBody>
            <a:bodyPr/>
            <a:p/>
          </p:txBody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81686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8CD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Cut from this build; roadmap only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241280" y="5879592"/>
            <a:ext cx="640080" cy="640080"/>
            <a:chOff x="0" y="0"/>
            <a:chExt cx="853440" cy="853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369296" y="6007608"/>
            <a:ext cx="384048" cy="384048"/>
            <a:chOff x="0" y="0"/>
            <a:chExt cx="512064" cy="512064"/>
          </a:xfrm>
        </p:grpSpPr>
        <p:sp>
          <p:nvSpPr>
            <p:cNvPr name="Freeform 123" id="123" descr="FaNetworkWired_b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201400" y="5824728"/>
            <a:ext cx="6126480" cy="402336"/>
            <a:chOff x="0" y="0"/>
            <a:chExt cx="8168640" cy="5364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6703" r="0" b="-246703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81686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MCP server (agents read-only)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201400" y="6227064"/>
            <a:ext cx="6126480" cy="329184"/>
            <a:chOff x="0" y="0"/>
            <a:chExt cx="8168640" cy="43891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816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638" r="0" b="-312638"/>
              </a:stretch>
            </a:blipFill>
          </p:spPr>
          <p:txBody>
            <a:bodyPr/>
            <a:p/>
          </p:txBody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81686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8CD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Tools: get_gaps, get_evidence, verify_receipt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241280" y="6748272"/>
            <a:ext cx="640080" cy="640080"/>
            <a:chOff x="0" y="0"/>
            <a:chExt cx="853440" cy="8534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0369296" y="6876288"/>
            <a:ext cx="384048" cy="384048"/>
            <a:chOff x="0" y="0"/>
            <a:chExt cx="512064" cy="512064"/>
          </a:xfrm>
        </p:grpSpPr>
        <p:sp>
          <p:nvSpPr>
            <p:cNvPr name="Freeform 133" id="133" descr="FaCertificate_b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201400" y="6693408"/>
            <a:ext cx="6126480" cy="402336"/>
            <a:chOff x="0" y="0"/>
            <a:chExt cx="8168640" cy="5364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6703" r="0" b="-246703"/>
              </a:stretch>
            </a:blipFill>
          </p:spPr>
          <p:txBody>
            <a:bodyPr/>
            <a:p/>
          </p:txBody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81686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ledger + offline verify CLI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1201400" y="7095744"/>
            <a:ext cx="6126480" cy="329184"/>
            <a:chOff x="0" y="0"/>
            <a:chExt cx="8168640" cy="43891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816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638" r="0" b="-312638"/>
              </a:stretch>
            </a:blipFill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81686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8CD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Receipts show integrity, not authorship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241280" y="7616952"/>
            <a:ext cx="640080" cy="640080"/>
            <a:chOff x="0" y="0"/>
            <a:chExt cx="85344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FFD54A"/>
            </a:solidFill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0369296" y="7744968"/>
            <a:ext cx="384048" cy="384048"/>
            <a:chOff x="0" y="0"/>
            <a:chExt cx="512064" cy="512064"/>
          </a:xfrm>
        </p:grpSpPr>
        <p:sp>
          <p:nvSpPr>
            <p:cNvPr name="Freeform 143" id="143" descr="FaCode_b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1201400" y="7562088"/>
            <a:ext cx="6126480" cy="402336"/>
            <a:chOff x="0" y="0"/>
            <a:chExt cx="8168640" cy="53644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6703" r="0" b="-246703"/>
              </a:stretch>
            </a:blipFill>
          </p:spPr>
          <p:txBody>
            <a:bodyPr/>
            <a:p/>
          </p:txBody>
        </p:sp>
        <p:sp>
          <p:nvSpPr>
            <p:cNvPr name="TextBox 146" id="146"/>
            <p:cNvSpPr txBox="true"/>
            <p:nvPr/>
          </p:nvSpPr>
          <p:spPr>
            <a:xfrm>
              <a:off x="0" y="-47625"/>
              <a:ext cx="81686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4E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languages and detectors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1201400" y="7964424"/>
            <a:ext cx="6126480" cy="329184"/>
            <a:chOff x="0" y="0"/>
            <a:chExt cx="8168640" cy="43891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16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638" r="0" b="-312638"/>
              </a:stretch>
            </a:blipFill>
          </p:spPr>
          <p:txBody>
            <a:bodyPr/>
            <a:p/>
          </p:txBody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81686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8CD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Today: Python, JS/TS and 4 skill families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807082" y="8808082"/>
            <a:ext cx="16673827" cy="744979"/>
            <a:chOff x="0" y="0"/>
            <a:chExt cx="22231769" cy="99330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2231731" cy="993140"/>
            </a:xfrm>
            <a:custGeom>
              <a:avLst/>
              <a:gdLst/>
              <a:ahLst/>
              <a:cxnLst/>
              <a:rect r="r" b="b" t="t" l="l"/>
              <a:pathLst>
                <a:path h="993140" w="22231731">
                  <a:moveTo>
                    <a:pt x="0" y="254635"/>
                  </a:moveTo>
                  <a:cubicBezTo>
                    <a:pt x="0" y="114046"/>
                    <a:pt x="114046" y="0"/>
                    <a:pt x="254635" y="0"/>
                  </a:cubicBezTo>
                  <a:lnTo>
                    <a:pt x="21977096" y="0"/>
                  </a:lnTo>
                  <a:cubicBezTo>
                    <a:pt x="22117811" y="0"/>
                    <a:pt x="22231731" y="114046"/>
                    <a:pt x="22231731" y="254635"/>
                  </a:cubicBezTo>
                  <a:lnTo>
                    <a:pt x="22231731" y="738505"/>
                  </a:lnTo>
                  <a:cubicBezTo>
                    <a:pt x="22231731" y="879221"/>
                    <a:pt x="22117686" y="993140"/>
                    <a:pt x="21977096" y="993140"/>
                  </a:cubicBezTo>
                  <a:lnTo>
                    <a:pt x="254635" y="993140"/>
                  </a:lnTo>
                  <a:cubicBezTo>
                    <a:pt x="114046" y="993267"/>
                    <a:pt x="0" y="879221"/>
                    <a:pt x="0" y="7386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2010">
                    <a:alpha val="100000"/>
                  </a:srgbClr>
                </a:gs>
                <a:gs pos="100000">
                  <a:srgbClr val="24100A">
                    <a:alpha val="100000"/>
                  </a:srgbClr>
                </a:gs>
              </a:gsLst>
              <a:lin ang="16200000"/>
            </a:gradFill>
            <a:ln w="31750" cap="sq">
              <a:solidFill>
                <a:srgbClr val="C9A24A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52" id="152"/>
            <p:cNvSpPr txBox="true"/>
            <p:nvPr/>
          </p:nvSpPr>
          <p:spPr>
            <a:xfrm>
              <a:off x="0" y="-47625"/>
              <a:ext cx="22231769" cy="1040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D5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 never claim more than the code proves — and we tell you what to commit next.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DAHYPDaeM-4</dc:identifier>
  <dcterms:modified xsi:type="dcterms:W3CDTF">2011-08-01T06:04:30Z</dcterms:modified>
  <cp:revision>1</cp:revision>
  <dc:title>ProofStack ppt</dc:title>
</cp:coreProperties>
</file>